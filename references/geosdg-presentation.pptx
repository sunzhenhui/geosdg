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905752" y="-761981"/>
            <a:ext cx="3047924" cy="3047924"/>
          </a:xfrm>
          <a:prstGeom prst="ellipse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-609585" y="4114697"/>
            <a:ext cx="3657509" cy="3657509"/>
          </a:xfrm>
          <a:prstGeom prst="ellipse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162421" y="1585873"/>
            <a:ext cx="380990" cy="38099"/>
          </a:xfrm>
          <a:prstGeom prst="roundRect">
            <a:avLst>
              <a:gd name="adj" fmla="val 249975312"/>
            </a:avLst>
          </a:prstGeom>
          <a:solidFill>
            <a:srgbClr val="56C02B"/>
          </a:solidFill>
          <a:ln/>
        </p:spPr>
      </p:sp>
      <p:sp>
        <p:nvSpPr>
          <p:cNvPr id="7" name="Shape 3"/>
          <p:cNvSpPr/>
          <p:nvPr/>
        </p:nvSpPr>
        <p:spPr>
          <a:xfrm>
            <a:off x="5657709" y="1585873"/>
            <a:ext cx="380990" cy="38099"/>
          </a:xfrm>
          <a:prstGeom prst="roundRect">
            <a:avLst>
              <a:gd name="adj" fmla="val 249975312"/>
            </a:avLst>
          </a:prstGeom>
          <a:solidFill>
            <a:srgbClr val="0A97D9"/>
          </a:solidFill>
          <a:ln/>
        </p:spPr>
      </p:sp>
      <p:sp>
        <p:nvSpPr>
          <p:cNvPr id="8" name="Shape 4"/>
          <p:cNvSpPr/>
          <p:nvPr/>
        </p:nvSpPr>
        <p:spPr>
          <a:xfrm>
            <a:off x="6152996" y="1585873"/>
            <a:ext cx="380990" cy="38099"/>
          </a:xfrm>
          <a:prstGeom prst="roundRect">
            <a:avLst>
              <a:gd name="adj" fmla="val 249975312"/>
            </a:avLst>
          </a:prstGeom>
          <a:solidFill>
            <a:srgbClr val="E4572E"/>
          </a:solidFill>
          <a:ln/>
        </p:spPr>
      </p:sp>
      <p:sp>
        <p:nvSpPr>
          <p:cNvPr id="9" name="Shape 5"/>
          <p:cNvSpPr/>
          <p:nvPr/>
        </p:nvSpPr>
        <p:spPr>
          <a:xfrm>
            <a:off x="6648284" y="1585873"/>
            <a:ext cx="380990" cy="38099"/>
          </a:xfrm>
          <a:prstGeom prst="roundRect">
            <a:avLst>
              <a:gd name="adj" fmla="val 249975312"/>
            </a:avLst>
          </a:prstGeom>
          <a:solidFill>
            <a:srgbClr val="56C02B"/>
          </a:solidFill>
          <a:ln/>
        </p:spPr>
      </p:sp>
      <p:sp>
        <p:nvSpPr>
          <p:cNvPr id="10" name="Text 6"/>
          <p:cNvSpPr/>
          <p:nvPr/>
        </p:nvSpPr>
        <p:spPr>
          <a:xfrm>
            <a:off x="3232913" y="1928764"/>
            <a:ext cx="572587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b="1" spc="525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IN THE ERA OF AI AND BIG DATA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06372" y="2424052"/>
            <a:ext cx="5578951" cy="8572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GeoSDG </a:t>
            </a:r>
            <a:pPr algn="ctr" indent="0" marL="0">
              <a:buNone/>
            </a:pPr>
            <a:r>
              <a:rPr lang="en-US" sz="540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Toolkit</a:t>
            </a:r>
            <a:endParaRPr lang="en-US" sz="5400" dirty="0"/>
          </a:p>
        </p:txBody>
      </p:sp>
      <p:sp>
        <p:nvSpPr>
          <p:cNvPr id="12" name="Text 8"/>
          <p:cNvSpPr/>
          <p:nvPr/>
        </p:nvSpPr>
        <p:spPr>
          <a:xfrm>
            <a:off x="2983810" y="3509875"/>
            <a:ext cx="6223926" cy="3143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the Sustainable Future under a Spatial Context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638659" y="4281380"/>
            <a:ext cx="914377" cy="38099"/>
          </a:xfrm>
          <a:prstGeom prst="roundRect">
            <a:avLst>
              <a:gd name="adj" fmla="val 249975312"/>
            </a:avLst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3797225" y="4776668"/>
            <a:ext cx="459694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Geographic Sciences, East China Normal University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02949" y="5081460"/>
            <a:ext cx="738564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Sun, Z., Gao, M., Li, M., Xu, Z., &amp; Li, X. (2026). IJGIS. doi:10.1080/13658816.2026.2717629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9448564" y="0"/>
            <a:ext cx="2743131" cy="2743131"/>
          </a:xfrm>
          <a:prstGeom prst="ellipse">
            <a:avLst/>
          </a:prstGeom>
          <a:solidFill>
            <a:srgbClr val="0A97D9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19490"/>
            <a:ext cx="2438339" cy="2438339"/>
          </a:xfrm>
          <a:prstGeom prst="ellipse">
            <a:avLst/>
          </a:prstGeom>
          <a:solidFill>
            <a:srgbClr val="56C02B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514337"/>
            <a:ext cx="57149" cy="342891"/>
          </a:xfrm>
          <a:prstGeom prst="roundRect">
            <a:avLst>
              <a:gd name="adj" fmla="val 166648750"/>
            </a:avLst>
          </a:prstGeom>
          <a:solidFill>
            <a:srgbClr val="0A97D9"/>
          </a:solidFill>
          <a:ln/>
        </p:spPr>
      </p:sp>
      <p:sp>
        <p:nvSpPr>
          <p:cNvPr id="6" name="Text 4"/>
          <p:cNvSpPr/>
          <p:nvPr/>
        </p:nvSpPr>
        <p:spPr>
          <a:xfrm>
            <a:off x="819130" y="457189"/>
            <a:ext cx="1942188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09585" y="1295368"/>
            <a:ext cx="5371966" cy="219069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23902" y="1609685"/>
            <a:ext cx="380990" cy="380990"/>
          </a:xfrm>
          <a:prstGeom prst="ellipse">
            <a:avLst/>
          </a:prstGeom>
          <a:ln w="38100">
            <a:solidFill>
              <a:srgbClr val="0A97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2800" y="1609685"/>
            <a:ext cx="203195" cy="380990"/>
          </a:xfrm>
          <a:custGeom>
            <a:avLst/>
            <a:gdLst/>
            <a:ahLst/>
            <a:cxnLst/>
            <a:rect l="l" t="t" r="r" b="b"/>
            <a:pathLst>
              <a:path w="203195" h="380990">
                <a:moveTo>
                  <a:pt x="101597" y="0"/>
                </a:moveTo>
                <a:cubicBezTo>
                  <a:pt x="0" y="106677"/>
                  <a:pt x="0" y="274313"/>
                  <a:pt x="101597" y="380990"/>
                </a:cubicBezTo>
                <a:cubicBezTo>
                  <a:pt x="203195" y="274313"/>
                  <a:pt x="203195" y="106677"/>
                  <a:pt x="101597" y="0"/>
                </a:cubicBez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902" y="1800180"/>
            <a:ext cx="380990" cy="9525"/>
          </a:xfrm>
          <a:custGeom>
            <a:avLst/>
            <a:gdLst/>
            <a:ahLst/>
            <a:cxnLst/>
            <a:rect l="l" t="t" r="r" b="b"/>
            <a:pathLst>
              <a:path w="380990" h="9525">
                <a:moveTo>
                  <a:pt x="0" y="0"/>
                </a:moveTo>
                <a:lnTo>
                  <a:pt x="380990" y="0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3487" y="1571586"/>
            <a:ext cx="424042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BACKGROUND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33487" y="1762081"/>
            <a:ext cx="4309002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Spatialize the SDGs?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33487" y="2121641"/>
            <a:ext cx="427471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essence of the goals, and the gaps of existing approaches.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0145" y="1295368"/>
            <a:ext cx="5371966" cy="219069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24528" y="1608533"/>
            <a:ext cx="381240" cy="192799"/>
          </a:xfrm>
          <a:custGeom>
            <a:avLst/>
            <a:gdLst/>
            <a:ahLst/>
            <a:cxnLst/>
            <a:rect l="l" t="t" r="r" b="b"/>
            <a:pathLst>
              <a:path w="381240" h="192799">
                <a:moveTo>
                  <a:pt x="206241" y="4581"/>
                </a:moveTo>
                <a:cubicBezTo>
                  <a:pt x="196198" y="0"/>
                  <a:pt x="184661" y="0"/>
                  <a:pt x="174618" y="4581"/>
                </a:cubicBezTo>
                <a:lnTo>
                  <a:pt x="11364" y="78874"/>
                </a:lnTo>
                <a:cubicBezTo>
                  <a:pt x="4457" y="81920"/>
                  <a:pt x="0" y="88756"/>
                  <a:pt x="0" y="96304"/>
                </a:cubicBezTo>
                <a:cubicBezTo>
                  <a:pt x="0" y="103853"/>
                  <a:pt x="4457" y="110689"/>
                  <a:pt x="11364" y="113735"/>
                </a:cubicBezTo>
                <a:lnTo>
                  <a:pt x="174809" y="188218"/>
                </a:lnTo>
                <a:cubicBezTo>
                  <a:pt x="184852" y="192799"/>
                  <a:pt x="196388" y="192799"/>
                  <a:pt x="206431" y="188218"/>
                </a:cubicBezTo>
                <a:lnTo>
                  <a:pt x="369876" y="113925"/>
                </a:lnTo>
                <a:cubicBezTo>
                  <a:pt x="376783" y="110880"/>
                  <a:pt x="381240" y="104043"/>
                  <a:pt x="381240" y="96495"/>
                </a:cubicBezTo>
                <a:cubicBezTo>
                  <a:pt x="381240" y="88946"/>
                  <a:pt x="376783" y="82110"/>
                  <a:pt x="369876" y="79065"/>
                </a:cubicBezTo>
                <a:close/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4443" y="1800180"/>
            <a:ext cx="381069" cy="96342"/>
          </a:xfrm>
          <a:custGeom>
            <a:avLst/>
            <a:gdLst/>
            <a:ahLst/>
            <a:cxnLst/>
            <a:rect l="l" t="t" r="r" b="b"/>
            <a:pathLst>
              <a:path w="381069" h="96342">
                <a:moveTo>
                  <a:pt x="18" y="0"/>
                </a:moveTo>
                <a:cubicBezTo>
                  <a:pt x="0" y="7440"/>
                  <a:pt x="4315" y="14210"/>
                  <a:pt x="11067" y="17335"/>
                </a:cubicBezTo>
                <a:lnTo>
                  <a:pt x="174893" y="91819"/>
                </a:lnTo>
                <a:cubicBezTo>
                  <a:pt x="184882" y="96342"/>
                  <a:pt x="196336" y="96342"/>
                  <a:pt x="206325" y="91819"/>
                </a:cubicBezTo>
                <a:lnTo>
                  <a:pt x="369770" y="17526"/>
                </a:lnTo>
                <a:cubicBezTo>
                  <a:pt x="376659" y="14429"/>
                  <a:pt x="381069" y="7554"/>
                  <a:pt x="381009" y="0"/>
                </a:cubicBezTo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24443" y="1895428"/>
            <a:ext cx="381069" cy="96342"/>
          </a:xfrm>
          <a:custGeom>
            <a:avLst/>
            <a:gdLst/>
            <a:ahLst/>
            <a:cxnLst/>
            <a:rect l="l" t="t" r="r" b="b"/>
            <a:pathLst>
              <a:path w="381069" h="96342">
                <a:moveTo>
                  <a:pt x="18" y="0"/>
                </a:moveTo>
                <a:cubicBezTo>
                  <a:pt x="0" y="7440"/>
                  <a:pt x="4315" y="14210"/>
                  <a:pt x="11067" y="17335"/>
                </a:cubicBezTo>
                <a:lnTo>
                  <a:pt x="174893" y="91819"/>
                </a:lnTo>
                <a:cubicBezTo>
                  <a:pt x="184882" y="96342"/>
                  <a:pt x="196336" y="96342"/>
                  <a:pt x="206325" y="91819"/>
                </a:cubicBezTo>
                <a:lnTo>
                  <a:pt x="369770" y="17526"/>
                </a:lnTo>
                <a:cubicBezTo>
                  <a:pt x="376659" y="14429"/>
                  <a:pt x="381069" y="7554"/>
                  <a:pt x="381009" y="0"/>
                </a:cubicBezTo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4047" y="1571586"/>
            <a:ext cx="424042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METHOD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4047" y="1762081"/>
            <a:ext cx="4309002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GeoSDG Framework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4047" y="2121641"/>
            <a:ext cx="427471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Indicators, dual simulation (CALUCC + CAINFRA), and priority areas.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9585" y="3714657"/>
            <a:ext cx="5371966" cy="219069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2935" y="4051181"/>
            <a:ext cx="342917" cy="336595"/>
          </a:xfrm>
          <a:custGeom>
            <a:avLst/>
            <a:gdLst/>
            <a:ahLst/>
            <a:cxnLst/>
            <a:rect l="l" t="t" r="r" b="b"/>
            <a:pathLst>
              <a:path w="342917" h="336595">
                <a:moveTo>
                  <a:pt x="211580" y="45476"/>
                </a:moveTo>
                <a:cubicBezTo>
                  <a:pt x="222302" y="50833"/>
                  <a:pt x="234919" y="50833"/>
                  <a:pt x="245641" y="45476"/>
                </a:cubicBezTo>
                <a:lnTo>
                  <a:pt x="315343" y="10615"/>
                </a:lnTo>
                <a:cubicBezTo>
                  <a:pt x="321253" y="7662"/>
                  <a:pt x="328270" y="7982"/>
                  <a:pt x="333887" y="11460"/>
                </a:cubicBezTo>
                <a:cubicBezTo>
                  <a:pt x="339504" y="14938"/>
                  <a:pt x="342917" y="21077"/>
                  <a:pt x="342908" y="27684"/>
                </a:cubicBezTo>
                <a:lnTo>
                  <a:pt x="342908" y="270832"/>
                </a:lnTo>
                <a:cubicBezTo>
                  <a:pt x="342904" y="278045"/>
                  <a:pt x="338826" y="284638"/>
                  <a:pt x="332373" y="287862"/>
                </a:cubicBezTo>
                <a:lnTo>
                  <a:pt x="245641" y="331238"/>
                </a:lnTo>
                <a:cubicBezTo>
                  <a:pt x="234919" y="336595"/>
                  <a:pt x="222302" y="336595"/>
                  <a:pt x="211580" y="331238"/>
                </a:cubicBezTo>
                <a:lnTo>
                  <a:pt x="131344" y="291119"/>
                </a:lnTo>
                <a:cubicBezTo>
                  <a:pt x="120622" y="285762"/>
                  <a:pt x="108005" y="285762"/>
                  <a:pt x="97283" y="291119"/>
                </a:cubicBezTo>
                <a:lnTo>
                  <a:pt x="27581" y="325980"/>
                </a:lnTo>
                <a:cubicBezTo>
                  <a:pt x="21668" y="328935"/>
                  <a:pt x="14647" y="328613"/>
                  <a:pt x="9029" y="325131"/>
                </a:cubicBezTo>
                <a:cubicBezTo>
                  <a:pt x="3411" y="321648"/>
                  <a:pt x="0" y="315502"/>
                  <a:pt x="16" y="308893"/>
                </a:cubicBezTo>
                <a:lnTo>
                  <a:pt x="16" y="65764"/>
                </a:lnTo>
                <a:cubicBezTo>
                  <a:pt x="20" y="58550"/>
                  <a:pt x="4098" y="51958"/>
                  <a:pt x="10551" y="48733"/>
                </a:cubicBezTo>
                <a:lnTo>
                  <a:pt x="97283" y="5358"/>
                </a:lnTo>
                <a:cubicBezTo>
                  <a:pt x="108005" y="0"/>
                  <a:pt x="120622" y="0"/>
                  <a:pt x="131344" y="5358"/>
                </a:cubicBezTo>
                <a:close/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1546" y="4100677"/>
            <a:ext cx="9525" cy="285743"/>
          </a:xfrm>
          <a:custGeom>
            <a:avLst/>
            <a:gdLst/>
            <a:ahLst/>
            <a:cxnLst/>
            <a:rect l="l" t="t" r="r" b="b"/>
            <a:pathLst>
              <a:path w="9525" h="285743">
                <a:moveTo>
                  <a:pt x="0" y="0"/>
                </a:moveTo>
                <a:lnTo>
                  <a:pt x="0" y="285743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7249" y="4052519"/>
            <a:ext cx="9525" cy="285743"/>
          </a:xfrm>
          <a:custGeom>
            <a:avLst/>
            <a:gdLst/>
            <a:ahLst/>
            <a:cxnLst/>
            <a:rect l="l" t="t" r="r" b="b"/>
            <a:pathLst>
              <a:path w="9525" h="285743">
                <a:moveTo>
                  <a:pt x="0" y="0"/>
                </a:moveTo>
                <a:lnTo>
                  <a:pt x="0" y="285743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33487" y="3990875"/>
            <a:ext cx="424042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CASE STUDY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33487" y="4181370"/>
            <a:ext cx="4309002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Yangtze River Delta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33487" y="4540930"/>
            <a:ext cx="427471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toolkit can do — and where its honest limits lie.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10145" y="3714657"/>
            <a:ext cx="5371966" cy="219069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38759" y="4067073"/>
            <a:ext cx="76198" cy="76198"/>
          </a:xfrm>
          <a:custGeom>
            <a:avLst/>
            <a:gdLst/>
            <a:ahLst/>
            <a:cxnLst/>
            <a:rect l="l" t="t" r="r" b="b"/>
            <a:pathLst>
              <a:path w="76198" h="76198">
                <a:moveTo>
                  <a:pt x="76198" y="76198"/>
                </a:moveTo>
                <a:lnTo>
                  <a:pt x="76198" y="0"/>
                </a:lnTo>
                <a:lnTo>
                  <a:pt x="0" y="0"/>
                </a:lnTo>
              </a:path>
            </a:pathLst>
          </a:custGeom>
          <a:ln w="38100">
            <a:solidFill>
              <a:srgbClr val="0F27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2561" y="4143271"/>
            <a:ext cx="304792" cy="228594"/>
          </a:xfrm>
          <a:prstGeom prst="rect">
            <a:avLst/>
          </a:prstGeom>
          <a:ln w="38100">
            <a:solidFill>
              <a:srgbClr val="0F27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24462" y="4257569"/>
            <a:ext cx="38099" cy="9525"/>
          </a:xfrm>
          <a:custGeom>
            <a:avLst/>
            <a:gdLst/>
            <a:ahLst/>
            <a:cxnLst/>
            <a:rect l="l" t="t" r="r" b="b"/>
            <a:pathLst>
              <a:path w="38099" h="9525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38100">
            <a:solidFill>
              <a:srgbClr val="0F27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67353" y="4257569"/>
            <a:ext cx="38099" cy="9525"/>
          </a:xfrm>
          <a:custGeom>
            <a:avLst/>
            <a:gdLst/>
            <a:ahLst/>
            <a:cxnLst/>
            <a:rect l="l" t="t" r="r" b="b"/>
            <a:pathLst>
              <a:path w="38099" h="9525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38100">
            <a:solidFill>
              <a:srgbClr val="0F27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72106" y="4238519"/>
            <a:ext cx="9525" cy="38099"/>
          </a:xfrm>
          <a:custGeom>
            <a:avLst/>
            <a:gdLst/>
            <a:ahLst/>
            <a:cxnLst/>
            <a:rect l="l" t="t" r="r" b="b"/>
            <a:pathLst>
              <a:path w="9525" h="38099">
                <a:moveTo>
                  <a:pt x="0" y="0"/>
                </a:moveTo>
                <a:lnTo>
                  <a:pt x="0" y="38099"/>
                </a:lnTo>
              </a:path>
            </a:pathLst>
          </a:custGeom>
          <a:ln w="38100">
            <a:solidFill>
              <a:srgbClr val="0F27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57809" y="4238519"/>
            <a:ext cx="9525" cy="38099"/>
          </a:xfrm>
          <a:custGeom>
            <a:avLst/>
            <a:gdLst/>
            <a:ahLst/>
            <a:cxnLst/>
            <a:rect l="l" t="t" r="r" b="b"/>
            <a:pathLst>
              <a:path w="9525" h="38099">
                <a:moveTo>
                  <a:pt x="0" y="0"/>
                </a:moveTo>
                <a:lnTo>
                  <a:pt x="0" y="38099"/>
                </a:lnTo>
              </a:path>
            </a:pathLst>
          </a:custGeom>
          <a:ln w="38100">
            <a:solidFill>
              <a:srgbClr val="0F27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4047" y="3990875"/>
            <a:ext cx="424042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TOOL EVOLUTION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4047" y="4181370"/>
            <a:ext cx="4309002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 → CLI → AI Agent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4047" y="4540930"/>
            <a:ext cx="427471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paper artifact toward an AI-era intelligent assistant.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955257" y="6267293"/>
            <a:ext cx="76198" cy="76198"/>
          </a:xfrm>
          <a:prstGeom prst="ellipse">
            <a:avLst/>
          </a:prstGeom>
          <a:solidFill>
            <a:srgbClr val="0A97D9"/>
          </a:solidFill>
          <a:ln/>
        </p:spPr>
      </p:sp>
      <p:sp>
        <p:nvSpPr>
          <p:cNvPr id="39" name="Shape 37"/>
          <p:cNvSpPr/>
          <p:nvPr/>
        </p:nvSpPr>
        <p:spPr>
          <a:xfrm>
            <a:off x="5145753" y="6267293"/>
            <a:ext cx="76198" cy="76198"/>
          </a:xfrm>
          <a:prstGeom prst="ellipse">
            <a:avLst/>
          </a:prstGeom>
          <a:solidFill>
            <a:srgbClr val="56C02B"/>
          </a:solidFill>
          <a:ln/>
        </p:spPr>
      </p:sp>
      <p:sp>
        <p:nvSpPr>
          <p:cNvPr id="40" name="Shape 38"/>
          <p:cNvSpPr/>
          <p:nvPr/>
        </p:nvSpPr>
        <p:spPr>
          <a:xfrm>
            <a:off x="5336248" y="6267293"/>
            <a:ext cx="76198" cy="7619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41" name="Shape 39"/>
          <p:cNvSpPr/>
          <p:nvPr/>
        </p:nvSpPr>
        <p:spPr>
          <a:xfrm>
            <a:off x="5526743" y="6267293"/>
            <a:ext cx="76198" cy="76198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42" name="Text 40"/>
          <p:cNvSpPr/>
          <p:nvPr/>
        </p:nvSpPr>
        <p:spPr>
          <a:xfrm>
            <a:off x="5831535" y="6210145"/>
            <a:ext cx="1484762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slides · ~15–20 min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5239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BACKGROUND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Spatialize the SDGs?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09585" y="1485863"/>
            <a:ext cx="6305392" cy="2343091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4397" y="1804942"/>
            <a:ext cx="71436" cy="71436"/>
          </a:xfrm>
          <a:custGeom>
            <a:avLst/>
            <a:gdLst/>
            <a:ahLst/>
            <a:cxnLst/>
            <a:rect l="l" t="t" r="r" b="b"/>
            <a:pathLst>
              <a:path w="71436" h="71436">
                <a:moveTo>
                  <a:pt x="0" y="0"/>
                </a:moveTo>
                <a:lnTo>
                  <a:pt x="71436" y="71436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377" y="1790655"/>
            <a:ext cx="285743" cy="285743"/>
          </a:xfrm>
          <a:custGeom>
            <a:avLst/>
            <a:gdLst/>
            <a:ahLst/>
            <a:cxnLst/>
            <a:rect l="l" t="t" r="r" b="b"/>
            <a:pathLst>
              <a:path w="285743" h="285743">
                <a:moveTo>
                  <a:pt x="0" y="142871"/>
                </a:moveTo>
                <a:lnTo>
                  <a:pt x="285743" y="142871"/>
                </a:lnTo>
                <a:cubicBezTo>
                  <a:pt x="285743" y="221777"/>
                  <a:pt x="221777" y="285743"/>
                  <a:pt x="142871" y="285743"/>
                </a:cubicBezTo>
                <a:cubicBezTo>
                  <a:pt x="63966" y="285743"/>
                  <a:pt x="0" y="221777"/>
                  <a:pt x="0" y="142871"/>
                </a:cubicBezTo>
                <a:cubicBezTo>
                  <a:pt x="0" y="63966"/>
                  <a:pt x="63966" y="0"/>
                  <a:pt x="142871" y="0"/>
                </a:cubicBezTo>
                <a:cubicBezTo>
                  <a:pt x="66673" y="80008"/>
                  <a:pt x="66673" y="205735"/>
                  <a:pt x="142871" y="285743"/>
                </a:cubicBezTo>
                <a:cubicBezTo>
                  <a:pt x="179557" y="247223"/>
                  <a:pt x="200020" y="196066"/>
                  <a:pt x="200020" y="142871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14397" y="1804942"/>
            <a:ext cx="71436" cy="71436"/>
          </a:xfrm>
          <a:custGeom>
            <a:avLst/>
            <a:gdLst/>
            <a:ahLst/>
            <a:cxnLst/>
            <a:rect l="l" t="t" r="r" b="b"/>
            <a:pathLst>
              <a:path w="71436" h="71436">
                <a:moveTo>
                  <a:pt x="71436" y="0"/>
                </a:moveTo>
                <a:lnTo>
                  <a:pt x="0" y="71436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42991" y="1781130"/>
            <a:ext cx="2160722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Spatial at the Core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85803" y="2233557"/>
            <a:ext cx="5867253" cy="976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goals and indicators are </a:t>
            </a:r>
            <a:pPr algn="l" indent="0" marL="0">
              <a:lnSpc>
                <a:spcPct val="162500"/>
              </a:lnSpc>
              <a:buNone/>
            </a:pPr>
            <a:r>
              <a:rPr lang="en-US" sz="150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inherently spatial</a:t>
            </a:r>
            <a:pPr algn="l" indent="0" marL="0">
              <a:lnSpc>
                <a:spcPct val="1625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they depend directly on </a:t>
            </a:r>
            <a:pPr algn="l" indent="0" marL="0">
              <a:lnSpc>
                <a:spcPct val="162500"/>
              </a:lnSpc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use</a:t>
            </a:r>
            <a:pPr algn="l" indent="0" marL="0">
              <a:lnSpc>
                <a:spcPct val="1625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ct val="162500"/>
              </a:lnSpc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pPr algn="l" indent="0" marL="0">
              <a:lnSpc>
                <a:spcPct val="1625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conditions, not just national statistics.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09585" y="4057549"/>
            <a:ext cx="6305392" cy="2343091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114397" y="4433777"/>
            <a:ext cx="85723" cy="85723"/>
          </a:xfrm>
          <a:custGeom>
            <a:avLst/>
            <a:gdLst/>
            <a:ahLst/>
            <a:cxnLst/>
            <a:rect l="l" t="t" r="r" b="b"/>
            <a:pathLst>
              <a:path w="85723" h="85723">
                <a:moveTo>
                  <a:pt x="0" y="0"/>
                </a:moveTo>
                <a:lnTo>
                  <a:pt x="85723" y="0"/>
                </a:lnTo>
                <a:lnTo>
                  <a:pt x="85723" y="85723"/>
                </a:lnTo>
              </a:path>
            </a:pathLst>
          </a:custGeom>
          <a:ln w="28575">
            <a:solidFill>
              <a:srgbClr val="56C02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377" y="4433777"/>
            <a:ext cx="285743" cy="142871"/>
          </a:xfrm>
          <a:custGeom>
            <a:avLst/>
            <a:gdLst/>
            <a:ahLst/>
            <a:cxnLst/>
            <a:rect l="l" t="t" r="r" b="b"/>
            <a:pathLst>
              <a:path w="285743" h="142871">
                <a:moveTo>
                  <a:pt x="285743" y="0"/>
                </a:moveTo>
                <a:lnTo>
                  <a:pt x="164302" y="121441"/>
                </a:lnTo>
                <a:lnTo>
                  <a:pt x="92866" y="50005"/>
                </a:lnTo>
                <a:lnTo>
                  <a:pt x="0" y="142871"/>
                </a:lnTo>
              </a:path>
            </a:pathLst>
          </a:custGeom>
          <a:ln w="28575">
            <a:solidFill>
              <a:srgbClr val="56C0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42991" y="4352816"/>
            <a:ext cx="3922059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Retrospective to Prospective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5803" y="4805242"/>
            <a:ext cx="5867253" cy="976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2030 approaching and progress lagging, the agenda is being </a:t>
            </a:r>
            <a:pPr algn="l" indent="0" marL="0">
              <a:lnSpc>
                <a:spcPct val="162500"/>
              </a:lnSpc>
              <a:buNone/>
            </a:pPr>
            <a:r>
              <a:rPr lang="en-US" sz="150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to 2050</a:t>
            </a:r>
            <a:pPr algn="l" indent="0" marL="0">
              <a:lnSpc>
                <a:spcPct val="1625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demanding </a:t>
            </a:r>
            <a:pPr algn="l" indent="0" marL="0">
              <a:lnSpc>
                <a:spcPct val="162500"/>
              </a:lnSpc>
              <a:buNone/>
            </a:pPr>
            <a:r>
              <a:rPr lang="en-US" sz="15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scenario-based foresight</a:t>
            </a:r>
            <a:pPr algn="l" indent="0" marL="0">
              <a:lnSpc>
                <a:spcPct val="1625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retrospective assessment.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143571" y="1485863"/>
            <a:ext cx="1377816" cy="2066873"/>
          </a:xfrm>
          <a:prstGeom prst="roundRect">
            <a:avLst>
              <a:gd name="adj" fmla="val 11061"/>
            </a:avLst>
          </a:prstGeom>
          <a:solidFill>
            <a:srgbClr val="0F2740"/>
          </a:solidFill>
          <a:ln/>
        </p:spPr>
      </p:sp>
      <p:sp>
        <p:nvSpPr>
          <p:cNvPr id="18" name="Text 15"/>
          <p:cNvSpPr/>
          <p:nvPr/>
        </p:nvSpPr>
        <p:spPr>
          <a:xfrm>
            <a:off x="7440982" y="2157359"/>
            <a:ext cx="782846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547064" y="2690745"/>
            <a:ext cx="57083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spc="26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73784" y="1485863"/>
            <a:ext cx="1377965" cy="2066873"/>
          </a:xfrm>
          <a:prstGeom prst="roundRect">
            <a:avLst>
              <a:gd name="adj" fmla="val 11060"/>
            </a:avLst>
          </a:prstGeom>
          <a:solidFill>
            <a:srgbClr val="0F2740"/>
          </a:solidFill>
          <a:ln/>
        </p:spPr>
      </p:sp>
      <p:sp>
        <p:nvSpPr>
          <p:cNvPr id="21" name="Text 18"/>
          <p:cNvSpPr/>
          <p:nvPr/>
        </p:nvSpPr>
        <p:spPr>
          <a:xfrm>
            <a:off x="8844247" y="2157359"/>
            <a:ext cx="1037038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169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8997358" y="2690745"/>
            <a:ext cx="73066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spc="26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0204145" y="1485863"/>
            <a:ext cx="1377965" cy="2066873"/>
          </a:xfrm>
          <a:prstGeom prst="roundRect">
            <a:avLst>
              <a:gd name="adj" fmla="val 11060"/>
            </a:avLst>
          </a:prstGeom>
          <a:solidFill>
            <a:srgbClr val="0F2740"/>
          </a:solidFill>
          <a:ln/>
        </p:spPr>
      </p:sp>
      <p:sp>
        <p:nvSpPr>
          <p:cNvPr id="24" name="Text 21"/>
          <p:cNvSpPr/>
          <p:nvPr/>
        </p:nvSpPr>
        <p:spPr>
          <a:xfrm>
            <a:off x="10237541" y="2157359"/>
            <a:ext cx="1311322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457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230+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10427709" y="2690745"/>
            <a:ext cx="93083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spc="26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143571" y="3781330"/>
            <a:ext cx="4438539" cy="261931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476938" y="4086123"/>
            <a:ext cx="228594" cy="285743"/>
          </a:xfrm>
          <a:custGeom>
            <a:avLst/>
            <a:gdLst/>
            <a:ahLst/>
            <a:cxnLst/>
            <a:rect l="l" t="t" r="r" b="b"/>
            <a:pathLst>
              <a:path w="228594" h="285743">
                <a:moveTo>
                  <a:pt x="0" y="285743"/>
                </a:moveTo>
                <a:lnTo>
                  <a:pt x="0" y="28574"/>
                </a:lnTo>
                <a:cubicBezTo>
                  <a:pt x="0" y="24077"/>
                  <a:pt x="2117" y="19843"/>
                  <a:pt x="5715" y="17145"/>
                </a:cubicBezTo>
                <a:cubicBezTo>
                  <a:pt x="20553" y="6016"/>
                  <a:pt x="38601" y="0"/>
                  <a:pt x="57149" y="0"/>
                </a:cubicBezTo>
                <a:cubicBezTo>
                  <a:pt x="100010" y="0"/>
                  <a:pt x="128584" y="28574"/>
                  <a:pt x="161916" y="28574"/>
                </a:cubicBezTo>
                <a:quadBezTo>
                  <a:pt x="190490" y="28574"/>
                  <a:pt x="205735" y="17145"/>
                </a:quadBezTo>
                <a:cubicBezTo>
                  <a:pt x="210064" y="13898"/>
                  <a:pt x="215856" y="13375"/>
                  <a:pt x="220697" y="15795"/>
                </a:cubicBezTo>
                <a:cubicBezTo>
                  <a:pt x="225537" y="18216"/>
                  <a:pt x="228594" y="23163"/>
                  <a:pt x="228594" y="28574"/>
                </a:cubicBezTo>
                <a:lnTo>
                  <a:pt x="228594" y="171446"/>
                </a:lnTo>
                <a:cubicBezTo>
                  <a:pt x="228594" y="175943"/>
                  <a:pt x="226477" y="180177"/>
                  <a:pt x="222879" y="182875"/>
                </a:cubicBezTo>
                <a:cubicBezTo>
                  <a:pt x="208041" y="194004"/>
                  <a:pt x="189994" y="200020"/>
                  <a:pt x="171446" y="200020"/>
                </a:cubicBezTo>
                <a:cubicBezTo>
                  <a:pt x="128584" y="200020"/>
                  <a:pt x="100010" y="171446"/>
                  <a:pt x="57149" y="171446"/>
                </a:cubicBezTo>
                <a:cubicBezTo>
                  <a:pt x="36062" y="171446"/>
                  <a:pt x="15716" y="179219"/>
                  <a:pt x="0" y="193276"/>
                </a:cubicBezTo>
              </a:path>
            </a:pathLst>
          </a:custGeom>
          <a:ln w="28575">
            <a:solidFill>
              <a:srgbClr val="E457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76978" y="4076598"/>
            <a:ext cx="150976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2030 → 2050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7419790" y="4552836"/>
            <a:ext cx="1714457" cy="609585"/>
          </a:xfrm>
          <a:prstGeom prst="roundRect">
            <a:avLst>
              <a:gd name="adj" fmla="val 18750"/>
            </a:avLst>
          </a:prstGeom>
          <a:solidFill>
            <a:srgbClr val="0A97D9">
              <a:alpha val="10000"/>
            </a:srgbClr>
          </a:solidFill>
          <a:ln w="9525">
            <a:solidFill>
              <a:srgbClr val="0A97D9">
                <a:alpha val="2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22677" y="4705232"/>
            <a:ext cx="645690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2030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9296168" y="4857629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362841" y="4790955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91435" y="4552836"/>
            <a:ext cx="1714457" cy="609585"/>
          </a:xfrm>
          <a:prstGeom prst="roundRect">
            <a:avLst>
              <a:gd name="adj" fmla="val 18750"/>
            </a:avLst>
          </a:prstGeom>
          <a:solidFill>
            <a:srgbClr val="56C02B">
              <a:alpha val="10000"/>
            </a:srgbClr>
          </a:solidFill>
          <a:ln w="9525">
            <a:solidFill>
              <a:srgbClr val="56C02B">
                <a:alpha val="2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4323" y="4705232"/>
            <a:ext cx="645690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2050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419790" y="5314817"/>
            <a:ext cx="3977541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Mid-term checkpoint + long-term horizon for policy.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BACKGROUND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Gaps in Existing Approaches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1485863"/>
            <a:ext cx="3505112" cy="392420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585" y="1485863"/>
            <a:ext cx="3505112" cy="0"/>
          </a:xfrm>
          <a:prstGeom prst="line">
            <a:avLst/>
          </a:prstGeom>
          <a:noFill/>
          <a:ln w="38100">
            <a:solidFill>
              <a:srgbClr val="0A9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4872" y="2095448"/>
            <a:ext cx="190" cy="9525"/>
          </a:xfrm>
          <a:custGeom>
            <a:avLst/>
            <a:gdLst/>
            <a:ahLst/>
            <a:cxnLst/>
            <a:rect l="l" t="t" r="r" b="b"/>
            <a:pathLst>
              <a:path w="190" h="9525">
                <a:moveTo>
                  <a:pt x="0" y="0"/>
                </a:moveTo>
                <a:lnTo>
                  <a:pt x="190" y="0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1070" y="2095448"/>
            <a:ext cx="190" cy="9525"/>
          </a:xfrm>
          <a:custGeom>
            <a:avLst/>
            <a:gdLst/>
            <a:ahLst/>
            <a:cxnLst/>
            <a:rect l="l" t="t" r="r" b="b"/>
            <a:pathLst>
              <a:path w="190" h="9525">
                <a:moveTo>
                  <a:pt x="0" y="0"/>
                </a:moveTo>
                <a:lnTo>
                  <a:pt x="190" y="0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3427" y="1847804"/>
            <a:ext cx="342895" cy="342891"/>
          </a:xfrm>
          <a:custGeom>
            <a:avLst/>
            <a:gdLst/>
            <a:ahLst/>
            <a:cxnLst/>
            <a:rect l="l" t="t" r="r" b="b"/>
            <a:pathLst>
              <a:path w="342895" h="342891">
                <a:moveTo>
                  <a:pt x="0" y="304792"/>
                </a:moveTo>
                <a:cubicBezTo>
                  <a:pt x="0" y="325834"/>
                  <a:pt x="17058" y="342891"/>
                  <a:pt x="38099" y="342891"/>
                </a:cubicBezTo>
                <a:lnTo>
                  <a:pt x="304792" y="342891"/>
                </a:lnTo>
                <a:cubicBezTo>
                  <a:pt x="325834" y="342891"/>
                  <a:pt x="342891" y="325834"/>
                  <a:pt x="342891" y="304792"/>
                </a:cubicBezTo>
                <a:lnTo>
                  <a:pt x="342891" y="104772"/>
                </a:lnTo>
                <a:cubicBezTo>
                  <a:pt x="342895" y="101292"/>
                  <a:pt x="341000" y="98087"/>
                  <a:pt x="337949" y="96412"/>
                </a:cubicBezTo>
                <a:cubicBezTo>
                  <a:pt x="334898" y="94738"/>
                  <a:pt x="331176" y="94861"/>
                  <a:pt x="328242" y="96733"/>
                </a:cubicBezTo>
                <a:lnTo>
                  <a:pt x="243243" y="150910"/>
                </a:lnTo>
                <a:cubicBezTo>
                  <a:pt x="240310" y="152783"/>
                  <a:pt x="236588" y="152906"/>
                  <a:pt x="233537" y="151232"/>
                </a:cubicBezTo>
                <a:cubicBezTo>
                  <a:pt x="230486" y="149557"/>
                  <a:pt x="228591" y="146352"/>
                  <a:pt x="228594" y="142871"/>
                </a:cubicBezTo>
                <a:lnTo>
                  <a:pt x="228594" y="104772"/>
                </a:lnTo>
                <a:cubicBezTo>
                  <a:pt x="228598" y="101292"/>
                  <a:pt x="226703" y="98087"/>
                  <a:pt x="223652" y="96412"/>
                </a:cubicBezTo>
                <a:cubicBezTo>
                  <a:pt x="220601" y="94738"/>
                  <a:pt x="216879" y="94861"/>
                  <a:pt x="213945" y="96733"/>
                </a:cubicBezTo>
                <a:lnTo>
                  <a:pt x="128965" y="150910"/>
                </a:lnTo>
                <a:cubicBezTo>
                  <a:pt x="126031" y="152793"/>
                  <a:pt x="122302" y="152922"/>
                  <a:pt x="119244" y="151246"/>
                </a:cubicBezTo>
                <a:cubicBezTo>
                  <a:pt x="116187" y="149571"/>
                  <a:pt x="114289" y="146358"/>
                  <a:pt x="114297" y="142871"/>
                </a:cubicBezTo>
                <a:lnTo>
                  <a:pt x="114297" y="38099"/>
                </a:lnTo>
                <a:cubicBezTo>
                  <a:pt x="114297" y="17058"/>
                  <a:pt x="97240" y="0"/>
                  <a:pt x="76198" y="0"/>
                </a:cubicBezTo>
                <a:lnTo>
                  <a:pt x="38099" y="0"/>
                </a:lnTo>
                <a:cubicBezTo>
                  <a:pt x="17058" y="0"/>
                  <a:pt x="0" y="17058"/>
                  <a:pt x="0" y="38099"/>
                </a:cubicBezTo>
                <a:close/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674" y="2095448"/>
            <a:ext cx="190" cy="9525"/>
          </a:xfrm>
          <a:custGeom>
            <a:avLst/>
            <a:gdLst/>
            <a:ahLst/>
            <a:cxnLst/>
            <a:rect l="l" t="t" r="r" b="b"/>
            <a:pathLst>
              <a:path w="190" h="9525">
                <a:moveTo>
                  <a:pt x="0" y="0"/>
                </a:moveTo>
                <a:lnTo>
                  <a:pt x="190" y="0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6278" y="2438339"/>
            <a:ext cx="304030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6278" y="2666933"/>
            <a:ext cx="3108882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Retrospective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6278" y="3064592"/>
            <a:ext cx="3074593" cy="210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scores rely on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statistics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lack dynamic simulation of future trends and policy interventions.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43291" y="1485863"/>
            <a:ext cx="3505112" cy="392420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291" y="1485863"/>
            <a:ext cx="3505112" cy="0"/>
          </a:xfrm>
          <a:prstGeom prst="line">
            <a:avLst/>
          </a:prstGeom>
          <a:noFill/>
          <a:ln w="38100">
            <a:solidFill>
              <a:srgbClr val="56C0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7133" y="1847804"/>
            <a:ext cx="76198" cy="76198"/>
          </a:xfrm>
          <a:custGeom>
            <a:avLst/>
            <a:gdLst/>
            <a:ahLst/>
            <a:cxnLst/>
            <a:rect l="l" t="t" r="r" b="b"/>
            <a:pathLst>
              <a:path w="76198" h="76198">
                <a:moveTo>
                  <a:pt x="0" y="76198"/>
                </a:move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lnTo>
                  <a:pt x="76198" y="0"/>
                </a:lnTo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3827" y="1847804"/>
            <a:ext cx="76198" cy="76198"/>
          </a:xfrm>
          <a:custGeom>
            <a:avLst/>
            <a:gdLst/>
            <a:ahLst/>
            <a:cxnLst/>
            <a:rect l="l" t="t" r="r" b="b"/>
            <a:pathLst>
              <a:path w="76198" h="76198">
                <a:moveTo>
                  <a:pt x="0" y="0"/>
                </a:moveTo>
                <a:lnTo>
                  <a:pt x="38099" y="0"/>
                </a:lnTo>
                <a:cubicBezTo>
                  <a:pt x="59141" y="0"/>
                  <a:pt x="76198" y="17058"/>
                  <a:pt x="76198" y="38099"/>
                </a:cubicBezTo>
                <a:lnTo>
                  <a:pt x="76198" y="76198"/>
                </a:lnTo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3827" y="2114497"/>
            <a:ext cx="76198" cy="76198"/>
          </a:xfrm>
          <a:custGeom>
            <a:avLst/>
            <a:gdLst/>
            <a:ahLst/>
            <a:cxnLst/>
            <a:rect l="l" t="t" r="r" b="b"/>
            <a:pathLst>
              <a:path w="76198" h="76198">
                <a:moveTo>
                  <a:pt x="76198" y="0"/>
                </a:moveTo>
                <a:lnTo>
                  <a:pt x="76198" y="38099"/>
                </a:lnTo>
                <a:cubicBezTo>
                  <a:pt x="76198" y="59141"/>
                  <a:pt x="59141" y="76198"/>
                  <a:pt x="38099" y="76198"/>
                </a:cubicBezTo>
                <a:lnTo>
                  <a:pt x="0" y="76198"/>
                </a:lnTo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7133" y="2114497"/>
            <a:ext cx="76198" cy="76198"/>
          </a:xfrm>
          <a:custGeom>
            <a:avLst/>
            <a:gdLst/>
            <a:ahLst/>
            <a:cxnLst/>
            <a:rect l="l" t="t" r="r" b="b"/>
            <a:pathLst>
              <a:path w="76198" h="76198">
                <a:moveTo>
                  <a:pt x="76198" y="76198"/>
                </a:moveTo>
                <a:lnTo>
                  <a:pt x="38099" y="76198"/>
                </a:lnTo>
                <a:cubicBezTo>
                  <a:pt x="17058" y="76198"/>
                  <a:pt x="0" y="59141"/>
                  <a:pt x="0" y="38099"/>
                </a:cubicBezTo>
                <a:lnTo>
                  <a:pt x="0" y="0"/>
                </a:lnTo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9985" y="2438339"/>
            <a:ext cx="304030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09985" y="2666933"/>
            <a:ext cx="3108882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Non-Spatial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09985" y="3064592"/>
            <a:ext cx="3074593" cy="210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like 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iSDG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IFs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SDG-IO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T21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statistics-driven, ignoring spatial variability and process-driven dynamics.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76998" y="1485863"/>
            <a:ext cx="3505112" cy="392420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76998" y="1485863"/>
            <a:ext cx="3505112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00840" y="1827092"/>
            <a:ext cx="342891" cy="384315"/>
          </a:xfrm>
          <a:custGeom>
            <a:avLst/>
            <a:gdLst/>
            <a:ahLst/>
            <a:cxnLst/>
            <a:rect l="l" t="t" r="r" b="b"/>
            <a:pathLst>
              <a:path w="342891" h="384315">
                <a:moveTo>
                  <a:pt x="342891" y="115960"/>
                </a:moveTo>
                <a:cubicBezTo>
                  <a:pt x="342877" y="102362"/>
                  <a:pt x="335618" y="89803"/>
                  <a:pt x="323842" y="83004"/>
                </a:cubicBezTo>
                <a:lnTo>
                  <a:pt x="190495" y="6806"/>
                </a:lnTo>
                <a:cubicBezTo>
                  <a:pt x="178707" y="0"/>
                  <a:pt x="164184" y="0"/>
                  <a:pt x="152396" y="6806"/>
                </a:cubicBezTo>
                <a:lnTo>
                  <a:pt x="19050" y="83004"/>
                </a:lnTo>
                <a:cubicBezTo>
                  <a:pt x="7274" y="89803"/>
                  <a:pt x="14" y="102362"/>
                  <a:pt x="0" y="115960"/>
                </a:cubicBezTo>
                <a:lnTo>
                  <a:pt x="0" y="268356"/>
                </a:lnTo>
                <a:cubicBezTo>
                  <a:pt x="14" y="281953"/>
                  <a:pt x="7274" y="294513"/>
                  <a:pt x="19050" y="301311"/>
                </a:cubicBezTo>
                <a:lnTo>
                  <a:pt x="152396" y="377509"/>
                </a:lnTo>
                <a:cubicBezTo>
                  <a:pt x="164184" y="384315"/>
                  <a:pt x="178707" y="384315"/>
                  <a:pt x="190495" y="377509"/>
                </a:cubicBezTo>
                <a:lnTo>
                  <a:pt x="323842" y="301311"/>
                </a:lnTo>
                <a:cubicBezTo>
                  <a:pt x="335618" y="294513"/>
                  <a:pt x="342877" y="281953"/>
                  <a:pt x="342891" y="268356"/>
                </a:cubicBezTo>
                <a:close/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06555" y="1924002"/>
            <a:ext cx="331462" cy="95248"/>
          </a:xfrm>
          <a:custGeom>
            <a:avLst/>
            <a:gdLst/>
            <a:ahLst/>
            <a:cxnLst/>
            <a:rect l="l" t="t" r="r" b="b"/>
            <a:pathLst>
              <a:path w="331462" h="95248">
                <a:moveTo>
                  <a:pt x="0" y="0"/>
                </a:moveTo>
                <a:lnTo>
                  <a:pt x="165731" y="95248"/>
                </a:lnTo>
                <a:lnTo>
                  <a:pt x="331462" y="0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72286" y="2019250"/>
            <a:ext cx="9525" cy="190495"/>
          </a:xfrm>
          <a:custGeom>
            <a:avLst/>
            <a:gdLst/>
            <a:ahLst/>
            <a:cxnLst/>
            <a:rect l="l" t="t" r="r" b="b"/>
            <a:pathLst>
              <a:path w="9525" h="190495">
                <a:moveTo>
                  <a:pt x="0" y="190495"/>
                </a:moveTo>
                <a:lnTo>
                  <a:pt x="0" y="0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3691" y="2438339"/>
            <a:ext cx="304030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43691" y="2666933"/>
            <a:ext cx="3108882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Single-Domain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43691" y="3064592"/>
            <a:ext cx="3074593" cy="210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CA models simulate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use only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framework yet couples it with infrastructure dynamics critical for accessibility indicators.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09585" y="5638659"/>
            <a:ext cx="10972526" cy="761981"/>
          </a:xfrm>
          <a:prstGeom prst="roundRect">
            <a:avLst>
              <a:gd name="adj" fmla="val 20000"/>
            </a:avLst>
          </a:prstGeom>
          <a:solidFill>
            <a:srgbClr val="0F2740"/>
          </a:solidFill>
          <a:ln/>
        </p:spPr>
      </p:sp>
      <p:sp>
        <p:nvSpPr>
          <p:cNvPr id="32" name="Shape 30"/>
          <p:cNvSpPr/>
          <p:nvPr/>
        </p:nvSpPr>
        <p:spPr>
          <a:xfrm>
            <a:off x="971526" y="5860903"/>
            <a:ext cx="190495" cy="190495"/>
          </a:xfrm>
          <a:custGeom>
            <a:avLst/>
            <a:gdLst/>
            <a:ahLst/>
            <a:cxnLst/>
            <a:rect l="l" t="t" r="r" b="b"/>
            <a:pathLst>
              <a:path w="190495" h="190495">
                <a:moveTo>
                  <a:pt x="142871" y="190495"/>
                </a:moveTo>
                <a:cubicBezTo>
                  <a:pt x="146046" y="174621"/>
                  <a:pt x="153984" y="163508"/>
                  <a:pt x="166683" y="150809"/>
                </a:cubicBezTo>
                <a:cubicBezTo>
                  <a:pt x="182558" y="136522"/>
                  <a:pt x="190495" y="115885"/>
                  <a:pt x="190495" y="95248"/>
                </a:cubicBezTo>
                <a:cubicBezTo>
                  <a:pt x="190495" y="42644"/>
                  <a:pt x="147851" y="0"/>
                  <a:pt x="95248" y="0"/>
                </a:cubicBezTo>
                <a:cubicBezTo>
                  <a:pt x="42644" y="0"/>
                  <a:pt x="0" y="42644"/>
                  <a:pt x="0" y="95248"/>
                </a:cubicBezTo>
                <a:cubicBezTo>
                  <a:pt x="0" y="111122"/>
                  <a:pt x="3175" y="130172"/>
                  <a:pt x="23812" y="150809"/>
                </a:cubicBezTo>
                <a:cubicBezTo>
                  <a:pt x="34924" y="161921"/>
                  <a:pt x="44449" y="174621"/>
                  <a:pt x="47624" y="190495"/>
                </a:cubicBez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9150" y="6114897"/>
            <a:ext cx="95248" cy="9525"/>
          </a:xfrm>
          <a:custGeom>
            <a:avLst/>
            <a:gdLst/>
            <a:ahLst/>
            <a:cxnLst/>
            <a:rect l="l" t="t" r="r" b="b"/>
            <a:pathLst>
              <a:path w="95248" h="9525">
                <a:moveTo>
                  <a:pt x="0" y="0"/>
                </a:moveTo>
                <a:lnTo>
                  <a:pt x="95248" y="0"/>
                </a:ln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5024" y="6178396"/>
            <a:ext cx="63498" cy="9525"/>
          </a:xfrm>
          <a:custGeom>
            <a:avLst/>
            <a:gdLst/>
            <a:ahLst/>
            <a:cxnLst/>
            <a:rect l="l" t="t" r="r" b="b"/>
            <a:pathLst>
              <a:path w="63498" h="9525">
                <a:moveTo>
                  <a:pt x="0" y="0"/>
                </a:moveTo>
                <a:lnTo>
                  <a:pt x="63498" y="0"/>
                </a:ln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09665" y="5888684"/>
            <a:ext cx="7313380" cy="2619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that is </a:t>
            </a:r>
            <a:pPr algn="l" indent="0" marL="0">
              <a:buNone/>
            </a:pPr>
            <a:r>
              <a:rPr lang="en-US" sz="150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</a:t>
            </a:r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150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spatially explicit</a:t>
            </a:r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algn="l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dual-domain</a:t>
            </a:r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still missing.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BACKGROUND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Question &amp; Contributions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1447764"/>
            <a:ext cx="10972526" cy="1085823"/>
          </a:xfrm>
          <a:prstGeom prst="roundRect">
            <a:avLst>
              <a:gd name="adj" fmla="val 14035"/>
            </a:avLst>
          </a:prstGeom>
          <a:solidFill>
            <a:srgbClr val="0F2740"/>
          </a:solidFill>
          <a:ln/>
        </p:spPr>
      </p:sp>
      <p:sp>
        <p:nvSpPr>
          <p:cNvPr id="6" name="Shape 4"/>
          <p:cNvSpPr/>
          <p:nvPr/>
        </p:nvSpPr>
        <p:spPr>
          <a:xfrm>
            <a:off x="952476" y="1800180"/>
            <a:ext cx="380990" cy="380990"/>
          </a:xfrm>
          <a:prstGeom prst="ellipse">
            <a:avLst/>
          </a:prstGeom>
          <a:ln w="38100">
            <a:solidFill>
              <a:srgbClr val="0A9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5823" y="1952576"/>
            <a:ext cx="114297" cy="76198"/>
          </a:xfrm>
          <a:custGeom>
            <a:avLst/>
            <a:gdLst/>
            <a:ahLst/>
            <a:cxnLst/>
            <a:rect l="l" t="t" r="r" b="b"/>
            <a:pathLst>
              <a:path w="114297" h="76198">
                <a:moveTo>
                  <a:pt x="0" y="38099"/>
                </a:moveTo>
                <a:lnTo>
                  <a:pt x="38099" y="76198"/>
                </a:lnTo>
                <a:lnTo>
                  <a:pt x="114297" y="0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62061" y="1647784"/>
            <a:ext cx="9852414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upgrade SDG spatialization from </a:t>
            </a:r>
            <a:pPr algn="l" indent="0" marL="0">
              <a:lnSpc>
                <a:spcPct val="1375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assessment</a:t>
            </a:r>
            <a:pPr algn="l" indent="0" marL="0">
              <a:lnSpc>
                <a:spcPct val="137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ct val="137500"/>
              </a:lnSpc>
              <a:buNone/>
            </a:pPr>
            <a:r>
              <a:rPr lang="en-US" sz="180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prospective, spatial dynamic modeling</a:t>
            </a:r>
            <a:pPr algn="l" indent="0" marL="0">
              <a:lnSpc>
                <a:spcPct val="1375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585" y="2762181"/>
            <a:ext cx="3505112" cy="3638459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85803" y="3038399"/>
            <a:ext cx="419090" cy="419090"/>
          </a:xfrm>
          <a:prstGeom prst="roundRect">
            <a:avLst>
              <a:gd name="adj" fmla="val 27273"/>
            </a:avLst>
          </a:prstGeom>
          <a:solidFill>
            <a:srgbClr val="0A97D9"/>
          </a:solidFill>
          <a:ln/>
        </p:spPr>
      </p:sp>
      <p:sp>
        <p:nvSpPr>
          <p:cNvPr id="11" name="Text 9"/>
          <p:cNvSpPr/>
          <p:nvPr/>
        </p:nvSpPr>
        <p:spPr>
          <a:xfrm>
            <a:off x="834369" y="3016968"/>
            <a:ext cx="521957" cy="46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55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85803" y="3647984"/>
            <a:ext cx="3066973" cy="2619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 for 27 Indicators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5803" y="4002781"/>
            <a:ext cx="3055544" cy="180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CA into spatial assessment of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land-related SDGs, 27 indicators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8503" y="5965676"/>
            <a:ext cx="126997" cy="126997"/>
          </a:xfrm>
          <a:prstGeom prst="ellipse">
            <a:avLst/>
          </a:prstGeom>
          <a:ln w="12700">
            <a:solidFill>
              <a:srgbClr val="0A9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2951" y="6016475"/>
            <a:ext cx="38099" cy="25399"/>
          </a:xfrm>
          <a:custGeom>
            <a:avLst/>
            <a:gdLst/>
            <a:ahLst/>
            <a:cxnLst/>
            <a:rect l="l" t="t" r="r" b="b"/>
            <a:pathLst>
              <a:path w="38099" h="25399">
                <a:moveTo>
                  <a:pt x="0" y="12700"/>
                </a:moveTo>
                <a:lnTo>
                  <a:pt x="12700" y="25399"/>
                </a:lnTo>
                <a:lnTo>
                  <a:pt x="38099" y="0"/>
                </a:lnTo>
              </a:path>
            </a:pathLst>
          </a:custGeom>
          <a:ln w="12700">
            <a:solidFill>
              <a:srgbClr val="0A97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4397" y="5933927"/>
            <a:ext cx="113978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system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291" y="2762181"/>
            <a:ext cx="3505112" cy="3638459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9510" y="3038399"/>
            <a:ext cx="419090" cy="419090"/>
          </a:xfrm>
          <a:prstGeom prst="roundRect">
            <a:avLst>
              <a:gd name="adj" fmla="val 27273"/>
            </a:avLst>
          </a:prstGeom>
          <a:solidFill>
            <a:srgbClr val="56C02B"/>
          </a:solidFill>
          <a:ln/>
        </p:spPr>
      </p:sp>
      <p:sp>
        <p:nvSpPr>
          <p:cNvPr id="19" name="Text 17"/>
          <p:cNvSpPr/>
          <p:nvPr/>
        </p:nvSpPr>
        <p:spPr>
          <a:xfrm>
            <a:off x="4568076" y="3016968"/>
            <a:ext cx="521957" cy="46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55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19510" y="3647984"/>
            <a:ext cx="3066973" cy="2619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CAINFRA Dual Simulation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9510" y="4002781"/>
            <a:ext cx="3055544" cy="180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CAINFRA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simulate infrastructure coverage in parallel with land use.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632209" y="5965676"/>
            <a:ext cx="126997" cy="126997"/>
          </a:xfrm>
          <a:prstGeom prst="ellipse">
            <a:avLst/>
          </a:prstGeom>
          <a:ln w="12700">
            <a:solidFill>
              <a:srgbClr val="56C0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6658" y="6016475"/>
            <a:ext cx="38099" cy="25399"/>
          </a:xfrm>
          <a:custGeom>
            <a:avLst/>
            <a:gdLst/>
            <a:ahLst/>
            <a:cxnLst/>
            <a:rect l="l" t="t" r="r" b="b"/>
            <a:pathLst>
              <a:path w="38099" h="25399">
                <a:moveTo>
                  <a:pt x="0" y="12700"/>
                </a:moveTo>
                <a:lnTo>
                  <a:pt x="12700" y="25399"/>
                </a:lnTo>
                <a:lnTo>
                  <a:pt x="38099" y="0"/>
                </a:lnTo>
              </a:path>
            </a:pathLst>
          </a:custGeom>
          <a:ln w="12700">
            <a:solidFill>
              <a:srgbClr val="56C0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8104" y="5933927"/>
            <a:ext cx="148014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Dual-domain coupling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76998" y="2762181"/>
            <a:ext cx="3505112" cy="3638459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53216" y="3038399"/>
            <a:ext cx="419090" cy="419090"/>
          </a:xfrm>
          <a:prstGeom prst="roundRect">
            <a:avLst>
              <a:gd name="adj" fmla="val 27273"/>
            </a:avLst>
          </a:prstGeom>
          <a:solidFill>
            <a:srgbClr val="E4572E"/>
          </a:solidFill>
          <a:ln/>
        </p:spPr>
      </p:sp>
      <p:sp>
        <p:nvSpPr>
          <p:cNvPr id="27" name="Text 25"/>
          <p:cNvSpPr/>
          <p:nvPr/>
        </p:nvSpPr>
        <p:spPr>
          <a:xfrm>
            <a:off x="8301782" y="3016968"/>
            <a:ext cx="521957" cy="461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55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53216" y="3647984"/>
            <a:ext cx="3066973" cy="2619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Prioritized Intervention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53216" y="4002781"/>
            <a:ext cx="3055544" cy="180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time windows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regional disparities, and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intervention areas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65916" y="5965676"/>
            <a:ext cx="126997" cy="126997"/>
          </a:xfrm>
          <a:prstGeom prst="ellipse">
            <a:avLst/>
          </a:prstGeom>
          <a:ln w="12700">
            <a:solidFill>
              <a:srgbClr val="E457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0365" y="6016475"/>
            <a:ext cx="38099" cy="25399"/>
          </a:xfrm>
          <a:custGeom>
            <a:avLst/>
            <a:gdLst/>
            <a:ahLst/>
            <a:cxnLst/>
            <a:rect l="l" t="t" r="r" b="b"/>
            <a:pathLst>
              <a:path w="38099" h="25399">
                <a:moveTo>
                  <a:pt x="0" y="12700"/>
                </a:moveTo>
                <a:lnTo>
                  <a:pt x="12700" y="25399"/>
                </a:lnTo>
                <a:lnTo>
                  <a:pt x="38099" y="0"/>
                </a:lnTo>
              </a:path>
            </a:pathLst>
          </a:custGeom>
          <a:ln w="12700">
            <a:solidFill>
              <a:srgbClr val="E457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81810" y="5933927"/>
            <a:ext cx="108040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targeting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Method Overview: Three Modules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1485863"/>
            <a:ext cx="3301818" cy="4495688"/>
          </a:xfrm>
          <a:prstGeom prst="roundRect">
            <a:avLst>
              <a:gd name="adj" fmla="val 46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585" y="1485863"/>
            <a:ext cx="3301818" cy="0"/>
          </a:xfrm>
          <a:prstGeom prst="line">
            <a:avLst/>
          </a:prstGeom>
          <a:noFill/>
          <a:ln w="38100">
            <a:solidFill>
              <a:srgbClr val="0A9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2718" y="2825679"/>
            <a:ext cx="177796" cy="9525"/>
          </a:xfrm>
          <a:custGeom>
            <a:avLst/>
            <a:gdLst/>
            <a:ahLst/>
            <a:cxnLst/>
            <a:rect l="l" t="t" r="r" b="b"/>
            <a:pathLst>
              <a:path w="177796" h="9525">
                <a:moveTo>
                  <a:pt x="0" y="0"/>
                </a:moveTo>
                <a:lnTo>
                  <a:pt x="177796" y="0"/>
                </a:lnTo>
              </a:path>
            </a:pathLst>
          </a:custGeom>
          <a:ln w="44450">
            <a:solidFill>
              <a:srgbClr val="0A97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2718" y="2981250"/>
            <a:ext cx="177796" cy="9525"/>
          </a:xfrm>
          <a:custGeom>
            <a:avLst/>
            <a:gdLst/>
            <a:ahLst/>
            <a:cxnLst/>
            <a:rect l="l" t="t" r="r" b="b"/>
            <a:pathLst>
              <a:path w="177796" h="9525">
                <a:moveTo>
                  <a:pt x="0" y="0"/>
                </a:moveTo>
                <a:lnTo>
                  <a:pt x="177796" y="0"/>
                </a:lnTo>
              </a:path>
            </a:pathLst>
          </a:custGeom>
          <a:ln w="44450">
            <a:solidFill>
              <a:srgbClr val="0A97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2718" y="3136822"/>
            <a:ext cx="177796" cy="9525"/>
          </a:xfrm>
          <a:custGeom>
            <a:avLst/>
            <a:gdLst/>
            <a:ahLst/>
            <a:cxnLst/>
            <a:rect l="l" t="t" r="r" b="b"/>
            <a:pathLst>
              <a:path w="177796" h="9525">
                <a:moveTo>
                  <a:pt x="0" y="0"/>
                </a:moveTo>
                <a:lnTo>
                  <a:pt x="177796" y="0"/>
                </a:lnTo>
              </a:path>
            </a:pathLst>
          </a:custGeom>
          <a:ln w="44450">
            <a:solidFill>
              <a:srgbClr val="0A97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0474" y="3047924"/>
            <a:ext cx="133347" cy="88898"/>
          </a:xfrm>
          <a:custGeom>
            <a:avLst/>
            <a:gdLst/>
            <a:ahLst/>
            <a:cxnLst/>
            <a:rect l="l" t="t" r="r" b="b"/>
            <a:pathLst>
              <a:path w="133347" h="88898">
                <a:moveTo>
                  <a:pt x="0" y="44449"/>
                </a:moveTo>
                <a:lnTo>
                  <a:pt x="44449" y="88898"/>
                </a:lnTo>
                <a:lnTo>
                  <a:pt x="133347" y="0"/>
                </a:lnTo>
              </a:path>
            </a:pathLst>
          </a:custGeom>
          <a:ln w="44450">
            <a:solidFill>
              <a:srgbClr val="0A97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60474" y="2825679"/>
            <a:ext cx="133347" cy="88898"/>
          </a:xfrm>
          <a:custGeom>
            <a:avLst/>
            <a:gdLst/>
            <a:ahLst/>
            <a:cxnLst/>
            <a:rect l="l" t="t" r="r" b="b"/>
            <a:pathLst>
              <a:path w="133347" h="88898">
                <a:moveTo>
                  <a:pt x="0" y="44449"/>
                </a:moveTo>
                <a:lnTo>
                  <a:pt x="44449" y="88898"/>
                </a:lnTo>
                <a:lnTo>
                  <a:pt x="133347" y="0"/>
                </a:lnTo>
              </a:path>
            </a:pathLst>
          </a:custGeom>
          <a:ln w="44450">
            <a:solidFill>
              <a:srgbClr val="0A9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5099" y="3400340"/>
            <a:ext cx="7506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7700" y="3600360"/>
            <a:ext cx="2905588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Indicator Selection &amp; Quantification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05766" y="4371866"/>
            <a:ext cx="1709308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SDGs · 27 indicators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28069" y="4581410"/>
            <a:ext cx="206470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measurement primitives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1423" y="3733707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78096" y="366703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44790" y="1485863"/>
            <a:ext cx="3301967" cy="4495688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44790" y="1485863"/>
            <a:ext cx="3301967" cy="0"/>
          </a:xfrm>
          <a:prstGeom prst="line">
            <a:avLst/>
          </a:prstGeom>
          <a:noFill/>
          <a:ln w="38100">
            <a:solidFill>
              <a:srgbClr val="56C0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4577" y="2788787"/>
            <a:ext cx="88898" cy="154015"/>
          </a:xfrm>
          <a:custGeom>
            <a:avLst/>
            <a:gdLst/>
            <a:ahLst/>
            <a:cxnLst/>
            <a:rect l="l" t="t" r="r" b="b"/>
            <a:pathLst>
              <a:path w="88898" h="154015">
                <a:moveTo>
                  <a:pt x="88898" y="154015"/>
                </a:moveTo>
                <a:lnTo>
                  <a:pt x="0" y="0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4577" y="3019699"/>
            <a:ext cx="88898" cy="154015"/>
          </a:xfrm>
          <a:custGeom>
            <a:avLst/>
            <a:gdLst/>
            <a:ahLst/>
            <a:cxnLst/>
            <a:rect l="l" t="t" r="r" b="b"/>
            <a:pathLst>
              <a:path w="88898" h="154015">
                <a:moveTo>
                  <a:pt x="88898" y="0"/>
                </a:moveTo>
                <a:lnTo>
                  <a:pt x="0" y="154015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5699" y="3159046"/>
            <a:ext cx="9525" cy="44449"/>
          </a:xfrm>
          <a:custGeom>
            <a:avLst/>
            <a:gdLst/>
            <a:ahLst/>
            <a:cxnLst/>
            <a:rect l="l" t="t" r="r" b="b"/>
            <a:pathLst>
              <a:path w="9525" h="44449">
                <a:moveTo>
                  <a:pt x="0" y="44449"/>
                </a:moveTo>
                <a:lnTo>
                  <a:pt x="0" y="0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5699" y="2759006"/>
            <a:ext cx="9525" cy="44449"/>
          </a:xfrm>
          <a:custGeom>
            <a:avLst/>
            <a:gdLst/>
            <a:ahLst/>
            <a:cxnLst/>
            <a:rect l="l" t="t" r="r" b="b"/>
            <a:pathLst>
              <a:path w="9525" h="44449">
                <a:moveTo>
                  <a:pt x="0" y="0"/>
                </a:moveTo>
                <a:lnTo>
                  <a:pt x="0" y="44449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0148" y="2981250"/>
            <a:ext cx="177796" cy="9525"/>
          </a:xfrm>
          <a:custGeom>
            <a:avLst/>
            <a:gdLst/>
            <a:ahLst/>
            <a:cxnLst/>
            <a:rect l="l" t="t" r="r" b="b"/>
            <a:pathLst>
              <a:path w="177796" h="9525">
                <a:moveTo>
                  <a:pt x="0" y="0"/>
                </a:moveTo>
                <a:lnTo>
                  <a:pt x="177796" y="0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4597" y="3135266"/>
            <a:ext cx="22224" cy="38448"/>
          </a:xfrm>
          <a:custGeom>
            <a:avLst/>
            <a:gdLst/>
            <a:ahLst/>
            <a:cxnLst/>
            <a:rect l="l" t="t" r="r" b="b"/>
            <a:pathLst>
              <a:path w="22224" h="38448">
                <a:moveTo>
                  <a:pt x="22224" y="38448"/>
                </a:moveTo>
                <a:lnTo>
                  <a:pt x="0" y="0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4597" y="2788787"/>
            <a:ext cx="22224" cy="38448"/>
          </a:xfrm>
          <a:custGeom>
            <a:avLst/>
            <a:gdLst/>
            <a:ahLst/>
            <a:cxnLst/>
            <a:rect l="l" t="t" r="r" b="b"/>
            <a:pathLst>
              <a:path w="22224" h="38448">
                <a:moveTo>
                  <a:pt x="22224" y="0"/>
                </a:moveTo>
                <a:lnTo>
                  <a:pt x="0" y="38448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73454" y="2981250"/>
            <a:ext cx="44449" cy="9525"/>
          </a:xfrm>
          <a:custGeom>
            <a:avLst/>
            <a:gdLst/>
            <a:ahLst/>
            <a:cxnLst/>
            <a:rect l="l" t="t" r="r" b="b"/>
            <a:pathLst>
              <a:path w="44449" h="9525">
                <a:moveTo>
                  <a:pt x="0" y="0"/>
                </a:moveTo>
                <a:lnTo>
                  <a:pt x="44449" y="0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49714" y="3070148"/>
            <a:ext cx="38448" cy="22224"/>
          </a:xfrm>
          <a:custGeom>
            <a:avLst/>
            <a:gdLst/>
            <a:ahLst/>
            <a:cxnLst/>
            <a:rect l="l" t="t" r="r" b="b"/>
            <a:pathLst>
              <a:path w="38448" h="22224">
                <a:moveTo>
                  <a:pt x="38448" y="22224"/>
                </a:moveTo>
                <a:lnTo>
                  <a:pt x="0" y="0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49714" y="2870128"/>
            <a:ext cx="38448" cy="22224"/>
          </a:xfrm>
          <a:custGeom>
            <a:avLst/>
            <a:gdLst/>
            <a:ahLst/>
            <a:cxnLst/>
            <a:rect l="l" t="t" r="r" b="b"/>
            <a:pathLst>
              <a:path w="38448" h="22224">
                <a:moveTo>
                  <a:pt x="38448" y="0"/>
                </a:moveTo>
                <a:lnTo>
                  <a:pt x="0" y="22224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03235" y="3070148"/>
            <a:ext cx="38448" cy="22224"/>
          </a:xfrm>
          <a:custGeom>
            <a:avLst/>
            <a:gdLst/>
            <a:ahLst/>
            <a:cxnLst/>
            <a:rect l="l" t="t" r="r" b="b"/>
            <a:pathLst>
              <a:path w="38448" h="22224">
                <a:moveTo>
                  <a:pt x="0" y="22224"/>
                </a:moveTo>
                <a:lnTo>
                  <a:pt x="38448" y="0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03235" y="2870128"/>
            <a:ext cx="38448" cy="22224"/>
          </a:xfrm>
          <a:custGeom>
            <a:avLst/>
            <a:gdLst/>
            <a:ahLst/>
            <a:cxnLst/>
            <a:rect l="l" t="t" r="r" b="b"/>
            <a:pathLst>
              <a:path w="38448" h="22224">
                <a:moveTo>
                  <a:pt x="0" y="0"/>
                </a:moveTo>
                <a:lnTo>
                  <a:pt x="38448" y="22224"/>
                </a:lnTo>
              </a:path>
            </a:pathLst>
          </a:custGeom>
          <a:ln w="44450">
            <a:solidFill>
              <a:srgbClr val="56C0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51250" y="2936802"/>
            <a:ext cx="88898" cy="88898"/>
          </a:xfrm>
          <a:prstGeom prst="ellipse">
            <a:avLst/>
          </a:prstGeom>
          <a:ln w="44450">
            <a:solidFill>
              <a:srgbClr val="56C0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17903" y="2803455"/>
            <a:ext cx="355591" cy="355591"/>
          </a:xfrm>
          <a:prstGeom prst="ellipse">
            <a:avLst/>
          </a:prstGeom>
          <a:ln w="44450">
            <a:solidFill>
              <a:srgbClr val="56C0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20453" y="3400340"/>
            <a:ext cx="7506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42905" y="3600360"/>
            <a:ext cx="2905737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Spatiotemporal Simulation &amp; Scoring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15383" y="4371866"/>
            <a:ext cx="156063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CALUCC + CAINFRA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90221" y="4581410"/>
            <a:ext cx="1810955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Priority-area identification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46777" y="3733707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13450" y="366703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80143" y="1485863"/>
            <a:ext cx="3301967" cy="4495688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80143" y="1485863"/>
            <a:ext cx="3301967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08755" y="2758953"/>
            <a:ext cx="444595" cy="444595"/>
          </a:xfrm>
          <a:custGeom>
            <a:avLst/>
            <a:gdLst/>
            <a:ahLst/>
            <a:cxnLst/>
            <a:rect l="l" t="t" r="r" b="b"/>
            <a:pathLst>
              <a:path w="444595" h="444595">
                <a:moveTo>
                  <a:pt x="200451" y="18144"/>
                </a:moveTo>
                <a:cubicBezTo>
                  <a:pt x="202416" y="7625"/>
                  <a:pt x="211597" y="0"/>
                  <a:pt x="222298" y="0"/>
                </a:cubicBezTo>
                <a:cubicBezTo>
                  <a:pt x="232998" y="0"/>
                  <a:pt x="242180" y="7625"/>
                  <a:pt x="244144" y="18144"/>
                </a:cubicBezTo>
                <a:lnTo>
                  <a:pt x="267502" y="141667"/>
                </a:lnTo>
                <a:cubicBezTo>
                  <a:pt x="270897" y="159640"/>
                  <a:pt x="284955" y="173698"/>
                  <a:pt x="302928" y="177093"/>
                </a:cubicBezTo>
                <a:lnTo>
                  <a:pt x="426451" y="200451"/>
                </a:lnTo>
                <a:cubicBezTo>
                  <a:pt x="436970" y="202416"/>
                  <a:pt x="444595" y="211597"/>
                  <a:pt x="444595" y="222298"/>
                </a:cubicBezTo>
                <a:cubicBezTo>
                  <a:pt x="444595" y="232998"/>
                  <a:pt x="436970" y="242180"/>
                  <a:pt x="426451" y="244144"/>
                </a:cubicBezTo>
                <a:lnTo>
                  <a:pt x="302928" y="267502"/>
                </a:lnTo>
                <a:cubicBezTo>
                  <a:pt x="284955" y="270897"/>
                  <a:pt x="270897" y="284955"/>
                  <a:pt x="267502" y="302928"/>
                </a:cubicBezTo>
                <a:lnTo>
                  <a:pt x="244144" y="426451"/>
                </a:lnTo>
                <a:cubicBezTo>
                  <a:pt x="242180" y="436970"/>
                  <a:pt x="232998" y="444595"/>
                  <a:pt x="222298" y="444595"/>
                </a:cubicBezTo>
                <a:cubicBezTo>
                  <a:pt x="211597" y="444595"/>
                  <a:pt x="202416" y="436970"/>
                  <a:pt x="200451" y="426451"/>
                </a:cubicBezTo>
                <a:lnTo>
                  <a:pt x="177093" y="302928"/>
                </a:lnTo>
                <a:cubicBezTo>
                  <a:pt x="173698" y="284955"/>
                  <a:pt x="159640" y="270897"/>
                  <a:pt x="141667" y="267502"/>
                </a:cubicBezTo>
                <a:lnTo>
                  <a:pt x="18144" y="244144"/>
                </a:lnTo>
                <a:cubicBezTo>
                  <a:pt x="7625" y="242180"/>
                  <a:pt x="0" y="232998"/>
                  <a:pt x="0" y="222298"/>
                </a:cubicBezTo>
                <a:cubicBezTo>
                  <a:pt x="0" y="211597"/>
                  <a:pt x="7625" y="202416"/>
                  <a:pt x="18144" y="200451"/>
                </a:cubicBezTo>
                <a:lnTo>
                  <a:pt x="141667" y="177093"/>
                </a:lnTo>
                <a:cubicBezTo>
                  <a:pt x="159640" y="173698"/>
                  <a:pt x="173698" y="159640"/>
                  <a:pt x="177093" y="141667"/>
                </a:cubicBezTo>
                <a:close/>
              </a:path>
            </a:pathLst>
          </a:custGeom>
          <a:ln w="44450">
            <a:solidFill>
              <a:srgbClr val="E457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08848" y="2759006"/>
            <a:ext cx="9525" cy="88898"/>
          </a:xfrm>
          <a:custGeom>
            <a:avLst/>
            <a:gdLst/>
            <a:ahLst/>
            <a:cxnLst/>
            <a:rect l="l" t="t" r="r" b="b"/>
            <a:pathLst>
              <a:path w="9525" h="88898">
                <a:moveTo>
                  <a:pt x="0" y="0"/>
                </a:moveTo>
                <a:lnTo>
                  <a:pt x="0" y="88898"/>
                </a:lnTo>
              </a:path>
            </a:pathLst>
          </a:custGeom>
          <a:ln w="44450">
            <a:solidFill>
              <a:srgbClr val="E457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64399" y="2803455"/>
            <a:ext cx="88898" cy="9525"/>
          </a:xfrm>
          <a:custGeom>
            <a:avLst/>
            <a:gdLst/>
            <a:ahLst/>
            <a:cxnLst/>
            <a:rect l="l" t="t" r="r" b="b"/>
            <a:pathLst>
              <a:path w="88898" h="9525">
                <a:moveTo>
                  <a:pt x="88898" y="0"/>
                </a:moveTo>
                <a:lnTo>
                  <a:pt x="0" y="0"/>
                </a:lnTo>
              </a:path>
            </a:pathLst>
          </a:custGeom>
          <a:ln w="44450">
            <a:solidFill>
              <a:srgbClr val="E457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08808" y="3114597"/>
            <a:ext cx="88898" cy="88898"/>
          </a:xfrm>
          <a:prstGeom prst="ellipse">
            <a:avLst/>
          </a:prstGeom>
          <a:ln w="44450">
            <a:solidFill>
              <a:srgbClr val="E457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55807" y="3400340"/>
            <a:ext cx="75064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78258" y="3600360"/>
            <a:ext cx="2905737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 Sustainability Outlook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984351" y="4371866"/>
            <a:ext cx="1893404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 scenarios 2030–2050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82436" y="4581410"/>
            <a:ext cx="149738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synthesis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69581" y="6210145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spc="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Corresponds to Figure 1 in the paper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304792"/>
            <a:ext cx="863074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9" y="459570"/>
            <a:ext cx="8733611" cy="75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Spatial SDG Indicator System — Table 1 (10 Goals · 17 Targets · 27 Indicators)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019354" y="985813"/>
            <a:ext cx="58042" cy="76198"/>
          </a:xfrm>
          <a:prstGeom prst="roundRect">
            <a:avLst>
              <a:gd name="adj" fmla="val 32820"/>
            </a:avLst>
          </a:prstGeom>
          <a:solidFill>
            <a:srgbClr val="0A97D9"/>
          </a:solidFill>
          <a:ln/>
        </p:spPr>
      </p:sp>
      <p:sp>
        <p:nvSpPr>
          <p:cNvPr id="6" name="Text 4"/>
          <p:cNvSpPr/>
          <p:nvPr/>
        </p:nvSpPr>
        <p:spPr>
          <a:xfrm>
            <a:off x="9115495" y="853657"/>
            <a:ext cx="341016" cy="34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比例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9507945" y="985813"/>
            <a:ext cx="58042" cy="76198"/>
          </a:xfrm>
          <a:prstGeom prst="roundRect">
            <a:avLst>
              <a:gd name="adj" fmla="val 32820"/>
            </a:avLst>
          </a:prstGeom>
          <a:solidFill>
            <a:srgbClr val="56C02B"/>
          </a:solidFill>
          <a:ln/>
        </p:spPr>
      </p:sp>
      <p:sp>
        <p:nvSpPr>
          <p:cNvPr id="8" name="Text 6"/>
          <p:cNvSpPr/>
          <p:nvPr/>
        </p:nvSpPr>
        <p:spPr>
          <a:xfrm>
            <a:off x="9604085" y="853657"/>
            <a:ext cx="347118" cy="34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 转换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10002637" y="985813"/>
            <a:ext cx="58339" cy="76198"/>
          </a:xfrm>
          <a:prstGeom prst="roundRect">
            <a:avLst>
              <a:gd name="adj" fmla="val 32653"/>
            </a:avLst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10099075" y="853657"/>
            <a:ext cx="428674" cy="34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BZ 缓冲区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10579183" y="985813"/>
            <a:ext cx="58042" cy="76198"/>
          </a:xfrm>
          <a:prstGeom prst="roundRect">
            <a:avLst>
              <a:gd name="adj" fmla="val 32820"/>
            </a:avLst>
          </a:prstGeom>
          <a:solidFill>
            <a:srgbClr val="0F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10675323" y="853657"/>
            <a:ext cx="347118" cy="34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统计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1150073" y="853657"/>
            <a:ext cx="647297" cy="34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= 直接指标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457189" y="1333467"/>
            <a:ext cx="5581510" cy="4948114"/>
          </a:xfrm>
          <a:prstGeom prst="roundRect">
            <a:avLst>
              <a:gd name="adj" fmla="val 2310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713" y="1342991"/>
          <a:ext cx="5562461" cy="914400"/>
        </p:xfrm>
        <a:graphic>
          <a:graphicData uri="http://schemas.openxmlformats.org/drawingml/2006/table">
            <a:tbl>
              <a:tblPr/>
              <a:tblGrid>
                <a:gridCol w="457189"/>
                <a:gridCol w="609585"/>
                <a:gridCol w="3699328"/>
                <a:gridCol w="304792"/>
                <a:gridCol w="4915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</a:t>
                      </a:r>
                      <a:endParaRPr lang="en-US" sz="1200" dirty="0"/>
                    </a:p>
                  </a:txBody>
                  <a:tcPr marL="57150" marR="9525" marT="11430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Indicator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</a:t>
                      </a:r>
                      <a:endParaRPr lang="en-US" sz="1200" dirty="0"/>
                    </a:p>
                  </a:txBody>
                  <a:tcPr marL="4114800" marR="54864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2</a:t>
                      </a:r>
                      <a:endParaRPr lang="en-US" sz="1200" dirty="0"/>
                    </a:p>
                  </a:txBody>
                  <a:tcPr marL="38100" marR="9525" marT="1143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Hunger</a:t>
                      </a: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2.1.2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land for agriculture use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Grain yield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F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land for easy accessibility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land for efficient irrigation practices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3</a:t>
                      </a:r>
                      <a:endParaRPr lang="en-US" sz="1200" dirty="0"/>
                    </a:p>
                  </a:txBody>
                  <a:tcPr marL="38100" marR="9525" marT="1143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Health &amp; Well-being</a:t>
                      </a: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health facility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elderly care facility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sport &amp; cultural facility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3.c.1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community healthcare institution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city-level hospital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tiered hospital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4</a:t>
                      </a:r>
                      <a:endParaRPr lang="en-US" sz="1200" dirty="0"/>
                    </a:p>
                  </a:txBody>
                  <a:tcPr marL="38100" marR="9525" marT="1143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Education</a:t>
                      </a: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4.1.2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preschool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primary school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secondary school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Trends in water-related ecosystems over time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Proportion of community clean energy facility coverage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66713" y="5952976"/>
            <a:ext cx="5562461" cy="319080"/>
          </a:xfrm>
          <a:custGeom>
            <a:avLst/>
            <a:gdLst/>
            <a:ahLst/>
            <a:cxnLst/>
            <a:rect l="l" t="t" r="r" b="b"/>
            <a:pathLst>
              <a:path w="5562461" h="319080">
                <a:moveTo>
                  <a:pt x="0" y="0"/>
                </a:moveTo>
                <a:lnTo>
                  <a:pt x="5562461" y="0"/>
                </a:lnTo>
                <a:lnTo>
                  <a:pt x="5562461" y="0"/>
                </a:lnTo>
                <a:lnTo>
                  <a:pt x="5562461" y="214307"/>
                </a:lnTo>
                <a:arcTo hR="104772" wR="104772" stAng="0" swAng="5400000"/>
                <a:lnTo>
                  <a:pt x="104772" y="319080"/>
                </a:lnTo>
                <a:arcTo hR="104772" wR="104772" stAng="5400000" swAng="5400000"/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/>
        </p:spPr>
      </p:sp>
      <p:sp>
        <p:nvSpPr>
          <p:cNvPr id="17" name="Shape 14"/>
          <p:cNvSpPr/>
          <p:nvPr/>
        </p:nvSpPr>
        <p:spPr>
          <a:xfrm>
            <a:off x="466713" y="5952976"/>
            <a:ext cx="5562461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5282" y="5939880"/>
            <a:ext cx="5625324" cy="345273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 · 3 · 4 · 6 · 7</a:t>
            </a:r>
            <a:endParaRPr lang="en-US" sz="825" dirty="0"/>
          </a:p>
        </p:txBody>
      </p:sp>
      <p:sp>
        <p:nvSpPr>
          <p:cNvPr id="19" name="Shape 16"/>
          <p:cNvSpPr/>
          <p:nvPr/>
        </p:nvSpPr>
        <p:spPr>
          <a:xfrm>
            <a:off x="6152996" y="1333467"/>
            <a:ext cx="5581510" cy="4948114"/>
          </a:xfrm>
          <a:prstGeom prst="roundRect">
            <a:avLst>
              <a:gd name="adj" fmla="val 2310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2521" y="1342991"/>
          <a:ext cx="5562461" cy="914400"/>
        </p:xfrm>
        <a:graphic>
          <a:graphicData uri="http://schemas.openxmlformats.org/drawingml/2006/table">
            <a:tbl>
              <a:tblPr/>
              <a:tblGrid>
                <a:gridCol w="457189"/>
                <a:gridCol w="609585"/>
                <a:gridCol w="3699328"/>
                <a:gridCol w="304792"/>
                <a:gridCol w="4915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</a:t>
                      </a:r>
                      <a:endParaRPr lang="en-US" sz="1200" dirty="0"/>
                    </a:p>
                  </a:txBody>
                  <a:tcPr marL="57150" marR="9525" marT="11430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Indicator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</a:t>
                      </a:r>
                      <a:endParaRPr lang="en-US" sz="1200" dirty="0"/>
                    </a:p>
                  </a:txBody>
                  <a:tcPr marL="4114800" marR="54864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9</a:t>
                      </a:r>
                      <a:endParaRPr lang="en-US" sz="1200" dirty="0"/>
                    </a:p>
                  </a:txBody>
                  <a:tcPr marL="38100" marR="9525" marT="1143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Industry, Innovation &amp; Infrastructure</a:t>
                      </a: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population residing within 2 km of a road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population served by subway stations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9.c.1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population served by a mobile network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11</a:t>
                      </a:r>
                      <a:endParaRPr lang="en-US" sz="1200" dirty="0"/>
                    </a:p>
                  </a:txBody>
                  <a:tcPr marL="38100" marR="9525" marT="1143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Sustainable Cities &amp; Communities</a:t>
                      </a: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population served by subway stations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population served by bus stations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 of land consumption rate to population growth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F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rate of urban open public spaces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13</a:t>
                      </a:r>
                      <a:endParaRPr lang="en-US" sz="1200" dirty="0"/>
                    </a:p>
                  </a:txBody>
                  <a:tcPr marL="38100" marR="9525" marT="1143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Climate Action</a:t>
                      </a: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13.2.2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of achieving “Carbon Peak”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F27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14</a:t>
                      </a:r>
                      <a:endParaRPr lang="en-US" sz="1200" dirty="0"/>
                    </a:p>
                  </a:txBody>
                  <a:tcPr marL="38100" marR="9525" marT="1143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 Below Water</a:t>
                      </a: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 in water ecosystem within protected areas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 15</a:t>
                      </a:r>
                      <a:endParaRPr lang="en-US" sz="1200" dirty="0"/>
                    </a:p>
                  </a:txBody>
                  <a:tcPr marL="38100" marR="9525" marT="114300" marB="381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 on Land</a:t>
                      </a: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743200" marR="685800" marT="685800" marB="2743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97D9">
                        <a:alpha val="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forest area relative to total land area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progress towards sustainable forest management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28575" marR="9525" marT="114300" marB="285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15.3.1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degraded land compared to total land area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/>
                    </a:p>
                  </a:txBody>
                  <a:tcPr marL="2057400" marR="685800" marT="685800" marB="20574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6162521" y="5952976"/>
            <a:ext cx="5562461" cy="319080"/>
          </a:xfrm>
          <a:custGeom>
            <a:avLst/>
            <a:gdLst/>
            <a:ahLst/>
            <a:cxnLst/>
            <a:rect l="l" t="t" r="r" b="b"/>
            <a:pathLst>
              <a:path w="5562461" h="319080">
                <a:moveTo>
                  <a:pt x="0" y="0"/>
                </a:moveTo>
                <a:lnTo>
                  <a:pt x="5562461" y="0"/>
                </a:lnTo>
                <a:lnTo>
                  <a:pt x="5562461" y="0"/>
                </a:lnTo>
                <a:lnTo>
                  <a:pt x="5562461" y="214307"/>
                </a:lnTo>
                <a:arcTo hR="104772" wR="104772" stAng="0" swAng="5400000"/>
                <a:lnTo>
                  <a:pt x="104772" y="319080"/>
                </a:lnTo>
                <a:arcTo hR="104772" wR="104772" stAng="5400000" swAng="5400000"/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/>
        </p:spPr>
      </p:sp>
      <p:sp>
        <p:nvSpPr>
          <p:cNvPr id="22" name="Shape 18"/>
          <p:cNvSpPr/>
          <p:nvPr/>
        </p:nvSpPr>
        <p:spPr>
          <a:xfrm>
            <a:off x="6162521" y="5952976"/>
            <a:ext cx="5562461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31089" y="5939880"/>
            <a:ext cx="5625324" cy="345273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9 · 11 · 13 · 14 · 15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425757" y="6395878"/>
            <a:ext cx="11340181" cy="157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25" b="1" spc="2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Corresponds to Table 1 in the paper · LP=Land Proportion · LC=Land Conversion · BZ=Buffer Zone · TS=Total Statistics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380990"/>
            <a:ext cx="1120493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387" y="609585"/>
            <a:ext cx="11330657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Indicator Calculation Paradigm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3387" y="1219170"/>
            <a:ext cx="2438339" cy="1090585"/>
          </a:xfrm>
          <a:prstGeom prst="roundRect">
            <a:avLst>
              <a:gd name="adj" fmla="val 10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387" y="1219170"/>
            <a:ext cx="2438339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882" y="1435064"/>
            <a:ext cx="228594" cy="76198"/>
          </a:xfrm>
          <a:prstGeom prst="ellipse">
            <a:avLst/>
          </a:prstGeom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882" y="1473163"/>
            <a:ext cx="228594" cy="215895"/>
          </a:xfrm>
          <a:custGeom>
            <a:avLst/>
            <a:gdLst/>
            <a:ahLst/>
            <a:cxnLst/>
            <a:rect l="l" t="t" r="r" b="b"/>
            <a:pathLst>
              <a:path w="228594" h="215895">
                <a:moveTo>
                  <a:pt x="0" y="0"/>
                </a:moveTo>
                <a:lnTo>
                  <a:pt x="0" y="177796"/>
                </a:lnTo>
                <a:cubicBezTo>
                  <a:pt x="0" y="198837"/>
                  <a:pt x="51173" y="215895"/>
                  <a:pt x="114297" y="215895"/>
                </a:cubicBezTo>
                <a:cubicBezTo>
                  <a:pt x="177422" y="215895"/>
                  <a:pt x="228594" y="198837"/>
                  <a:pt x="228594" y="177796"/>
                </a:cubicBezTo>
                <a:lnTo>
                  <a:pt x="228594" y="0"/>
                </a:lnTo>
              </a:path>
            </a:pathLst>
          </a:custGeom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3882" y="1562061"/>
            <a:ext cx="228594" cy="38099"/>
          </a:xfrm>
          <a:custGeom>
            <a:avLst/>
            <a:gdLst/>
            <a:ahLst/>
            <a:cxnLst/>
            <a:rect l="l" t="t" r="r" b="b"/>
            <a:pathLst>
              <a:path w="228594" h="38099">
                <a:moveTo>
                  <a:pt x="0" y="0"/>
                </a:moveTo>
                <a:cubicBezTo>
                  <a:pt x="0" y="21042"/>
                  <a:pt x="51173" y="38099"/>
                  <a:pt x="114297" y="38099"/>
                </a:cubicBezTo>
                <a:cubicBezTo>
                  <a:pt x="177422" y="38099"/>
                  <a:pt x="228594" y="21042"/>
                  <a:pt x="228594" y="0"/>
                </a:cubicBezTo>
              </a:path>
            </a:pathLst>
          </a:custGeom>
          <a:ln w="254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773" y="1447764"/>
            <a:ext cx="84791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783" y="1773987"/>
            <a:ext cx="2213555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use · Population · Roads · POIs · DEM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3647" y="1333467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320" y="126679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8914" y="1219170"/>
            <a:ext cx="2438339" cy="1090585"/>
          </a:xfrm>
          <a:prstGeom prst="roundRect">
            <a:avLst>
              <a:gd name="adj" fmla="val 10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8914" y="1219170"/>
            <a:ext cx="2438339" cy="0"/>
          </a:xfrm>
          <a:prstGeom prst="line">
            <a:avLst/>
          </a:prstGeom>
          <a:noFill/>
          <a:ln w="38100">
            <a:solidFill>
              <a:srgbClr val="0A97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06710" y="1543011"/>
            <a:ext cx="126997" cy="143009"/>
          </a:xfrm>
          <a:custGeom>
            <a:avLst/>
            <a:gdLst/>
            <a:ahLst/>
            <a:cxnLst/>
            <a:rect l="l" t="t" r="r" b="b"/>
            <a:pathLst>
              <a:path w="126997" h="143009">
                <a:moveTo>
                  <a:pt x="12319" y="30733"/>
                </a:moveTo>
                <a:cubicBezTo>
                  <a:pt x="4693" y="35315"/>
                  <a:pt x="19" y="43553"/>
                  <a:pt x="0" y="52450"/>
                </a:cubicBezTo>
                <a:lnTo>
                  <a:pt x="0" y="93597"/>
                </a:lnTo>
                <a:cubicBezTo>
                  <a:pt x="19" y="102493"/>
                  <a:pt x="4693" y="110731"/>
                  <a:pt x="12319" y="115313"/>
                </a:cubicBezTo>
                <a:lnTo>
                  <a:pt x="50418" y="138173"/>
                </a:lnTo>
                <a:cubicBezTo>
                  <a:pt x="58468" y="143009"/>
                  <a:pt x="68529" y="143009"/>
                  <a:pt x="76579" y="138173"/>
                </a:cubicBezTo>
                <a:lnTo>
                  <a:pt x="126997" y="107947"/>
                </a:lnTo>
                <a:lnTo>
                  <a:pt x="126997" y="38099"/>
                </a:lnTo>
                <a:lnTo>
                  <a:pt x="63498" y="0"/>
                </a:lnTo>
                <a:lnTo>
                  <a:pt x="12319" y="30733"/>
                </a:lnTo>
                <a:close/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0012" y="1583015"/>
            <a:ext cx="60196" cy="36194"/>
          </a:xfrm>
          <a:custGeom>
            <a:avLst/>
            <a:gdLst/>
            <a:ahLst/>
            <a:cxnLst/>
            <a:rect l="l" t="t" r="r" b="b"/>
            <a:pathLst>
              <a:path w="60196" h="36194">
                <a:moveTo>
                  <a:pt x="60196" y="36194"/>
                </a:moveTo>
                <a:lnTo>
                  <a:pt x="0" y="0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0208" y="1581110"/>
            <a:ext cx="63498" cy="38099"/>
          </a:xfrm>
          <a:custGeom>
            <a:avLst/>
            <a:gdLst/>
            <a:ahLst/>
            <a:cxnLst/>
            <a:rect l="l" t="t" r="r" b="b"/>
            <a:pathLst>
              <a:path w="63498" h="38099">
                <a:moveTo>
                  <a:pt x="0" y="38099"/>
                </a:moveTo>
                <a:lnTo>
                  <a:pt x="63498" y="0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70208" y="1619210"/>
            <a:ext cx="9525" cy="65657"/>
          </a:xfrm>
          <a:custGeom>
            <a:avLst/>
            <a:gdLst/>
            <a:ahLst/>
            <a:cxnLst/>
            <a:rect l="l" t="t" r="r" b="b"/>
            <a:pathLst>
              <a:path w="9525" h="65657">
                <a:moveTo>
                  <a:pt x="0" y="0"/>
                </a:moveTo>
                <a:lnTo>
                  <a:pt x="0" y="65657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3707" y="1543011"/>
            <a:ext cx="126997" cy="143009"/>
          </a:xfrm>
          <a:custGeom>
            <a:avLst/>
            <a:gdLst/>
            <a:ahLst/>
            <a:cxnLst/>
            <a:rect l="l" t="t" r="r" b="b"/>
            <a:pathLst>
              <a:path w="126997" h="143009">
                <a:moveTo>
                  <a:pt x="0" y="38099"/>
                </a:moveTo>
                <a:lnTo>
                  <a:pt x="0" y="107947"/>
                </a:lnTo>
                <a:lnTo>
                  <a:pt x="50418" y="138173"/>
                </a:lnTo>
                <a:cubicBezTo>
                  <a:pt x="58468" y="143009"/>
                  <a:pt x="68529" y="143009"/>
                  <a:pt x="76579" y="138173"/>
                </a:cubicBezTo>
                <a:lnTo>
                  <a:pt x="114678" y="115313"/>
                </a:lnTo>
                <a:cubicBezTo>
                  <a:pt x="122304" y="110731"/>
                  <a:pt x="126977" y="102493"/>
                  <a:pt x="126997" y="93597"/>
                </a:cubicBezTo>
                <a:lnTo>
                  <a:pt x="126997" y="52450"/>
                </a:lnTo>
                <a:cubicBezTo>
                  <a:pt x="126977" y="43553"/>
                  <a:pt x="122304" y="35315"/>
                  <a:pt x="114678" y="30733"/>
                </a:cubicBezTo>
                <a:lnTo>
                  <a:pt x="63498" y="0"/>
                </a:lnTo>
                <a:lnTo>
                  <a:pt x="0" y="38099"/>
                </a:lnTo>
                <a:close/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3707" y="1581110"/>
            <a:ext cx="63498" cy="38099"/>
          </a:xfrm>
          <a:custGeom>
            <a:avLst/>
            <a:gdLst/>
            <a:ahLst/>
            <a:cxnLst/>
            <a:rect l="l" t="t" r="r" b="b"/>
            <a:pathLst>
              <a:path w="63498" h="38099">
                <a:moveTo>
                  <a:pt x="63498" y="38099"/>
                </a:moveTo>
                <a:lnTo>
                  <a:pt x="0" y="0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7205" y="1583015"/>
            <a:ext cx="60196" cy="36194"/>
          </a:xfrm>
          <a:custGeom>
            <a:avLst/>
            <a:gdLst/>
            <a:ahLst/>
            <a:cxnLst/>
            <a:rect l="l" t="t" r="r" b="b"/>
            <a:pathLst>
              <a:path w="60196" h="36194">
                <a:moveTo>
                  <a:pt x="0" y="36194"/>
                </a:moveTo>
                <a:lnTo>
                  <a:pt x="60196" y="0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7205" y="1619210"/>
            <a:ext cx="9525" cy="65657"/>
          </a:xfrm>
          <a:custGeom>
            <a:avLst/>
            <a:gdLst/>
            <a:ahLst/>
            <a:cxnLst/>
            <a:rect l="l" t="t" r="r" b="b"/>
            <a:pathLst>
              <a:path w="9525" h="65657">
                <a:moveTo>
                  <a:pt x="0" y="0"/>
                </a:moveTo>
                <a:lnTo>
                  <a:pt x="0" y="65657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70208" y="1438102"/>
            <a:ext cx="126997" cy="143009"/>
          </a:xfrm>
          <a:custGeom>
            <a:avLst/>
            <a:gdLst/>
            <a:ahLst/>
            <a:cxnLst/>
            <a:rect l="l" t="t" r="r" b="b"/>
            <a:pathLst>
              <a:path w="126997" h="143009">
                <a:moveTo>
                  <a:pt x="12319" y="27696"/>
                </a:moveTo>
                <a:cubicBezTo>
                  <a:pt x="4693" y="32278"/>
                  <a:pt x="19" y="40516"/>
                  <a:pt x="0" y="49412"/>
                </a:cubicBezTo>
                <a:lnTo>
                  <a:pt x="0" y="104910"/>
                </a:lnTo>
                <a:lnTo>
                  <a:pt x="63498" y="143009"/>
                </a:lnTo>
                <a:lnTo>
                  <a:pt x="126997" y="104910"/>
                </a:lnTo>
                <a:lnTo>
                  <a:pt x="126997" y="49412"/>
                </a:lnTo>
                <a:cubicBezTo>
                  <a:pt x="126977" y="40516"/>
                  <a:pt x="122304" y="32278"/>
                  <a:pt x="114678" y="27696"/>
                </a:cubicBezTo>
                <a:lnTo>
                  <a:pt x="76579" y="4836"/>
                </a:lnTo>
                <a:cubicBezTo>
                  <a:pt x="68529" y="0"/>
                  <a:pt x="58468" y="0"/>
                  <a:pt x="50418" y="4836"/>
                </a:cubicBezTo>
                <a:lnTo>
                  <a:pt x="12319" y="27696"/>
                </a:lnTo>
                <a:close/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73510" y="1475068"/>
            <a:ext cx="60196" cy="36194"/>
          </a:xfrm>
          <a:custGeom>
            <a:avLst/>
            <a:gdLst/>
            <a:ahLst/>
            <a:cxnLst/>
            <a:rect l="l" t="t" r="r" b="b"/>
            <a:pathLst>
              <a:path w="60196" h="36194">
                <a:moveTo>
                  <a:pt x="60196" y="36194"/>
                </a:moveTo>
                <a:lnTo>
                  <a:pt x="0" y="0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33707" y="1475068"/>
            <a:ext cx="60196" cy="36194"/>
          </a:xfrm>
          <a:custGeom>
            <a:avLst/>
            <a:gdLst/>
            <a:ahLst/>
            <a:cxnLst/>
            <a:rect l="l" t="t" r="r" b="b"/>
            <a:pathLst>
              <a:path w="60196" h="36194">
                <a:moveTo>
                  <a:pt x="0" y="36194"/>
                </a:moveTo>
                <a:lnTo>
                  <a:pt x="60196" y="0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33707" y="1511262"/>
            <a:ext cx="9525" cy="69848"/>
          </a:xfrm>
          <a:custGeom>
            <a:avLst/>
            <a:gdLst/>
            <a:ahLst/>
            <a:cxnLst/>
            <a:rect l="l" t="t" r="r" b="b"/>
            <a:pathLst>
              <a:path w="9525" h="69848">
                <a:moveTo>
                  <a:pt x="0" y="69848"/>
                </a:moveTo>
                <a:lnTo>
                  <a:pt x="0" y="0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62301" y="1447764"/>
            <a:ext cx="93780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Primitives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81310" y="1773987"/>
            <a:ext cx="2213555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 · Conversion · Buffer · Statistics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29174" y="1333467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5848" y="126679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4442" y="1219170"/>
            <a:ext cx="2438339" cy="1090585"/>
          </a:xfrm>
          <a:prstGeom prst="roundRect">
            <a:avLst>
              <a:gd name="adj" fmla="val 10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24442" y="1219170"/>
            <a:ext cx="2438339" cy="0"/>
          </a:xfrm>
          <a:prstGeom prst="line">
            <a:avLst/>
          </a:prstGeom>
          <a:noFill/>
          <a:ln w="38100">
            <a:solidFill>
              <a:srgbClr val="56C0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234" y="1447764"/>
            <a:ext cx="9525" cy="228594"/>
          </a:xfrm>
          <a:custGeom>
            <a:avLst/>
            <a:gdLst/>
            <a:ahLst/>
            <a:cxnLst/>
            <a:rect l="l" t="t" r="r" b="b"/>
            <a:pathLst>
              <a:path w="9525" h="228594">
                <a:moveTo>
                  <a:pt x="0" y="0"/>
                </a:moveTo>
                <a:lnTo>
                  <a:pt x="0" y="228594"/>
                </a:lnTo>
              </a:path>
            </a:pathLst>
          </a:custGeom>
          <a:ln w="25400">
            <a:solidFill>
              <a:srgbClr val="56C0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80033" y="1498563"/>
            <a:ext cx="76198" cy="131230"/>
          </a:xfrm>
          <a:custGeom>
            <a:avLst/>
            <a:gdLst/>
            <a:ahLst/>
            <a:cxnLst/>
            <a:rect l="l" t="t" r="r" b="b"/>
            <a:pathLst>
              <a:path w="76198" h="131230">
                <a:moveTo>
                  <a:pt x="38099" y="12700"/>
                </a:moveTo>
                <a:lnTo>
                  <a:pt x="76198" y="114297"/>
                </a:lnTo>
                <a:cubicBezTo>
                  <a:pt x="53621" y="131230"/>
                  <a:pt x="22577" y="131230"/>
                  <a:pt x="0" y="114297"/>
                </a:cubicBezTo>
                <a:close/>
                <a:lnTo>
                  <a:pt x="38099" y="0"/>
                </a:lnTo>
              </a:path>
            </a:pathLst>
          </a:custGeom>
          <a:ln w="25400">
            <a:solidFill>
              <a:srgbClr val="56C0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4937" y="1473163"/>
            <a:ext cx="228594" cy="25399"/>
          </a:xfrm>
          <a:custGeom>
            <a:avLst/>
            <a:gdLst/>
            <a:ahLst/>
            <a:cxnLst/>
            <a:rect l="l" t="t" r="r" b="b"/>
            <a:pathLst>
              <a:path w="228594" h="25399">
                <a:moveTo>
                  <a:pt x="0" y="25399"/>
                </a:moveTo>
                <a:lnTo>
                  <a:pt x="12700" y="25399"/>
                </a:lnTo>
                <a:cubicBezTo>
                  <a:pt x="48137" y="25399"/>
                  <a:pt x="83029" y="16676"/>
                  <a:pt x="114297" y="0"/>
                </a:cubicBezTo>
                <a:cubicBezTo>
                  <a:pt x="145565" y="16676"/>
                  <a:pt x="180457" y="25399"/>
                  <a:pt x="215895" y="25399"/>
                </a:cubicBezTo>
                <a:lnTo>
                  <a:pt x="228594" y="25399"/>
                </a:lnTo>
              </a:path>
            </a:pathLst>
          </a:custGeom>
          <a:ln w="25400">
            <a:solidFill>
              <a:srgbClr val="56C0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2237" y="1498563"/>
            <a:ext cx="76198" cy="131230"/>
          </a:xfrm>
          <a:custGeom>
            <a:avLst/>
            <a:gdLst/>
            <a:ahLst/>
            <a:cxnLst/>
            <a:rect l="l" t="t" r="r" b="b"/>
            <a:pathLst>
              <a:path w="76198" h="131230">
                <a:moveTo>
                  <a:pt x="38099" y="12700"/>
                </a:moveTo>
                <a:lnTo>
                  <a:pt x="76198" y="114297"/>
                </a:lnTo>
                <a:cubicBezTo>
                  <a:pt x="53621" y="131230"/>
                  <a:pt x="22577" y="131230"/>
                  <a:pt x="0" y="114297"/>
                </a:cubicBezTo>
                <a:close/>
                <a:lnTo>
                  <a:pt x="38099" y="0"/>
                </a:lnTo>
              </a:path>
            </a:pathLst>
          </a:custGeom>
          <a:ln w="25400">
            <a:solidFill>
              <a:srgbClr val="56C0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65736" y="1676358"/>
            <a:ext cx="126997" cy="9525"/>
          </a:xfrm>
          <a:custGeom>
            <a:avLst/>
            <a:gdLst/>
            <a:ahLst/>
            <a:cxnLst/>
            <a:rect l="l" t="t" r="r" b="b"/>
            <a:pathLst>
              <a:path w="126997" h="9525">
                <a:moveTo>
                  <a:pt x="0" y="0"/>
                </a:moveTo>
                <a:lnTo>
                  <a:pt x="126997" y="0"/>
                </a:lnTo>
              </a:path>
            </a:pathLst>
          </a:custGeom>
          <a:ln w="25400">
            <a:solidFill>
              <a:srgbClr val="56C0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7829" y="1447764"/>
            <a:ext cx="82752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76838" y="1773987"/>
            <a:ext cx="2213555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· Neutral · Negative → 0–100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924702" y="1333467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91375" y="126679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19969" y="1219170"/>
            <a:ext cx="2438339" cy="1090585"/>
          </a:xfrm>
          <a:prstGeom prst="roundRect">
            <a:avLst>
              <a:gd name="adj" fmla="val 10480"/>
            </a:avLst>
          </a:prstGeom>
          <a:solidFill>
            <a:srgbClr val="0F2740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448159" y="1422364"/>
            <a:ext cx="152801" cy="203195"/>
          </a:xfrm>
          <a:custGeom>
            <a:avLst/>
            <a:gdLst/>
            <a:ahLst/>
            <a:cxnLst/>
            <a:rect l="l" t="t" r="r" b="b"/>
            <a:pathLst>
              <a:path w="152801" h="203195">
                <a:moveTo>
                  <a:pt x="152801" y="38099"/>
                </a:moveTo>
                <a:lnTo>
                  <a:pt x="152801" y="12700"/>
                </a:lnTo>
                <a:cubicBezTo>
                  <a:pt x="152801" y="5686"/>
                  <a:pt x="147116" y="0"/>
                  <a:pt x="140102" y="0"/>
                </a:cubicBezTo>
                <a:lnTo>
                  <a:pt x="6755" y="0"/>
                </a:lnTo>
                <a:cubicBezTo>
                  <a:pt x="4350" y="0"/>
                  <a:pt x="2151" y="1359"/>
                  <a:pt x="1076" y="3510"/>
                </a:cubicBezTo>
                <a:cubicBezTo>
                  <a:pt x="0" y="5661"/>
                  <a:pt x="232" y="8236"/>
                  <a:pt x="1675" y="10160"/>
                </a:cubicBezTo>
                <a:lnTo>
                  <a:pt x="58824" y="86358"/>
                </a:lnTo>
                <a:cubicBezTo>
                  <a:pt x="65597" y="95389"/>
                  <a:pt x="65597" y="107806"/>
                  <a:pt x="58824" y="116837"/>
                </a:cubicBezTo>
                <a:lnTo>
                  <a:pt x="1675" y="193035"/>
                </a:lnTo>
                <a:cubicBezTo>
                  <a:pt x="232" y="194959"/>
                  <a:pt x="0" y="197534"/>
                  <a:pt x="1076" y="199685"/>
                </a:cubicBezTo>
                <a:cubicBezTo>
                  <a:pt x="2151" y="201836"/>
                  <a:pt x="4350" y="203195"/>
                  <a:pt x="6755" y="203195"/>
                </a:cubicBezTo>
                <a:lnTo>
                  <a:pt x="140102" y="203195"/>
                </a:lnTo>
                <a:cubicBezTo>
                  <a:pt x="147116" y="203195"/>
                  <a:pt x="152801" y="197509"/>
                  <a:pt x="152801" y="190495"/>
                </a:cubicBezTo>
                <a:lnTo>
                  <a:pt x="152801" y="165096"/>
                </a:lnTo>
              </a:path>
            </a:pathLst>
          </a:custGeom>
          <a:ln w="25400">
            <a:solidFill>
              <a:srgbClr val="E457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53356" y="1409665"/>
            <a:ext cx="884821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Score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372366" y="1752556"/>
            <a:ext cx="2213555" cy="183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= Σ wᵢ · Xnorᵢ (Eq. 1–2)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33387" y="2538349"/>
            <a:ext cx="6410165" cy="3595598"/>
          </a:xfrm>
          <a:prstGeom prst="roundRect">
            <a:avLst>
              <a:gd name="adj" fmla="val 4238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52489" y="2775892"/>
            <a:ext cx="190620" cy="96400"/>
          </a:xfrm>
          <a:custGeom>
            <a:avLst/>
            <a:gdLst/>
            <a:ahLst/>
            <a:cxnLst/>
            <a:rect l="l" t="t" r="r" b="b"/>
            <a:pathLst>
              <a:path w="190620" h="96400">
                <a:moveTo>
                  <a:pt x="103120" y="2290"/>
                </a:moveTo>
                <a:cubicBezTo>
                  <a:pt x="98099" y="0"/>
                  <a:pt x="92331" y="0"/>
                  <a:pt x="87309" y="2290"/>
                </a:cubicBezTo>
                <a:lnTo>
                  <a:pt x="5682" y="39437"/>
                </a:lnTo>
                <a:cubicBezTo>
                  <a:pt x="2229" y="40960"/>
                  <a:pt x="0" y="44378"/>
                  <a:pt x="0" y="48152"/>
                </a:cubicBezTo>
                <a:cubicBezTo>
                  <a:pt x="0" y="51926"/>
                  <a:pt x="2229" y="55345"/>
                  <a:pt x="5682" y="56867"/>
                </a:cubicBezTo>
                <a:lnTo>
                  <a:pt x="87404" y="94109"/>
                </a:lnTo>
                <a:cubicBezTo>
                  <a:pt x="92426" y="96400"/>
                  <a:pt x="98194" y="96400"/>
                  <a:pt x="103216" y="94109"/>
                </a:cubicBezTo>
                <a:lnTo>
                  <a:pt x="184938" y="56963"/>
                </a:lnTo>
                <a:cubicBezTo>
                  <a:pt x="188391" y="55440"/>
                  <a:pt x="190620" y="52022"/>
                  <a:pt x="190620" y="48247"/>
                </a:cubicBezTo>
                <a:cubicBezTo>
                  <a:pt x="190620" y="44473"/>
                  <a:pt x="188391" y="41055"/>
                  <a:pt x="184938" y="39532"/>
                </a:cubicBezTo>
                <a:close/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2447" y="2871716"/>
            <a:ext cx="190534" cy="48171"/>
          </a:xfrm>
          <a:custGeom>
            <a:avLst/>
            <a:gdLst/>
            <a:ahLst/>
            <a:cxnLst/>
            <a:rect l="l" t="t" r="r" b="b"/>
            <a:pathLst>
              <a:path w="190534" h="48171">
                <a:moveTo>
                  <a:pt x="9" y="0"/>
                </a:moveTo>
                <a:cubicBezTo>
                  <a:pt x="0" y="3720"/>
                  <a:pt x="2157" y="7105"/>
                  <a:pt x="5534" y="8668"/>
                </a:cubicBezTo>
                <a:lnTo>
                  <a:pt x="87447" y="45909"/>
                </a:lnTo>
                <a:cubicBezTo>
                  <a:pt x="92441" y="48171"/>
                  <a:pt x="98168" y="48171"/>
                  <a:pt x="103162" y="45909"/>
                </a:cubicBezTo>
                <a:lnTo>
                  <a:pt x="184885" y="8763"/>
                </a:lnTo>
                <a:cubicBezTo>
                  <a:pt x="188330" y="7214"/>
                  <a:pt x="190534" y="3777"/>
                  <a:pt x="190504" y="0"/>
                </a:cubicBez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2447" y="2919340"/>
            <a:ext cx="190534" cy="48171"/>
          </a:xfrm>
          <a:custGeom>
            <a:avLst/>
            <a:gdLst/>
            <a:ahLst/>
            <a:cxnLst/>
            <a:rect l="l" t="t" r="r" b="b"/>
            <a:pathLst>
              <a:path w="190534" h="48171">
                <a:moveTo>
                  <a:pt x="9" y="0"/>
                </a:moveTo>
                <a:cubicBezTo>
                  <a:pt x="0" y="3720"/>
                  <a:pt x="2157" y="7105"/>
                  <a:pt x="5534" y="8668"/>
                </a:cubicBezTo>
                <a:lnTo>
                  <a:pt x="87447" y="45909"/>
                </a:lnTo>
                <a:cubicBezTo>
                  <a:pt x="92441" y="48171"/>
                  <a:pt x="98168" y="48171"/>
                  <a:pt x="103162" y="45909"/>
                </a:cubicBezTo>
                <a:lnTo>
                  <a:pt x="184885" y="8763"/>
                </a:lnTo>
                <a:cubicBezTo>
                  <a:pt x="188330" y="7214"/>
                  <a:pt x="190534" y="3777"/>
                  <a:pt x="190504" y="0"/>
                </a:cubicBez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8199" y="2738369"/>
            <a:ext cx="383285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Measurement Primitives → 27 Indicators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733407" y="3119360"/>
            <a:ext cx="2947914" cy="1350135"/>
          </a:xfrm>
          <a:prstGeom prst="roundRect">
            <a:avLst>
              <a:gd name="adj" fmla="val 8466"/>
            </a:avLst>
          </a:prstGeom>
          <a:solidFill>
            <a:srgbClr val="0A97D9">
              <a:alpha val="5000"/>
            </a:srgbClr>
          </a:solidFill>
          <a:ln w="9525">
            <a:solidFill>
              <a:srgbClr val="0A97D9">
                <a:alpha val="2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7229" y="3243181"/>
            <a:ext cx="27802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① Land Proportion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57229" y="3457489"/>
            <a:ext cx="276884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of target land class to total (e.g. forest %, agricultural land %)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795618" y="3119360"/>
            <a:ext cx="2947914" cy="1350135"/>
          </a:xfrm>
          <a:prstGeom prst="roundRect">
            <a:avLst>
              <a:gd name="adj" fmla="val 8466"/>
            </a:avLst>
          </a:prstGeom>
          <a:solidFill>
            <a:srgbClr val="56C02B">
              <a:alpha val="5000"/>
            </a:srgbClr>
          </a:solidFill>
          <a:ln w="9525">
            <a:solidFill>
              <a:srgbClr val="56C02B">
                <a:alpha val="2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19440" y="3243181"/>
            <a:ext cx="27802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② Land Conversion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919440" y="3457489"/>
            <a:ext cx="276884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/ transition of land class over time (e.g. degraded land, water ecosystem)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3407" y="4583792"/>
            <a:ext cx="2947914" cy="1350135"/>
          </a:xfrm>
          <a:prstGeom prst="roundRect">
            <a:avLst>
              <a:gd name="adj" fmla="val 8466"/>
            </a:avLst>
          </a:prstGeom>
          <a:solidFill>
            <a:srgbClr val="E4572E">
              <a:alpha val="5000"/>
            </a:srgbClr>
          </a:solidFill>
          <a:ln w="9525">
            <a:solidFill>
              <a:srgbClr val="E4572E">
                <a:alpha val="2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7229" y="4707614"/>
            <a:ext cx="27802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③ Buffer Zone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57229" y="4921921"/>
            <a:ext cx="276884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served within buffer of facility / road / station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95618" y="4583792"/>
            <a:ext cx="2947914" cy="1350135"/>
          </a:xfrm>
          <a:prstGeom prst="roundRect">
            <a:avLst>
              <a:gd name="adj" fmla="val 8466"/>
            </a:avLst>
          </a:prstGeom>
          <a:solidFill>
            <a:srgbClr val="0F2740">
              <a:alpha val="5000"/>
            </a:srgbClr>
          </a:solidFill>
          <a:ln w="9525">
            <a:solidFill>
              <a:srgbClr val="0F2740">
                <a:alpha val="2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19440" y="4707614"/>
            <a:ext cx="278027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274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④ Total Statistics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3919440" y="4921921"/>
            <a:ext cx="2768848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counts &amp; sums (e.g. grain yield, carbon emissions)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134047" y="2538349"/>
            <a:ext cx="4524262" cy="1750175"/>
          </a:xfrm>
          <a:prstGeom prst="roundRect">
            <a:avLst>
              <a:gd name="adj" fmla="val 870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362641" y="2805042"/>
            <a:ext cx="66673" cy="9525"/>
          </a:xfrm>
          <a:custGeom>
            <a:avLst/>
            <a:gdLst/>
            <a:ahLst/>
            <a:cxnLst/>
            <a:rect l="l" t="t" r="r" b="b"/>
            <a:pathLst>
              <a:path w="66673" h="9525">
                <a:moveTo>
                  <a:pt x="6667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62641" y="2938389"/>
            <a:ext cx="85723" cy="9525"/>
          </a:xfrm>
          <a:custGeom>
            <a:avLst/>
            <a:gdLst/>
            <a:ahLst/>
            <a:cxnLst/>
            <a:rect l="l" t="t" r="r" b="b"/>
            <a:pathLst>
              <a:path w="85723" h="9525">
                <a:moveTo>
                  <a:pt x="8572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67413" y="2785993"/>
            <a:ext cx="9525" cy="38099"/>
          </a:xfrm>
          <a:custGeom>
            <a:avLst/>
            <a:gdLst/>
            <a:ahLst/>
            <a:cxnLst/>
            <a:rect l="l" t="t" r="r" b="b"/>
            <a:pathLst>
              <a:path w="9525" h="38099">
                <a:moveTo>
                  <a:pt x="0" y="0"/>
                </a:moveTo>
                <a:lnTo>
                  <a:pt x="0" y="38099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86463" y="2919340"/>
            <a:ext cx="9525" cy="38099"/>
          </a:xfrm>
          <a:custGeom>
            <a:avLst/>
            <a:gdLst/>
            <a:ahLst/>
            <a:cxnLst/>
            <a:rect l="l" t="t" r="r" b="b"/>
            <a:pathLst>
              <a:path w="9525" h="38099">
                <a:moveTo>
                  <a:pt x="0" y="0"/>
                </a:moveTo>
                <a:lnTo>
                  <a:pt x="0" y="38099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48364" y="2871716"/>
            <a:ext cx="85723" cy="9525"/>
          </a:xfrm>
          <a:custGeom>
            <a:avLst/>
            <a:gdLst/>
            <a:ahLst/>
            <a:cxnLst/>
            <a:rect l="l" t="t" r="r" b="b"/>
            <a:pathLst>
              <a:path w="85723" h="9525">
                <a:moveTo>
                  <a:pt x="8572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86463" y="2938389"/>
            <a:ext cx="47624" cy="9525"/>
          </a:xfrm>
          <a:custGeom>
            <a:avLst/>
            <a:gdLst/>
            <a:ahLst/>
            <a:cxnLst/>
            <a:rect l="l" t="t" r="r" b="b"/>
            <a:pathLst>
              <a:path w="47624" h="9525">
                <a:moveTo>
                  <a:pt x="47624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7413" y="2805042"/>
            <a:ext cx="66673" cy="9525"/>
          </a:xfrm>
          <a:custGeom>
            <a:avLst/>
            <a:gdLst/>
            <a:ahLst/>
            <a:cxnLst/>
            <a:rect l="l" t="t" r="r" b="b"/>
            <a:pathLst>
              <a:path w="66673" h="9525">
                <a:moveTo>
                  <a:pt x="6667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10265" y="2852666"/>
            <a:ext cx="9525" cy="38099"/>
          </a:xfrm>
          <a:custGeom>
            <a:avLst/>
            <a:gdLst/>
            <a:ahLst/>
            <a:cxnLst/>
            <a:rect l="l" t="t" r="r" b="b"/>
            <a:pathLst>
              <a:path w="9525" h="38099">
                <a:moveTo>
                  <a:pt x="0" y="0"/>
                </a:moveTo>
                <a:lnTo>
                  <a:pt x="0" y="38099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62641" y="2871716"/>
            <a:ext cx="47624" cy="9525"/>
          </a:xfrm>
          <a:custGeom>
            <a:avLst/>
            <a:gdLst/>
            <a:ahLst/>
            <a:cxnLst/>
            <a:rect l="l" t="t" r="r" b="b"/>
            <a:pathLst>
              <a:path w="47624" h="9525">
                <a:moveTo>
                  <a:pt x="47624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38859" y="2738369"/>
            <a:ext cx="2032376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Normalization Direction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7334067" y="3119360"/>
            <a:ext cx="1323942" cy="466713"/>
          </a:xfrm>
          <a:prstGeom prst="roundRect">
            <a:avLst>
              <a:gd name="adj" fmla="val 16327"/>
            </a:avLst>
          </a:prstGeom>
          <a:solidFill>
            <a:srgbClr val="56C02B">
              <a:alpha val="5000"/>
            </a:srgbClr>
          </a:solidFill>
          <a:ln w="9525">
            <a:solidFill>
              <a:srgbClr val="56C02B">
                <a:alpha val="2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85500" y="3205082"/>
            <a:ext cx="122107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Positive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391215" y="3357479"/>
            <a:ext cx="1209645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= better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734207" y="3119360"/>
            <a:ext cx="1323942" cy="466713"/>
          </a:xfrm>
          <a:prstGeom prst="roundRect">
            <a:avLst>
              <a:gd name="adj" fmla="val 16327"/>
            </a:avLst>
          </a:prstGeom>
          <a:solidFill>
            <a:srgbClr val="0A97D9">
              <a:alpha val="5000"/>
            </a:srgbClr>
          </a:solidFill>
          <a:ln w="9525">
            <a:solidFill>
              <a:srgbClr val="0A97D9">
                <a:alpha val="2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785640" y="3205082"/>
            <a:ext cx="122107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Neutral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8791355" y="3357479"/>
            <a:ext cx="1209645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closer to opt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0134347" y="3119360"/>
            <a:ext cx="1323942" cy="466713"/>
          </a:xfrm>
          <a:prstGeom prst="roundRect">
            <a:avLst>
              <a:gd name="adj" fmla="val 16327"/>
            </a:avLst>
          </a:prstGeom>
          <a:solidFill>
            <a:srgbClr val="E4572E">
              <a:alpha val="5000"/>
            </a:srgbClr>
          </a:solidFill>
          <a:ln w="9525">
            <a:solidFill>
              <a:srgbClr val="E4572E">
                <a:alpha val="2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185780" y="3205082"/>
            <a:ext cx="122107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Negative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191495" y="3357479"/>
            <a:ext cx="1209645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= better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134047" y="4402821"/>
            <a:ext cx="4524262" cy="1731125"/>
          </a:xfrm>
          <a:prstGeom prst="roundRect">
            <a:avLst>
              <a:gd name="adj" fmla="val 8803"/>
            </a:avLst>
          </a:prstGeom>
          <a:solidFill>
            <a:srgbClr val="0F2740"/>
          </a:solidFill>
          <a:ln/>
        </p:spPr>
      </p:sp>
      <p:sp>
        <p:nvSpPr>
          <p:cNvPr id="85" name="Text 83"/>
          <p:cNvSpPr/>
          <p:nvPr/>
        </p:nvSpPr>
        <p:spPr>
          <a:xfrm>
            <a:off x="7324542" y="5020740"/>
            <a:ext cx="422327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synthesis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7324542" y="5249334"/>
            <a:ext cx="4246139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= Σ</a:t>
            </a:r>
            <a:pPr algn="l" indent="0" marL="0">
              <a:buNone/>
            </a:pPr>
            <a:r>
              <a:rPr lang="en-US" sz="135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wᵢ</a:t>
            </a:r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· </a:t>
            </a:r>
            <a:pPr algn="l" indent="0" marL="0">
              <a:buNone/>
            </a:pPr>
            <a:r>
              <a:rPr lang="en-US" sz="135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Xnorᵢ</a:t>
            </a:r>
            <a:pPr algn="l" indent="0" marL="0">
              <a:buNone/>
            </a:pPr>
            <a:r>
              <a:rPr lang="en-US" sz="1050" dirty="0">
                <a:solidFill>
                  <a:srgbClr val="FFFFFF">
                    <a:alpha val="40000"/>
                  </a:srgbClr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(k indicators)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493383" y="6286343"/>
            <a:ext cx="1120493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spc="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Corresponds to Figure 3 &amp; Eq. 1–2 in the paper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Land-Use Simulation: CALUCC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1409665"/>
            <a:ext cx="10972526" cy="1428714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605" y="1609685"/>
            <a:ext cx="1065249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TRANSITION PROBABILITY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9605" y="1914477"/>
            <a:ext cx="2000498" cy="419090"/>
          </a:xfrm>
          <a:prstGeom prst="roundRect">
            <a:avLst>
              <a:gd name="adj" fmla="val 27273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58171" y="1893046"/>
            <a:ext cx="2103365" cy="461951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55556"/>
              </a:lnSpc>
              <a:buNone/>
            </a:pPr>
            <a:r>
              <a:rPr lang="en-US" sz="13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ctr" indent="0" marL="0">
              <a:lnSpc>
                <a:spcPct val="155556"/>
              </a:lnSpc>
              <a:buNone/>
            </a:pPr>
            <a:r>
              <a:rPr lang="en-US" sz="1013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pPr algn="ctr" indent="0" marL="0">
              <a:lnSpc>
                <a:spcPct val="155556"/>
              </a:lnSpc>
              <a:buNone/>
            </a:pPr>
            <a:r>
              <a:rPr lang="en-US" sz="13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Random Forest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924400" y="1990675"/>
            <a:ext cx="2256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50017" y="1914477"/>
            <a:ext cx="1765950" cy="419090"/>
          </a:xfrm>
          <a:prstGeom prst="roundRect">
            <a:avLst>
              <a:gd name="adj" fmla="val 27273"/>
            </a:avLst>
          </a:prstGeom>
          <a:solidFill>
            <a:srgbClr val="56C02B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98584" y="1893046"/>
            <a:ext cx="1868818" cy="461951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55556"/>
              </a:lnSpc>
              <a:buNone/>
            </a:pPr>
            <a:r>
              <a:rPr lang="en-US" sz="135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 · Neighborhood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30265" y="1990675"/>
            <a:ext cx="2256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55883" y="1914477"/>
            <a:ext cx="1689455" cy="419090"/>
          </a:xfrm>
          <a:prstGeom prst="roundRect">
            <a:avLst>
              <a:gd name="adj" fmla="val 27273"/>
            </a:avLst>
          </a:prstGeom>
          <a:solidFill>
            <a:srgbClr val="E4572E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04449" y="1893046"/>
            <a:ext cx="1792322" cy="461951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55556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Inertia · Adaptive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59634" y="1990675"/>
            <a:ext cx="2256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85252" y="1914477"/>
            <a:ext cx="1162021" cy="419090"/>
          </a:xfrm>
          <a:prstGeom prst="roundRect">
            <a:avLst>
              <a:gd name="adj" fmla="val 27273"/>
            </a:avLst>
          </a:prstGeom>
          <a:solidFill>
            <a:srgbClr val="0F2740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233819" y="1893046"/>
            <a:ext cx="1264888" cy="461951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55556"/>
              </a:lnSpc>
              <a:buNone/>
            </a:pPr>
            <a:r>
              <a:rPr lang="en-US" sz="13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61570" y="1990675"/>
            <a:ext cx="22561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787188" y="1914477"/>
            <a:ext cx="1514586" cy="419090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8735754" y="1893046"/>
            <a:ext cx="1617453" cy="461951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55556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factor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9605" y="2447864"/>
            <a:ext cx="1065249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via roulette-wheel · Eq. 3–5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9585" y="3066973"/>
            <a:ext cx="6305392" cy="3333667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0129" y="3256605"/>
            <a:ext cx="285930" cy="144599"/>
          </a:xfrm>
          <a:custGeom>
            <a:avLst/>
            <a:gdLst/>
            <a:ahLst/>
            <a:cxnLst/>
            <a:rect l="l" t="t" r="r" b="b"/>
            <a:pathLst>
              <a:path w="285930" h="144599">
                <a:moveTo>
                  <a:pt x="154680" y="3436"/>
                </a:moveTo>
                <a:cubicBezTo>
                  <a:pt x="147148" y="0"/>
                  <a:pt x="138496" y="0"/>
                  <a:pt x="130964" y="3436"/>
                </a:cubicBezTo>
                <a:lnTo>
                  <a:pt x="8523" y="59156"/>
                </a:lnTo>
                <a:cubicBezTo>
                  <a:pt x="3343" y="61440"/>
                  <a:pt x="0" y="66567"/>
                  <a:pt x="0" y="72228"/>
                </a:cubicBezTo>
                <a:cubicBezTo>
                  <a:pt x="0" y="77890"/>
                  <a:pt x="3343" y="83017"/>
                  <a:pt x="8523" y="85301"/>
                </a:cubicBezTo>
                <a:lnTo>
                  <a:pt x="131107" y="141164"/>
                </a:lnTo>
                <a:cubicBezTo>
                  <a:pt x="138639" y="144599"/>
                  <a:pt x="147291" y="144599"/>
                  <a:pt x="154823" y="141164"/>
                </a:cubicBezTo>
                <a:lnTo>
                  <a:pt x="277407" y="85444"/>
                </a:lnTo>
                <a:cubicBezTo>
                  <a:pt x="282587" y="83160"/>
                  <a:pt x="285930" y="78033"/>
                  <a:pt x="285930" y="72371"/>
                </a:cubicBezTo>
                <a:cubicBezTo>
                  <a:pt x="285930" y="66710"/>
                  <a:pt x="282587" y="61583"/>
                  <a:pt x="277407" y="59298"/>
                </a:cubicBezTo>
                <a:close/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066" y="3400340"/>
            <a:ext cx="285801" cy="72256"/>
          </a:xfrm>
          <a:custGeom>
            <a:avLst/>
            <a:gdLst/>
            <a:ahLst/>
            <a:cxnLst/>
            <a:rect l="l" t="t" r="r" b="b"/>
            <a:pathLst>
              <a:path w="285801" h="72256">
                <a:moveTo>
                  <a:pt x="14" y="0"/>
                </a:moveTo>
                <a:cubicBezTo>
                  <a:pt x="0" y="5580"/>
                  <a:pt x="3236" y="10658"/>
                  <a:pt x="8300" y="13001"/>
                </a:cubicBezTo>
                <a:lnTo>
                  <a:pt x="131170" y="68864"/>
                </a:lnTo>
                <a:cubicBezTo>
                  <a:pt x="138662" y="72256"/>
                  <a:pt x="147252" y="72256"/>
                  <a:pt x="154744" y="68864"/>
                </a:cubicBezTo>
                <a:lnTo>
                  <a:pt x="277327" y="13144"/>
                </a:lnTo>
                <a:cubicBezTo>
                  <a:pt x="282495" y="10822"/>
                  <a:pt x="285801" y="5665"/>
                  <a:pt x="285757" y="0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066" y="3471776"/>
            <a:ext cx="285801" cy="72256"/>
          </a:xfrm>
          <a:custGeom>
            <a:avLst/>
            <a:gdLst/>
            <a:ahLst/>
            <a:cxnLst/>
            <a:rect l="l" t="t" r="r" b="b"/>
            <a:pathLst>
              <a:path w="285801" h="72256">
                <a:moveTo>
                  <a:pt x="14" y="0"/>
                </a:moveTo>
                <a:cubicBezTo>
                  <a:pt x="0" y="5580"/>
                  <a:pt x="3236" y="10658"/>
                  <a:pt x="8300" y="13001"/>
                </a:cubicBezTo>
                <a:lnTo>
                  <a:pt x="131170" y="68864"/>
                </a:lnTo>
                <a:cubicBezTo>
                  <a:pt x="138662" y="72256"/>
                  <a:pt x="147252" y="72256"/>
                  <a:pt x="154744" y="68864"/>
                </a:cubicBezTo>
                <a:lnTo>
                  <a:pt x="277327" y="13144"/>
                </a:lnTo>
                <a:cubicBezTo>
                  <a:pt x="282495" y="10822"/>
                  <a:pt x="285801" y="5665"/>
                  <a:pt x="285757" y="0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8694" y="3266993"/>
            <a:ext cx="196004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Spatial Driving Factors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079775" y="3286043"/>
            <a:ext cx="673282" cy="228594"/>
          </a:xfrm>
          <a:prstGeom prst="roundRect">
            <a:avLst>
              <a:gd name="adj" fmla="val 41662552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045485" y="3286043"/>
            <a:ext cx="741860" cy="228594"/>
          </a:xfrm>
          <a:prstGeom prst="rect">
            <a:avLst/>
          </a:prstGeom>
          <a:noFill/>
          <a:ln/>
        </p:spPr>
        <p:txBody>
          <a:bodyPr wrap="none" lIns="0" tIns="38100" rIns="0" bIns="3810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1506" y="3647984"/>
            <a:ext cx="5981550" cy="2590735"/>
          </a:xfrm>
          <a:prstGeom prst="roundRect">
            <a:avLst>
              <a:gd name="adj" fmla="val 4412"/>
            </a:avLst>
          </a:prstGeom>
          <a:solidFill>
            <a:srgbClr val="F4F7FA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06" y="3647984"/>
            <a:ext cx="5981550" cy="2590735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143571" y="3066973"/>
            <a:ext cx="4438539" cy="716738"/>
          </a:xfrm>
          <a:prstGeom prst="roundRect">
            <a:avLst>
              <a:gd name="adj" fmla="val 21262"/>
            </a:avLst>
          </a:prstGeom>
          <a:solidFill>
            <a:srgbClr val="0F2740"/>
          </a:solidFill>
          <a:ln/>
        </p:spPr>
      </p:sp>
      <p:sp>
        <p:nvSpPr>
          <p:cNvPr id="32" name="Shape 29"/>
          <p:cNvSpPr/>
          <p:nvPr/>
        </p:nvSpPr>
        <p:spPr>
          <a:xfrm>
            <a:off x="7486463" y="3314220"/>
            <a:ext cx="9525" cy="206370"/>
          </a:xfrm>
          <a:custGeom>
            <a:avLst/>
            <a:gdLst/>
            <a:ahLst/>
            <a:cxnLst/>
            <a:rect l="l" t="t" r="r" b="b"/>
            <a:pathLst>
              <a:path w="9525" h="206370">
                <a:moveTo>
                  <a:pt x="0" y="206370"/>
                </a:moveTo>
                <a:lnTo>
                  <a:pt x="0" y="0"/>
                </a:ln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38839" y="3377719"/>
            <a:ext cx="95248" cy="63498"/>
          </a:xfrm>
          <a:custGeom>
            <a:avLst/>
            <a:gdLst/>
            <a:ahLst/>
            <a:cxnLst/>
            <a:rect l="l" t="t" r="r" b="b"/>
            <a:pathLst>
              <a:path w="95248" h="63498">
                <a:moveTo>
                  <a:pt x="95248" y="63498"/>
                </a:moveTo>
                <a:cubicBezTo>
                  <a:pt x="67037" y="55252"/>
                  <a:pt x="47641" y="29392"/>
                  <a:pt x="47624" y="0"/>
                </a:cubicBezTo>
                <a:cubicBezTo>
                  <a:pt x="47606" y="29392"/>
                  <a:pt x="28211" y="55252"/>
                  <a:pt x="0" y="63498"/>
                </a:cubicBez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87585" y="3262619"/>
            <a:ext cx="197755" cy="75414"/>
          </a:xfrm>
          <a:custGeom>
            <a:avLst/>
            <a:gdLst/>
            <a:ahLst/>
            <a:cxnLst/>
            <a:rect l="l" t="t" r="r" b="b"/>
            <a:pathLst>
              <a:path w="197755" h="75414">
                <a:moveTo>
                  <a:pt x="187744" y="75414"/>
                </a:moveTo>
                <a:cubicBezTo>
                  <a:pt x="197755" y="58075"/>
                  <a:pt x="195853" y="36326"/>
                  <a:pt x="182984" y="20988"/>
                </a:cubicBezTo>
                <a:cubicBezTo>
                  <a:pt x="170115" y="5651"/>
                  <a:pt x="149027" y="0"/>
                  <a:pt x="130213" y="6848"/>
                </a:cubicBezTo>
                <a:cubicBezTo>
                  <a:pt x="111399" y="13696"/>
                  <a:pt x="98877" y="31580"/>
                  <a:pt x="98878" y="51602"/>
                </a:cubicBezTo>
                <a:cubicBezTo>
                  <a:pt x="98879" y="31580"/>
                  <a:pt x="86357" y="13696"/>
                  <a:pt x="67543" y="6848"/>
                </a:cubicBezTo>
                <a:cubicBezTo>
                  <a:pt x="48729" y="0"/>
                  <a:pt x="27641" y="5651"/>
                  <a:pt x="14771" y="20988"/>
                </a:cubicBezTo>
                <a:cubicBezTo>
                  <a:pt x="1902" y="36326"/>
                  <a:pt x="0" y="58075"/>
                  <a:pt x="10012" y="75414"/>
                </a:cubicBez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81663" y="3316205"/>
            <a:ext cx="50185" cy="91596"/>
          </a:xfrm>
          <a:custGeom>
            <a:avLst/>
            <a:gdLst/>
            <a:ahLst/>
            <a:cxnLst/>
            <a:rect l="l" t="t" r="r" b="b"/>
            <a:pathLst>
              <a:path w="50185" h="91596">
                <a:moveTo>
                  <a:pt x="0" y="0"/>
                </a:moveTo>
                <a:cubicBezTo>
                  <a:pt x="18907" y="4861"/>
                  <a:pt x="34527" y="18150"/>
                  <a:pt x="42356" y="36033"/>
                </a:cubicBezTo>
                <a:cubicBezTo>
                  <a:pt x="50185" y="53916"/>
                  <a:pt x="49353" y="74407"/>
                  <a:pt x="40099" y="91596"/>
                </a:cubicBez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581710" y="3402102"/>
            <a:ext cx="68770" cy="118488"/>
          </a:xfrm>
          <a:custGeom>
            <a:avLst/>
            <a:gdLst/>
            <a:ahLst/>
            <a:cxnLst/>
            <a:rect l="l" t="t" r="r" b="b"/>
            <a:pathLst>
              <a:path w="68770" h="118488">
                <a:moveTo>
                  <a:pt x="0" y="118488"/>
                </a:moveTo>
                <a:cubicBezTo>
                  <a:pt x="28739" y="118487"/>
                  <a:pt x="53894" y="99184"/>
                  <a:pt x="61332" y="71424"/>
                </a:cubicBezTo>
                <a:cubicBezTo>
                  <a:pt x="68770" y="43665"/>
                  <a:pt x="56637" y="14371"/>
                  <a:pt x="31749" y="0"/>
                </a:cubicBez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356958" y="3512383"/>
            <a:ext cx="259010" cy="75384"/>
          </a:xfrm>
          <a:custGeom>
            <a:avLst/>
            <a:gdLst/>
            <a:ahLst/>
            <a:cxnLst/>
            <a:rect l="l" t="t" r="r" b="b"/>
            <a:pathLst>
              <a:path w="259010" h="75384">
                <a:moveTo>
                  <a:pt x="255978" y="0"/>
                </a:moveTo>
                <a:cubicBezTo>
                  <a:pt x="259010" y="23457"/>
                  <a:pt x="248752" y="46656"/>
                  <a:pt x="229361" y="60199"/>
                </a:cubicBezTo>
                <a:cubicBezTo>
                  <a:pt x="209969" y="73742"/>
                  <a:pt x="184658" y="75384"/>
                  <a:pt x="163679" y="64461"/>
                </a:cubicBezTo>
                <a:cubicBezTo>
                  <a:pt x="142699" y="53538"/>
                  <a:pt x="129530" y="31860"/>
                  <a:pt x="129505" y="8207"/>
                </a:cubicBezTo>
                <a:cubicBezTo>
                  <a:pt x="129480" y="31860"/>
                  <a:pt x="116310" y="53538"/>
                  <a:pt x="95331" y="64461"/>
                </a:cubicBezTo>
                <a:cubicBezTo>
                  <a:pt x="74352" y="75384"/>
                  <a:pt x="49040" y="73742"/>
                  <a:pt x="29649" y="60199"/>
                </a:cubicBezTo>
                <a:cubicBezTo>
                  <a:pt x="10257" y="46656"/>
                  <a:pt x="0" y="23457"/>
                  <a:pt x="3032" y="0"/>
                </a:cubicBez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22445" y="3402102"/>
            <a:ext cx="68770" cy="118488"/>
          </a:xfrm>
          <a:custGeom>
            <a:avLst/>
            <a:gdLst/>
            <a:ahLst/>
            <a:cxnLst/>
            <a:rect l="l" t="t" r="r" b="b"/>
            <a:pathLst>
              <a:path w="68770" h="118488">
                <a:moveTo>
                  <a:pt x="68770" y="118488"/>
                </a:moveTo>
                <a:cubicBezTo>
                  <a:pt x="40031" y="118487"/>
                  <a:pt x="14876" y="99184"/>
                  <a:pt x="7438" y="71424"/>
                </a:cubicBezTo>
                <a:cubicBezTo>
                  <a:pt x="0" y="43665"/>
                  <a:pt x="12133" y="14371"/>
                  <a:pt x="37021" y="0"/>
                </a:cubicBez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341078" y="3316205"/>
            <a:ext cx="50185" cy="91596"/>
          </a:xfrm>
          <a:custGeom>
            <a:avLst/>
            <a:gdLst/>
            <a:ahLst/>
            <a:cxnLst/>
            <a:rect l="l" t="t" r="r" b="b"/>
            <a:pathLst>
              <a:path w="50185" h="91596">
                <a:moveTo>
                  <a:pt x="50185" y="0"/>
                </a:moveTo>
                <a:cubicBezTo>
                  <a:pt x="31278" y="4861"/>
                  <a:pt x="15658" y="18150"/>
                  <a:pt x="7829" y="36033"/>
                </a:cubicBezTo>
                <a:cubicBezTo>
                  <a:pt x="0" y="53916"/>
                  <a:pt x="832" y="74407"/>
                  <a:pt x="10086" y="91596"/>
                </a:cubicBez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29354" y="3219370"/>
            <a:ext cx="3522733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 "AI" Lives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829354" y="3447964"/>
            <a:ext cx="3511303" cy="183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learns transition rules from driving factors.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143571" y="3898009"/>
            <a:ext cx="4438539" cy="735788"/>
          </a:xfrm>
          <a:prstGeom prst="roundRect">
            <a:avLst>
              <a:gd name="adj" fmla="val 20712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384865" y="4186530"/>
            <a:ext cx="190495" cy="190495"/>
          </a:xfrm>
          <a:custGeom>
            <a:avLst/>
            <a:gdLst/>
            <a:ahLst/>
            <a:cxnLst/>
            <a:rect l="l" t="t" r="r" b="b"/>
            <a:pathLst>
              <a:path w="190495" h="190495">
                <a:moveTo>
                  <a:pt x="0" y="0"/>
                </a:moveTo>
                <a:lnTo>
                  <a:pt x="0" y="174621"/>
                </a:lnTo>
                <a:cubicBezTo>
                  <a:pt x="0" y="183388"/>
                  <a:pt x="7107" y="190495"/>
                  <a:pt x="15875" y="190495"/>
                </a:cubicBezTo>
                <a:lnTo>
                  <a:pt x="190495" y="190495"/>
                </a:lnTo>
              </a:path>
            </a:pathLst>
          </a:custGeom>
          <a:ln w="31750">
            <a:solidFill>
              <a:srgbClr val="56C02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389517" y="4281777"/>
            <a:ext cx="90596" cy="90596"/>
          </a:xfrm>
          <a:custGeom>
            <a:avLst/>
            <a:gdLst/>
            <a:ahLst/>
            <a:cxnLst/>
            <a:rect l="l" t="t" r="r" b="b"/>
            <a:pathLst>
              <a:path w="90596" h="90596">
                <a:moveTo>
                  <a:pt x="0" y="90596"/>
                </a:moveTo>
                <a:lnTo>
                  <a:pt x="90596" y="0"/>
                </a:lnTo>
              </a:path>
            </a:pathLst>
          </a:custGeom>
          <a:ln w="31750">
            <a:solidFill>
              <a:srgbClr val="56C02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575361" y="4345276"/>
            <a:ext cx="63498" cy="63498"/>
          </a:xfrm>
          <a:prstGeom prst="ellipse">
            <a:avLst/>
          </a:prstGeom>
          <a:ln w="31750">
            <a:solidFill>
              <a:srgbClr val="56C02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353116" y="4123031"/>
            <a:ext cx="63498" cy="63498"/>
          </a:xfrm>
          <a:prstGeom prst="ellipse">
            <a:avLst/>
          </a:prstGeom>
          <a:ln w="31750">
            <a:solidFill>
              <a:srgbClr val="56C02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38879" y="4059930"/>
            <a:ext cx="295273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Adaptive Inertia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7838879" y="4288524"/>
            <a:ext cx="2941306" cy="183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supply and demand across land types.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7143571" y="4748094"/>
            <a:ext cx="4438539" cy="735788"/>
          </a:xfrm>
          <a:prstGeom prst="roundRect">
            <a:avLst>
              <a:gd name="adj" fmla="val 20712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591235" y="5147737"/>
            <a:ext cx="63498" cy="126997"/>
          </a:xfrm>
          <a:custGeom>
            <a:avLst/>
            <a:gdLst/>
            <a:ahLst/>
            <a:cxnLst/>
            <a:rect l="l" t="t" r="r" b="b"/>
            <a:pathLst>
              <a:path w="63498" h="126997">
                <a:moveTo>
                  <a:pt x="0" y="0"/>
                </a:moveTo>
                <a:lnTo>
                  <a:pt x="63498" y="63498"/>
                </a:lnTo>
                <a:lnTo>
                  <a:pt x="0" y="126997"/>
                </a:ln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591235" y="4957242"/>
            <a:ext cx="63498" cy="126997"/>
          </a:xfrm>
          <a:custGeom>
            <a:avLst/>
            <a:gdLst/>
            <a:ahLst/>
            <a:cxnLst/>
            <a:rect l="l" t="t" r="r" b="b"/>
            <a:pathLst>
              <a:path w="63498" h="126997">
                <a:moveTo>
                  <a:pt x="0" y="0"/>
                </a:moveTo>
                <a:lnTo>
                  <a:pt x="63498" y="63498"/>
                </a:lnTo>
                <a:lnTo>
                  <a:pt x="0" y="126997"/>
                </a:ln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337242" y="5020598"/>
            <a:ext cx="317492" cy="190780"/>
          </a:xfrm>
          <a:custGeom>
            <a:avLst/>
            <a:gdLst/>
            <a:ahLst/>
            <a:cxnLst/>
            <a:rect l="l" t="t" r="r" b="b"/>
            <a:pathLst>
              <a:path w="317492" h="190780">
                <a:moveTo>
                  <a:pt x="0" y="190638"/>
                </a:moveTo>
                <a:lnTo>
                  <a:pt x="31321" y="190638"/>
                </a:lnTo>
                <a:cubicBezTo>
                  <a:pt x="52152" y="190780"/>
                  <a:pt x="71729" y="180695"/>
                  <a:pt x="83707" y="163651"/>
                </a:cubicBezTo>
                <a:lnTo>
                  <a:pt x="170287" y="27129"/>
                </a:lnTo>
                <a:cubicBezTo>
                  <a:pt x="182265" y="10085"/>
                  <a:pt x="201841" y="0"/>
                  <a:pt x="222673" y="142"/>
                </a:cubicBezTo>
                <a:lnTo>
                  <a:pt x="317492" y="142"/>
                </a:ln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337242" y="5020572"/>
            <a:ext cx="88453" cy="35092"/>
          </a:xfrm>
          <a:custGeom>
            <a:avLst/>
            <a:gdLst/>
            <a:ahLst/>
            <a:cxnLst/>
            <a:rect l="l" t="t" r="r" b="b"/>
            <a:pathLst>
              <a:path w="88453" h="35092">
                <a:moveTo>
                  <a:pt x="0" y="168"/>
                </a:moveTo>
                <a:lnTo>
                  <a:pt x="31305" y="168"/>
                </a:lnTo>
                <a:cubicBezTo>
                  <a:pt x="55444" y="0"/>
                  <a:pt x="77591" y="13534"/>
                  <a:pt x="88453" y="35092"/>
                </a:cubicBez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500750" y="5175517"/>
            <a:ext cx="153984" cy="35718"/>
          </a:xfrm>
          <a:custGeom>
            <a:avLst/>
            <a:gdLst/>
            <a:ahLst/>
            <a:cxnLst/>
            <a:rect l="l" t="t" r="r" b="b"/>
            <a:pathLst>
              <a:path w="153984" h="35718">
                <a:moveTo>
                  <a:pt x="153984" y="35718"/>
                </a:moveTo>
                <a:lnTo>
                  <a:pt x="58085" y="35718"/>
                </a:lnTo>
                <a:cubicBezTo>
                  <a:pt x="36957" y="35502"/>
                  <a:pt x="17319" y="24791"/>
                  <a:pt x="5699" y="7144"/>
                </a:cubicBezTo>
                <a:lnTo>
                  <a:pt x="0" y="0"/>
                </a:ln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838879" y="4910015"/>
            <a:ext cx="332360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Neighborhood Effect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7838879" y="5138609"/>
            <a:ext cx="3312176" cy="183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spatial aggregation of neighboring land uses.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380990"/>
            <a:ext cx="1120493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33387" y="609585"/>
            <a:ext cx="11330657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Infrastructure Simulation: CAINFRA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33387" y="1219170"/>
            <a:ext cx="2438339" cy="1090585"/>
          </a:xfrm>
          <a:prstGeom prst="roundRect">
            <a:avLst>
              <a:gd name="adj" fmla="val 10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387" y="1219170"/>
            <a:ext cx="2438339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82" y="1447764"/>
            <a:ext cx="50799" cy="228594"/>
          </a:xfrm>
          <a:custGeom>
            <a:avLst/>
            <a:gdLst/>
            <a:ahLst/>
            <a:cxnLst/>
            <a:rect l="l" t="t" r="r" b="b"/>
            <a:pathLst>
              <a:path w="50799" h="228594">
                <a:moveTo>
                  <a:pt x="50799" y="228594"/>
                </a:moveTo>
                <a:cubicBezTo>
                  <a:pt x="50799" y="228594"/>
                  <a:pt x="0" y="190495"/>
                  <a:pt x="0" y="114297"/>
                </a:cubicBezTo>
                <a:cubicBezTo>
                  <a:pt x="0" y="38099"/>
                  <a:pt x="50799" y="0"/>
                  <a:pt x="50799" y="0"/>
                </a:cubicBezTo>
              </a:path>
            </a:pathLst>
          </a:custGeom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8978" y="1447764"/>
            <a:ext cx="50799" cy="228594"/>
          </a:xfrm>
          <a:custGeom>
            <a:avLst/>
            <a:gdLst/>
            <a:ahLst/>
            <a:cxnLst/>
            <a:rect l="l" t="t" r="r" b="b"/>
            <a:pathLst>
              <a:path w="50799" h="228594">
                <a:moveTo>
                  <a:pt x="0" y="0"/>
                </a:moveTo>
                <a:cubicBezTo>
                  <a:pt x="0" y="0"/>
                  <a:pt x="50799" y="38099"/>
                  <a:pt x="50799" y="114297"/>
                </a:cubicBezTo>
                <a:cubicBezTo>
                  <a:pt x="50799" y="190495"/>
                  <a:pt x="0" y="228594"/>
                  <a:pt x="0" y="228594"/>
                </a:cubicBezTo>
              </a:path>
            </a:pathLst>
          </a:custGeom>
          <a:ln w="254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080" y="1523962"/>
            <a:ext cx="76198" cy="76198"/>
          </a:xfrm>
          <a:custGeom>
            <a:avLst/>
            <a:gdLst/>
            <a:ahLst/>
            <a:cxnLst/>
            <a:rect l="l" t="t" r="r" b="b"/>
            <a:pathLst>
              <a:path w="76198" h="76198">
                <a:moveTo>
                  <a:pt x="76198" y="0"/>
                </a:moveTo>
                <a:lnTo>
                  <a:pt x="0" y="76198"/>
                </a:lnTo>
              </a:path>
            </a:pathLst>
          </a:custGeom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080" y="1523962"/>
            <a:ext cx="76198" cy="76198"/>
          </a:xfrm>
          <a:custGeom>
            <a:avLst/>
            <a:gdLst/>
            <a:ahLst/>
            <a:cxnLst/>
            <a:rect l="l" t="t" r="r" b="b"/>
            <a:pathLst>
              <a:path w="76198" h="76198">
                <a:moveTo>
                  <a:pt x="0" y="0"/>
                </a:moveTo>
                <a:lnTo>
                  <a:pt x="76198" y="76198"/>
                </a:lnTo>
              </a:path>
            </a:pathLst>
          </a:custGeom>
          <a:ln w="254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6773" y="1447764"/>
            <a:ext cx="134468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Driving Factors 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783" y="1773987"/>
            <a:ext cx="2213555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· Transport · Location · Socio-economic · Neighbourhood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33647" y="1333467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320" y="126679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8914" y="1219170"/>
            <a:ext cx="2438339" cy="1090585"/>
          </a:xfrm>
          <a:prstGeom prst="roundRect">
            <a:avLst>
              <a:gd name="adj" fmla="val 10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8914" y="1219170"/>
            <a:ext cx="2438339" cy="0"/>
          </a:xfrm>
          <a:prstGeom prst="line">
            <a:avLst/>
          </a:prstGeom>
          <a:noFill/>
          <a:ln w="38100">
            <a:solidFill>
              <a:srgbClr val="0A97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509" y="1447764"/>
            <a:ext cx="114297" cy="152396"/>
          </a:xfrm>
          <a:custGeom>
            <a:avLst/>
            <a:gdLst/>
            <a:ahLst/>
            <a:cxnLst/>
            <a:rect l="l" t="t" r="r" b="b"/>
            <a:pathLst>
              <a:path w="114297" h="152396">
                <a:moveTo>
                  <a:pt x="114297" y="38099"/>
                </a:moveTo>
                <a:cubicBezTo>
                  <a:pt x="51173" y="38099"/>
                  <a:pt x="0" y="89272"/>
                  <a:pt x="0" y="152396"/>
                </a:cubicBezTo>
                <a:lnTo>
                  <a:pt x="0" y="0"/>
                </a:lnTo>
              </a:path>
            </a:pathLst>
          </a:custGeom>
          <a:ln w="25400">
            <a:solidFill>
              <a:srgbClr val="0A97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71806" y="1447764"/>
            <a:ext cx="76198" cy="76198"/>
          </a:xfrm>
          <a:prstGeom prst="ellipse">
            <a:avLst/>
          </a:prstGeom>
          <a:ln w="25400">
            <a:solidFill>
              <a:srgbClr val="0A9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9410" y="1600160"/>
            <a:ext cx="76198" cy="76198"/>
          </a:xfrm>
          <a:prstGeom prst="ellipse">
            <a:avLst/>
          </a:prstGeom>
          <a:ln w="25400">
            <a:solidFill>
              <a:srgbClr val="0A97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62301" y="1447764"/>
            <a:ext cx="120896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81310" y="1790655"/>
            <a:ext cx="2213555" cy="183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(x) = Σ I(h</a:t>
            </a:r>
            <a:pPr algn="l" indent="0" marL="0">
              <a:buNone/>
            </a:pPr>
            <a:r>
              <a:rPr lang="en-US" sz="78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(x)=d) / M (Eq. 6)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29174" y="1333467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5848" y="126679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4442" y="1219170"/>
            <a:ext cx="2438339" cy="1090585"/>
          </a:xfrm>
          <a:prstGeom prst="roundRect">
            <a:avLst>
              <a:gd name="adj" fmla="val 104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24442" y="1219170"/>
            <a:ext cx="2438339" cy="0"/>
          </a:xfrm>
          <a:prstGeom prst="line">
            <a:avLst/>
          </a:prstGeom>
          <a:noFill/>
          <a:ln w="38100">
            <a:solidFill>
              <a:srgbClr val="56C0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53036" y="1523962"/>
            <a:ext cx="76198" cy="76198"/>
          </a:xfrm>
          <a:prstGeom prst="ellipse">
            <a:avLst/>
          </a:prstGeom>
          <a:ln w="25400">
            <a:solidFill>
              <a:srgbClr val="56C0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02237" y="1473163"/>
            <a:ext cx="253994" cy="177796"/>
          </a:xfrm>
          <a:prstGeom prst="rect">
            <a:avLst/>
          </a:prstGeom>
          <a:ln w="25400">
            <a:solidFill>
              <a:srgbClr val="56C0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7829" y="1447764"/>
            <a:ext cx="114943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Two-State Cell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76838" y="1773987"/>
            <a:ext cx="2213555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 covered / k=0 not covered (Eq. 7)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24702" y="1333467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91375" y="126679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0A97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19969" y="1219170"/>
            <a:ext cx="2438339" cy="1090585"/>
          </a:xfrm>
          <a:prstGeom prst="roundRect">
            <a:avLst>
              <a:gd name="adj" fmla="val 10480"/>
            </a:avLst>
          </a:prstGeom>
          <a:solidFill>
            <a:srgbClr val="0F2740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524762" y="1409665"/>
            <a:ext cx="101597" cy="228594"/>
          </a:xfrm>
          <a:custGeom>
            <a:avLst/>
            <a:gdLst/>
            <a:ahLst/>
            <a:cxnLst/>
            <a:rect l="l" t="t" r="r" b="b"/>
            <a:pathLst>
              <a:path w="101597" h="228594">
                <a:moveTo>
                  <a:pt x="25399" y="83005"/>
                </a:moveTo>
                <a:lnTo>
                  <a:pt x="25399" y="50799"/>
                </a:lnTo>
                <a:cubicBezTo>
                  <a:pt x="25399" y="22743"/>
                  <a:pt x="48143" y="0"/>
                  <a:pt x="76198" y="0"/>
                </a:cubicBezTo>
                <a:lnTo>
                  <a:pt x="95248" y="0"/>
                </a:lnTo>
                <a:cubicBezTo>
                  <a:pt x="98755" y="0"/>
                  <a:pt x="101597" y="2843"/>
                  <a:pt x="101597" y="6350"/>
                </a:cubicBezTo>
                <a:lnTo>
                  <a:pt x="101597" y="25399"/>
                </a:lnTo>
                <a:cubicBezTo>
                  <a:pt x="101597" y="53455"/>
                  <a:pt x="78854" y="76198"/>
                  <a:pt x="50799" y="76198"/>
                </a:cubicBezTo>
                <a:cubicBezTo>
                  <a:pt x="22743" y="76198"/>
                  <a:pt x="0" y="98941"/>
                  <a:pt x="0" y="126997"/>
                </a:cubicBezTo>
                <a:cubicBezTo>
                  <a:pt x="0" y="152396"/>
                  <a:pt x="12700" y="165096"/>
                  <a:pt x="12700" y="190495"/>
                </a:cubicBezTo>
                <a:cubicBezTo>
                  <a:pt x="12700" y="204234"/>
                  <a:pt x="8243" y="217603"/>
                  <a:pt x="0" y="228594"/>
                </a:cubicBezTo>
              </a:path>
            </a:pathLst>
          </a:custGeom>
          <a:ln w="25400">
            <a:solidFill>
              <a:srgbClr val="E457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23164" y="1469111"/>
            <a:ext cx="101597" cy="84303"/>
          </a:xfrm>
          <a:custGeom>
            <a:avLst/>
            <a:gdLst/>
            <a:ahLst/>
            <a:cxnLst/>
            <a:rect l="l" t="t" r="r" b="b"/>
            <a:pathLst>
              <a:path w="101597" h="84303">
                <a:moveTo>
                  <a:pt x="0" y="16752"/>
                </a:moveTo>
                <a:cubicBezTo>
                  <a:pt x="19241" y="2321"/>
                  <a:pt x="44984" y="0"/>
                  <a:pt x="66496" y="10756"/>
                </a:cubicBezTo>
                <a:cubicBezTo>
                  <a:pt x="88009" y="21512"/>
                  <a:pt x="101597" y="43499"/>
                  <a:pt x="101597" y="67551"/>
                </a:cubicBezTo>
                <a:cubicBezTo>
                  <a:pt x="82356" y="81982"/>
                  <a:pt x="56613" y="84303"/>
                  <a:pt x="35101" y="73547"/>
                </a:cubicBezTo>
                <a:cubicBezTo>
                  <a:pt x="13589" y="62791"/>
                  <a:pt x="0" y="40804"/>
                  <a:pt x="0" y="16752"/>
                </a:cubicBezTo>
              </a:path>
            </a:pathLst>
          </a:custGeom>
          <a:ln w="25400">
            <a:solidFill>
              <a:srgbClr val="E457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35864" y="1638259"/>
            <a:ext cx="177796" cy="9525"/>
          </a:xfrm>
          <a:custGeom>
            <a:avLst/>
            <a:gdLst/>
            <a:ahLst/>
            <a:cxnLst/>
            <a:rect l="l" t="t" r="r" b="b"/>
            <a:pathLst>
              <a:path w="177796" h="9525">
                <a:moveTo>
                  <a:pt x="0" y="0"/>
                </a:moveTo>
                <a:lnTo>
                  <a:pt x="177796" y="0"/>
                </a:lnTo>
              </a:path>
            </a:pathLst>
          </a:custGeom>
          <a:ln w="25400">
            <a:solidFill>
              <a:srgbClr val="E457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53356" y="1409665"/>
            <a:ext cx="116386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Patch-Seeding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72366" y="1735888"/>
            <a:ext cx="2213555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cell-level evolution → future coverage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3387" y="2538349"/>
            <a:ext cx="5467213" cy="1740650"/>
          </a:xfrm>
          <a:prstGeom prst="roundRect">
            <a:avLst>
              <a:gd name="adj" fmla="val 8755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90555" y="2843141"/>
            <a:ext cx="57149" cy="57149"/>
          </a:xfrm>
          <a:prstGeom prst="ellipse">
            <a:avLst/>
          </a:prstGeom>
          <a:ln w="19050">
            <a:solidFill>
              <a:srgbClr val="0A97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2456" y="2805042"/>
            <a:ext cx="190495" cy="133347"/>
          </a:xfrm>
          <a:prstGeom prst="rect">
            <a:avLst/>
          </a:prstGeom>
          <a:ln w="19050">
            <a:solidFill>
              <a:srgbClr val="0A97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8199" y="2738369"/>
            <a:ext cx="208327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Simplified Two-State CA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33407" y="3064592"/>
            <a:ext cx="5147181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land-use CA (multiple classes), CAINFRA distinguishes only </a:t>
            </a:r>
            <a:pPr algn="l" indent="0" marL="0">
              <a:lnSpc>
                <a:spcPct val="137500"/>
              </a:lnSpc>
              <a:buNone/>
            </a:pPr>
            <a:r>
              <a:rPr lang="en-US" sz="10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</a:t>
            </a:r>
            <a:pPr algn="l" indent="0" marL="0">
              <a:lnSpc>
                <a:spcPct val="137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</a:t>
            </a:r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adapting Eq. 4 transition rules with infrastructure coverage probability.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3387" y="4393296"/>
            <a:ext cx="5467213" cy="1740650"/>
          </a:xfrm>
          <a:prstGeom prst="roundRect">
            <a:avLst>
              <a:gd name="adj" fmla="val 8755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71506" y="4630521"/>
            <a:ext cx="152396" cy="191617"/>
          </a:xfrm>
          <a:custGeom>
            <a:avLst/>
            <a:gdLst/>
            <a:ahLst/>
            <a:cxnLst/>
            <a:rect l="l" t="t" r="r" b="b"/>
            <a:pathLst>
              <a:path w="152396" h="191617">
                <a:moveTo>
                  <a:pt x="152396" y="105667"/>
                </a:moveTo>
                <a:cubicBezTo>
                  <a:pt x="152396" y="153291"/>
                  <a:pt x="119060" y="177103"/>
                  <a:pt x="79437" y="190914"/>
                </a:cubicBezTo>
                <a:cubicBezTo>
                  <a:pt x="77362" y="191617"/>
                  <a:pt x="75108" y="191583"/>
                  <a:pt x="73055" y="190818"/>
                </a:cubicBezTo>
                <a:cubicBezTo>
                  <a:pt x="33337" y="177103"/>
                  <a:pt x="0" y="153291"/>
                  <a:pt x="0" y="105667"/>
                </a:cubicBezTo>
                <a:lnTo>
                  <a:pt x="0" y="38994"/>
                </a:lnTo>
                <a:cubicBezTo>
                  <a:pt x="0" y="33733"/>
                  <a:pt x="4264" y="29469"/>
                  <a:pt x="9525" y="29469"/>
                </a:cubicBezTo>
                <a:cubicBezTo>
                  <a:pt x="28574" y="29469"/>
                  <a:pt x="52386" y="18039"/>
                  <a:pt x="68959" y="3562"/>
                </a:cubicBezTo>
                <a:cubicBezTo>
                  <a:pt x="73128" y="0"/>
                  <a:pt x="79268" y="0"/>
                  <a:pt x="83437" y="3562"/>
                </a:cubicBezTo>
                <a:cubicBezTo>
                  <a:pt x="100105" y="18135"/>
                  <a:pt x="123822" y="29469"/>
                  <a:pt x="142871" y="29469"/>
                </a:cubicBezTo>
                <a:cubicBezTo>
                  <a:pt x="148132" y="29469"/>
                  <a:pt x="152396" y="33733"/>
                  <a:pt x="152396" y="38994"/>
                </a:cubicBezTo>
                <a:close/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9130" y="4707614"/>
            <a:ext cx="57149" cy="38099"/>
          </a:xfrm>
          <a:custGeom>
            <a:avLst/>
            <a:gdLst/>
            <a:ahLst/>
            <a:cxnLst/>
            <a:rect l="l" t="t" r="r" b="b"/>
            <a:pathLst>
              <a:path w="57149" h="38099">
                <a:moveTo>
                  <a:pt x="0" y="19050"/>
                </a:moveTo>
                <a:lnTo>
                  <a:pt x="19050" y="38099"/>
                </a:lnTo>
                <a:lnTo>
                  <a:pt x="57149" y="0"/>
                </a:lnTo>
              </a:path>
            </a:pathLst>
          </a:custGeom>
          <a:ln w="19050">
            <a:solidFill>
              <a:srgbClr val="56C0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8199" y="4593316"/>
            <a:ext cx="144571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Avoid Circularity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733407" y="4919540"/>
            <a:ext cx="5147181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 categories directly representing the simulated infrastructure (e.g. transit stations) are </a:t>
            </a:r>
            <a:pPr algn="l" indent="0" marL="0">
              <a:lnSpc>
                <a:spcPct val="137500"/>
              </a:lnSpc>
              <a:buNone/>
            </a:pPr>
            <a:r>
              <a:rPr lang="en-US" sz="105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from predictors</a:t>
            </a:r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91095" y="2538349"/>
            <a:ext cx="5467213" cy="3595598"/>
          </a:xfrm>
          <a:prstGeom prst="roundRect">
            <a:avLst>
              <a:gd name="adj" fmla="val 4238"/>
            </a:avLst>
          </a:prstGeom>
          <a:solidFill>
            <a:srgbClr val="0F2740"/>
          </a:solidFill>
          <a:ln/>
        </p:spPr>
      </p:sp>
      <p:sp>
        <p:nvSpPr>
          <p:cNvPr id="49" name="Shape 47"/>
          <p:cNvSpPr/>
          <p:nvPr/>
        </p:nvSpPr>
        <p:spPr>
          <a:xfrm>
            <a:off x="6451401" y="3222506"/>
            <a:ext cx="317568" cy="317568"/>
          </a:xfrm>
          <a:custGeom>
            <a:avLst/>
            <a:gdLst/>
            <a:ahLst/>
            <a:cxnLst/>
            <a:rect l="l" t="t" r="r" b="b"/>
            <a:pathLst>
              <a:path w="317568" h="317568">
                <a:moveTo>
                  <a:pt x="143179" y="12960"/>
                </a:moveTo>
                <a:cubicBezTo>
                  <a:pt x="144583" y="5447"/>
                  <a:pt x="151141" y="0"/>
                  <a:pt x="158784" y="0"/>
                </a:cubicBezTo>
                <a:cubicBezTo>
                  <a:pt x="166427" y="0"/>
                  <a:pt x="172985" y="5447"/>
                  <a:pt x="174389" y="12960"/>
                </a:cubicBezTo>
                <a:lnTo>
                  <a:pt x="191073" y="101191"/>
                </a:lnTo>
                <a:cubicBezTo>
                  <a:pt x="193498" y="114029"/>
                  <a:pt x="203540" y="124070"/>
                  <a:pt x="216377" y="126495"/>
                </a:cubicBezTo>
                <a:lnTo>
                  <a:pt x="304608" y="143179"/>
                </a:lnTo>
                <a:cubicBezTo>
                  <a:pt x="312121" y="144583"/>
                  <a:pt x="317568" y="151141"/>
                  <a:pt x="317568" y="158784"/>
                </a:cubicBezTo>
                <a:cubicBezTo>
                  <a:pt x="317568" y="166427"/>
                  <a:pt x="312121" y="172985"/>
                  <a:pt x="304608" y="174389"/>
                </a:cubicBezTo>
                <a:lnTo>
                  <a:pt x="216377" y="191073"/>
                </a:lnTo>
                <a:cubicBezTo>
                  <a:pt x="203540" y="193498"/>
                  <a:pt x="193498" y="203540"/>
                  <a:pt x="191073" y="216377"/>
                </a:cubicBezTo>
                <a:lnTo>
                  <a:pt x="174389" y="304608"/>
                </a:lnTo>
                <a:cubicBezTo>
                  <a:pt x="172985" y="312121"/>
                  <a:pt x="166427" y="317568"/>
                  <a:pt x="158784" y="317568"/>
                </a:cubicBezTo>
                <a:cubicBezTo>
                  <a:pt x="151141" y="317568"/>
                  <a:pt x="144583" y="312121"/>
                  <a:pt x="143179" y="304608"/>
                </a:cubicBezTo>
                <a:lnTo>
                  <a:pt x="126495" y="216377"/>
                </a:lnTo>
                <a:cubicBezTo>
                  <a:pt x="124070" y="203540"/>
                  <a:pt x="114029" y="193498"/>
                  <a:pt x="101191" y="191073"/>
                </a:cubicBezTo>
                <a:lnTo>
                  <a:pt x="12960" y="174389"/>
                </a:lnTo>
                <a:cubicBezTo>
                  <a:pt x="5447" y="172985"/>
                  <a:pt x="0" y="166427"/>
                  <a:pt x="0" y="158784"/>
                </a:cubicBezTo>
                <a:cubicBezTo>
                  <a:pt x="0" y="151141"/>
                  <a:pt x="5447" y="144583"/>
                  <a:pt x="12960" y="143179"/>
                </a:cubicBezTo>
                <a:lnTo>
                  <a:pt x="101191" y="126495"/>
                </a:lnTo>
                <a:cubicBezTo>
                  <a:pt x="114029" y="124070"/>
                  <a:pt x="124070" y="114029"/>
                  <a:pt x="126495" y="101191"/>
                </a:cubicBezTo>
                <a:close/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7182" y="3222544"/>
            <a:ext cx="9525" cy="63498"/>
          </a:xfrm>
          <a:custGeom>
            <a:avLst/>
            <a:gdLst/>
            <a:ahLst/>
            <a:cxnLst/>
            <a:rect l="l" t="t" r="r" b="b"/>
            <a:pathLst>
              <a:path w="9525" h="63498">
                <a:moveTo>
                  <a:pt x="0" y="0"/>
                </a:moveTo>
                <a:lnTo>
                  <a:pt x="0" y="63498"/>
                </a:ln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05432" y="3254294"/>
            <a:ext cx="63498" cy="9525"/>
          </a:xfrm>
          <a:custGeom>
            <a:avLst/>
            <a:gdLst/>
            <a:ahLst/>
            <a:cxnLst/>
            <a:rect l="l" t="t" r="r" b="b"/>
            <a:pathLst>
              <a:path w="63498" h="9525">
                <a:moveTo>
                  <a:pt x="63498" y="0"/>
                </a:moveTo>
                <a:lnTo>
                  <a:pt x="0" y="0"/>
                </a:ln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51439" y="3476538"/>
            <a:ext cx="63498" cy="63498"/>
          </a:xfrm>
          <a:prstGeom prst="ellipse">
            <a:avLst/>
          </a:prstGeom>
          <a:ln w="31750">
            <a:solidFill>
              <a:srgbClr val="E457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14977" y="3228894"/>
            <a:ext cx="2684733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First: Dual Simulation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419690" y="3702751"/>
            <a:ext cx="5112892" cy="60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CAINFRA extends conventional land-use CA by simulating </a:t>
            </a:r>
            <a:pPr algn="l" indent="0" marL="0">
              <a:lnSpc>
                <a:spcPct val="162500"/>
              </a:lnSpc>
              <a:buNone/>
            </a:pPr>
            <a:r>
              <a:rPr lang="en-US" sz="135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use</a:t>
            </a:r>
            <a:pPr algn="l" indent="0" marL="0">
              <a:lnSpc>
                <a:spcPct val="16250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ct val="162500"/>
              </a:lnSpc>
              <a:buNone/>
            </a:pPr>
            <a:r>
              <a:rPr lang="en-US" sz="13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coverage</a:t>
            </a:r>
            <a:pPr algn="l" indent="0" marL="0">
              <a:lnSpc>
                <a:spcPct val="1625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simultaneously</a:t>
            </a:r>
            <a:pPr algn="l" indent="0" marL="0">
              <a:lnSpc>
                <a:spcPct val="162500"/>
              </a:lnSpc>
              <a:buNone/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6419690" y="4471876"/>
            <a:ext cx="2428814" cy="1009625"/>
          </a:xfrm>
          <a:prstGeom prst="roundRect">
            <a:avLst>
              <a:gd name="adj" fmla="val 1132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1610" y="4633797"/>
            <a:ext cx="218498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Use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581610" y="4862391"/>
            <a:ext cx="220784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CALUCC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6581610" y="5167183"/>
            <a:ext cx="217355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multi-class · Eq. 3–5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000900" y="4471876"/>
            <a:ext cx="2428814" cy="1009625"/>
          </a:xfrm>
          <a:prstGeom prst="roundRect">
            <a:avLst>
              <a:gd name="adj" fmla="val 1132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62821" y="4633797"/>
            <a:ext cx="218498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162821" y="4862391"/>
            <a:ext cx="220784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CAINFRA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9162821" y="5167183"/>
            <a:ext cx="217355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two-state · Eq. 6–7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93383" y="6286343"/>
            <a:ext cx="1120493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spc="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Corresponds to Figure 4 &amp; Eq. 6–7 in the paper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Multi-Scale Assessment &amp; Priority Areas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1485863"/>
            <a:ext cx="5371966" cy="44956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3427" y="1809705"/>
            <a:ext cx="285743" cy="285743"/>
          </a:xfrm>
          <a:prstGeom prst="rect">
            <a:avLst/>
          </a:prstGeom>
          <a:ln w="31750">
            <a:solidFill>
              <a:srgbClr val="0A9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3427" y="1904952"/>
            <a:ext cx="285743" cy="9525"/>
          </a:xfrm>
          <a:custGeom>
            <a:avLst/>
            <a:gdLst/>
            <a:ahLst/>
            <a:cxnLst/>
            <a:rect l="l" t="t" r="r" b="b"/>
            <a:pathLst>
              <a:path w="285743" h="9525">
                <a:moveTo>
                  <a:pt x="0" y="0"/>
                </a:moveTo>
                <a:lnTo>
                  <a:pt x="285743" y="0"/>
                </a:ln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3427" y="2000200"/>
            <a:ext cx="285743" cy="9525"/>
          </a:xfrm>
          <a:custGeom>
            <a:avLst/>
            <a:gdLst/>
            <a:ahLst/>
            <a:cxnLst/>
            <a:rect l="l" t="t" r="r" b="b"/>
            <a:pathLst>
              <a:path w="285743" h="9525">
                <a:moveTo>
                  <a:pt x="0" y="0"/>
                </a:moveTo>
                <a:lnTo>
                  <a:pt x="285743" y="0"/>
                </a:ln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674" y="1809705"/>
            <a:ext cx="9525" cy="285743"/>
          </a:xfrm>
          <a:custGeom>
            <a:avLst/>
            <a:gdLst/>
            <a:ahLst/>
            <a:cxnLst/>
            <a:rect l="l" t="t" r="r" b="b"/>
            <a:pathLst>
              <a:path w="9525" h="285743">
                <a:moveTo>
                  <a:pt x="0" y="0"/>
                </a:moveTo>
                <a:lnTo>
                  <a:pt x="0" y="285743"/>
                </a:ln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3922" y="1809705"/>
            <a:ext cx="9525" cy="285743"/>
          </a:xfrm>
          <a:custGeom>
            <a:avLst/>
            <a:gdLst/>
            <a:ahLst/>
            <a:cxnLst/>
            <a:rect l="l" t="t" r="r" b="b"/>
            <a:pathLst>
              <a:path w="9525" h="285743">
                <a:moveTo>
                  <a:pt x="0" y="0"/>
                </a:moveTo>
                <a:lnTo>
                  <a:pt x="0" y="285743"/>
                </a:ln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1090" y="1800180"/>
            <a:ext cx="2773581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Multi-Scale Aggregation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5803" y="2333567"/>
            <a:ext cx="1301618" cy="609585"/>
          </a:xfrm>
          <a:prstGeom prst="roundRect">
            <a:avLst>
              <a:gd name="adj" fmla="val 18750"/>
            </a:avLst>
          </a:prstGeom>
          <a:solidFill>
            <a:srgbClr val="0A97D9">
              <a:alpha val="10000"/>
            </a:srgbClr>
          </a:solidFill>
          <a:ln w="9525">
            <a:solidFill>
              <a:srgbClr val="0A97D9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6731" y="2505012"/>
            <a:ext cx="714059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Raster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349342" y="2638359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16015" y="2571686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44610" y="2333567"/>
            <a:ext cx="1301767" cy="609585"/>
          </a:xfrm>
          <a:prstGeom prst="roundRect">
            <a:avLst>
              <a:gd name="adj" fmla="val 18750"/>
            </a:avLst>
          </a:prstGeom>
          <a:solidFill>
            <a:srgbClr val="56C02B">
              <a:alpha val="10000"/>
            </a:srgbClr>
          </a:solidFill>
          <a:ln w="9525">
            <a:solidFill>
              <a:srgbClr val="56C02B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7276" y="2505012"/>
            <a:ext cx="47058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City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108298" y="2638359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74971" y="2571686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3565" y="2333567"/>
            <a:ext cx="1301767" cy="609585"/>
          </a:xfrm>
          <a:prstGeom prst="roundRect">
            <a:avLst>
              <a:gd name="adj" fmla="val 18750"/>
            </a:avLst>
          </a:prstGeom>
          <a:solidFill>
            <a:srgbClr val="E4572E">
              <a:alpha val="10000"/>
            </a:srgbClr>
          </a:solidFill>
          <a:ln w="9525">
            <a:solidFill>
              <a:srgbClr val="E4572E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6365" y="2505012"/>
            <a:ext cx="7704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Cluster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5803" y="3112216"/>
            <a:ext cx="4922397" cy="2614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comparability across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and resolutions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10145" y="1485863"/>
            <a:ext cx="5371966" cy="44956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8112" y="1793830"/>
            <a:ext cx="317492" cy="317492"/>
          </a:xfrm>
          <a:prstGeom prst="ellipse">
            <a:avLst/>
          </a:prstGeom>
          <a:ln w="31750">
            <a:solidFill>
              <a:srgbClr val="E457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1610" y="1857329"/>
            <a:ext cx="190495" cy="190495"/>
          </a:xfrm>
          <a:prstGeom prst="ellipse">
            <a:avLst/>
          </a:prstGeom>
          <a:ln w="31750">
            <a:solidFill>
              <a:srgbClr val="E457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45109" y="1920827"/>
            <a:ext cx="63498" cy="63498"/>
          </a:xfrm>
          <a:prstGeom prst="ellipse">
            <a:avLst/>
          </a:prstGeom>
          <a:ln w="3175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1650" y="1800180"/>
            <a:ext cx="3014825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Priority-Area Identification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86363" y="2312136"/>
            <a:ext cx="4922397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priority types integrated via raster overlay into a single ranking.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86363" y="3950395"/>
            <a:ext cx="1147734" cy="761981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6926883" y="4255187"/>
            <a:ext cx="33527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10295" y="3950395"/>
            <a:ext cx="1147734" cy="761981"/>
          </a:xfrm>
          <a:prstGeom prst="roundRect">
            <a:avLst>
              <a:gd name="adj" fmla="val 15000"/>
            </a:avLst>
          </a:prstGeom>
          <a:solidFill>
            <a:srgbClr val="56C02B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977881" y="4236138"/>
            <a:ext cx="69242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34227" y="3950395"/>
            <a:ext cx="1147734" cy="761981"/>
          </a:xfrm>
          <a:prstGeom prst="roundRect">
            <a:avLst>
              <a:gd name="adj" fmla="val 15000"/>
            </a:avLst>
          </a:prstGeom>
          <a:solidFill>
            <a:srgbClr val="0A97D9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361204" y="4236138"/>
            <a:ext cx="37378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58159" y="3950395"/>
            <a:ext cx="1147734" cy="761981"/>
          </a:xfrm>
          <a:prstGeom prst="roundRect">
            <a:avLst>
              <a:gd name="adj" fmla="val 15000"/>
            </a:avLst>
          </a:prstGeom>
          <a:solidFill>
            <a:srgbClr val="E4572E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505068" y="4236138"/>
            <a:ext cx="533922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Critical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9581" y="6210145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spc="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Corresponds to Figures 5 &amp; 6 in the paper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304792"/>
            <a:ext cx="605355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9" y="495288"/>
            <a:ext cx="6156419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Study Area &amp; Multi-Source Geographic Data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342850" y="495288"/>
            <a:ext cx="1391657" cy="342891"/>
          </a:xfrm>
          <a:prstGeom prst="roundRect">
            <a:avLst>
              <a:gd name="adj" fmla="val 27775035"/>
            </a:avLst>
          </a:prstGeom>
          <a:solidFill>
            <a:srgbClr val="E4572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302846" y="478619"/>
            <a:ext cx="1471665" cy="376228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 · Figure 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189" y="990575"/>
            <a:ext cx="3657509" cy="1782321"/>
          </a:xfrm>
          <a:prstGeom prst="roundRect">
            <a:avLst>
              <a:gd name="adj" fmla="val 8550"/>
            </a:avLst>
          </a:prstGeom>
          <a:solidFill>
            <a:srgbClr val="0F2740"/>
          </a:solidFill>
          <a:ln/>
        </p:spPr>
      </p:sp>
      <p:sp>
        <p:nvSpPr>
          <p:cNvPr id="8" name="Text 6"/>
          <p:cNvSpPr/>
          <p:nvPr/>
        </p:nvSpPr>
        <p:spPr>
          <a:xfrm>
            <a:off x="647684" y="1234052"/>
            <a:ext cx="1444996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211,700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963143" y="1386448"/>
            <a:ext cx="3172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684" y="1653141"/>
            <a:ext cx="334509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· Jiangsu · Zhejiang · Anhui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7684" y="1957934"/>
            <a:ext cx="587172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7684" y="2377023"/>
            <a:ext cx="45001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33913" y="1957934"/>
            <a:ext cx="1012661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457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1/5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333913" y="2377023"/>
            <a:ext cx="87550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national GDP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189" y="2887193"/>
            <a:ext cx="3657509" cy="666733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7733" y="3076825"/>
            <a:ext cx="285930" cy="144599"/>
          </a:xfrm>
          <a:custGeom>
            <a:avLst/>
            <a:gdLst/>
            <a:ahLst/>
            <a:cxnLst/>
            <a:rect l="l" t="t" r="r" b="b"/>
            <a:pathLst>
              <a:path w="285930" h="144599">
                <a:moveTo>
                  <a:pt x="154680" y="3436"/>
                </a:moveTo>
                <a:cubicBezTo>
                  <a:pt x="147148" y="0"/>
                  <a:pt x="138496" y="0"/>
                  <a:pt x="130964" y="3436"/>
                </a:cubicBezTo>
                <a:lnTo>
                  <a:pt x="8523" y="59156"/>
                </a:lnTo>
                <a:cubicBezTo>
                  <a:pt x="3343" y="61440"/>
                  <a:pt x="0" y="66567"/>
                  <a:pt x="0" y="72228"/>
                </a:cubicBezTo>
                <a:cubicBezTo>
                  <a:pt x="0" y="77890"/>
                  <a:pt x="3343" y="83017"/>
                  <a:pt x="8523" y="85301"/>
                </a:cubicBezTo>
                <a:lnTo>
                  <a:pt x="131107" y="141164"/>
                </a:lnTo>
                <a:cubicBezTo>
                  <a:pt x="138639" y="144599"/>
                  <a:pt x="147291" y="144599"/>
                  <a:pt x="154823" y="141164"/>
                </a:cubicBezTo>
                <a:lnTo>
                  <a:pt x="277407" y="85444"/>
                </a:lnTo>
                <a:cubicBezTo>
                  <a:pt x="282587" y="83160"/>
                  <a:pt x="285930" y="78033"/>
                  <a:pt x="285930" y="72371"/>
                </a:cubicBezTo>
                <a:cubicBezTo>
                  <a:pt x="285930" y="66710"/>
                  <a:pt x="282587" y="61583"/>
                  <a:pt x="277407" y="59298"/>
                </a:cubicBezTo>
                <a:close/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670" y="3220560"/>
            <a:ext cx="285801" cy="72256"/>
          </a:xfrm>
          <a:custGeom>
            <a:avLst/>
            <a:gdLst/>
            <a:ahLst/>
            <a:cxnLst/>
            <a:rect l="l" t="t" r="r" b="b"/>
            <a:pathLst>
              <a:path w="285801" h="72256">
                <a:moveTo>
                  <a:pt x="14" y="0"/>
                </a:moveTo>
                <a:cubicBezTo>
                  <a:pt x="0" y="5580"/>
                  <a:pt x="3236" y="10658"/>
                  <a:pt x="8300" y="13001"/>
                </a:cubicBezTo>
                <a:lnTo>
                  <a:pt x="131170" y="68864"/>
                </a:lnTo>
                <a:cubicBezTo>
                  <a:pt x="138662" y="72256"/>
                  <a:pt x="147252" y="72256"/>
                  <a:pt x="154744" y="68864"/>
                </a:cubicBezTo>
                <a:lnTo>
                  <a:pt x="277327" y="13144"/>
                </a:lnTo>
                <a:cubicBezTo>
                  <a:pt x="282495" y="10822"/>
                  <a:pt x="285801" y="5665"/>
                  <a:pt x="285757" y="0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670" y="3291996"/>
            <a:ext cx="285801" cy="72256"/>
          </a:xfrm>
          <a:custGeom>
            <a:avLst/>
            <a:gdLst/>
            <a:ahLst/>
            <a:cxnLst/>
            <a:rect l="l" t="t" r="r" b="b"/>
            <a:pathLst>
              <a:path w="285801" h="72256">
                <a:moveTo>
                  <a:pt x="14" y="0"/>
                </a:moveTo>
                <a:cubicBezTo>
                  <a:pt x="0" y="5580"/>
                  <a:pt x="3236" y="10658"/>
                  <a:pt x="8300" y="13001"/>
                </a:cubicBezTo>
                <a:lnTo>
                  <a:pt x="131170" y="68864"/>
                </a:lnTo>
                <a:cubicBezTo>
                  <a:pt x="138662" y="72256"/>
                  <a:pt x="147252" y="72256"/>
                  <a:pt x="154744" y="68864"/>
                </a:cubicBezTo>
                <a:lnTo>
                  <a:pt x="277327" y="13144"/>
                </a:lnTo>
                <a:cubicBezTo>
                  <a:pt x="282495" y="10822"/>
                  <a:pt x="285801" y="5665"/>
                  <a:pt x="285757" y="0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6298" y="3034827"/>
            <a:ext cx="2945056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heterogeneous datasets across </a:t>
            </a:r>
            <a:pPr algn="l" indent="0" marL="0">
              <a:lnSpc>
                <a:spcPct val="137500"/>
              </a:lnSpc>
              <a:buNone/>
            </a:pPr>
            <a:r>
              <a:rPr lang="en-US" sz="9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 &amp; vector</a:t>
            </a:r>
            <a:pPr algn="l" indent="0" marL="0">
              <a:lnSpc>
                <a:spcPct val="137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formats drive the 27 indicators and CA simulation.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67093" y="990575"/>
            <a:ext cx="7467413" cy="2563352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62341" y="1187675"/>
            <a:ext cx="200035" cy="196347"/>
          </a:xfrm>
          <a:custGeom>
            <a:avLst/>
            <a:gdLst/>
            <a:ahLst/>
            <a:cxnLst/>
            <a:rect l="l" t="t" r="r" b="b"/>
            <a:pathLst>
              <a:path w="200035" h="196347">
                <a:moveTo>
                  <a:pt x="123422" y="26528"/>
                </a:moveTo>
                <a:cubicBezTo>
                  <a:pt x="129676" y="29653"/>
                  <a:pt x="137036" y="29653"/>
                  <a:pt x="143291" y="26528"/>
                </a:cubicBezTo>
                <a:lnTo>
                  <a:pt x="183950" y="6192"/>
                </a:lnTo>
                <a:cubicBezTo>
                  <a:pt x="187397" y="4470"/>
                  <a:pt x="191491" y="4656"/>
                  <a:pt x="194767" y="6685"/>
                </a:cubicBezTo>
                <a:cubicBezTo>
                  <a:pt x="198044" y="8714"/>
                  <a:pt x="200035" y="12295"/>
                  <a:pt x="200030" y="16149"/>
                </a:cubicBezTo>
                <a:lnTo>
                  <a:pt x="200030" y="157985"/>
                </a:lnTo>
                <a:cubicBezTo>
                  <a:pt x="200027" y="162193"/>
                  <a:pt x="197648" y="166039"/>
                  <a:pt x="193884" y="167919"/>
                </a:cubicBezTo>
                <a:lnTo>
                  <a:pt x="143291" y="193222"/>
                </a:lnTo>
                <a:cubicBezTo>
                  <a:pt x="137036" y="196347"/>
                  <a:pt x="129676" y="196347"/>
                  <a:pt x="123422" y="193222"/>
                </a:cubicBezTo>
                <a:lnTo>
                  <a:pt x="76617" y="169820"/>
                </a:lnTo>
                <a:cubicBezTo>
                  <a:pt x="70363" y="166694"/>
                  <a:pt x="63003" y="166694"/>
                  <a:pt x="56749" y="169820"/>
                </a:cubicBezTo>
                <a:lnTo>
                  <a:pt x="16089" y="190155"/>
                </a:lnTo>
                <a:cubicBezTo>
                  <a:pt x="12640" y="191879"/>
                  <a:pt x="8544" y="191691"/>
                  <a:pt x="5267" y="189660"/>
                </a:cubicBezTo>
                <a:cubicBezTo>
                  <a:pt x="1990" y="187628"/>
                  <a:pt x="0" y="184043"/>
                  <a:pt x="10" y="180187"/>
                </a:cubicBezTo>
                <a:lnTo>
                  <a:pt x="10" y="38362"/>
                </a:lnTo>
                <a:cubicBezTo>
                  <a:pt x="12" y="34154"/>
                  <a:pt x="2391" y="30309"/>
                  <a:pt x="6155" y="28428"/>
                </a:cubicBezTo>
                <a:lnTo>
                  <a:pt x="56749" y="3125"/>
                </a:lnTo>
                <a:cubicBezTo>
                  <a:pt x="63003" y="0"/>
                  <a:pt x="70363" y="0"/>
                  <a:pt x="76617" y="3125"/>
                </a:cubicBezTo>
                <a:close/>
              </a:path>
            </a:pathLst>
          </a:custGeom>
          <a:ln w="22225">
            <a:solidFill>
              <a:srgbClr val="0A97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5698" y="1216547"/>
            <a:ext cx="9525" cy="166683"/>
          </a:xfrm>
          <a:custGeom>
            <a:avLst/>
            <a:gdLst/>
            <a:ahLst/>
            <a:cxnLst/>
            <a:rect l="l" t="t" r="r" b="b"/>
            <a:pathLst>
              <a:path w="9525" h="166683">
                <a:moveTo>
                  <a:pt x="0" y="0"/>
                </a:moveTo>
                <a:lnTo>
                  <a:pt x="0" y="166683"/>
                </a:lnTo>
              </a:path>
            </a:pathLst>
          </a:custGeom>
          <a:ln w="22225">
            <a:solidFill>
              <a:srgbClr val="0A97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9024" y="1188455"/>
            <a:ext cx="9525" cy="166683"/>
          </a:xfrm>
          <a:custGeom>
            <a:avLst/>
            <a:gdLst/>
            <a:ahLst/>
            <a:cxnLst/>
            <a:rect l="l" t="t" r="r" b="b"/>
            <a:pathLst>
              <a:path w="9525" h="166683">
                <a:moveTo>
                  <a:pt x="0" y="0"/>
                </a:moveTo>
                <a:lnTo>
                  <a:pt x="0" y="166683"/>
                </a:lnTo>
              </a:path>
            </a:pathLst>
          </a:custGeom>
          <a:ln w="22225">
            <a:solidFill>
              <a:srgbClr val="0A97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1906" y="1152496"/>
            <a:ext cx="313814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Study Area &amp; Land Use Classification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899304" y="1171546"/>
            <a:ext cx="673282" cy="228594"/>
          </a:xfrm>
          <a:prstGeom prst="roundRect">
            <a:avLst>
              <a:gd name="adj" fmla="val 41662552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865015" y="1171546"/>
            <a:ext cx="741860" cy="228594"/>
          </a:xfrm>
          <a:prstGeom prst="rect">
            <a:avLst/>
          </a:prstGeom>
          <a:noFill/>
          <a:ln/>
        </p:spPr>
        <p:txBody>
          <a:bodyPr wrap="none" lIns="0" tIns="38100" rIns="0" bIns="3810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7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29014" y="1495388"/>
            <a:ext cx="7143571" cy="1896618"/>
          </a:xfrm>
          <a:prstGeom prst="roundRect">
            <a:avLst>
              <a:gd name="adj" fmla="val 6026"/>
            </a:avLst>
          </a:prstGeom>
          <a:solidFill>
            <a:srgbClr val="F4F7FA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9014" y="1495388"/>
            <a:ext cx="7143571" cy="189661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457189" y="3706323"/>
            <a:ext cx="11277318" cy="2846713"/>
          </a:xfrm>
          <a:prstGeom prst="roundRect">
            <a:avLst>
              <a:gd name="adj" fmla="val 5353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6713" y="3715848"/>
            <a:ext cx="11258269" cy="352416"/>
          </a:xfrm>
          <a:custGeom>
            <a:avLst/>
            <a:gdLst/>
            <a:ahLst/>
            <a:cxnLst/>
            <a:rect l="l" t="t" r="r" b="b"/>
            <a:pathLst>
              <a:path w="11258269" h="352416">
                <a:moveTo>
                  <a:pt x="142871" y="0"/>
                </a:moveTo>
                <a:lnTo>
                  <a:pt x="11115397" y="0"/>
                </a:lnTo>
                <a:arcTo hR="142871" wR="142871" stAng="16200000" swAng="5400000"/>
                <a:lnTo>
                  <a:pt x="11258269" y="352416"/>
                </a:lnTo>
                <a:lnTo>
                  <a:pt x="11258269" y="352416"/>
                </a:lnTo>
                <a:lnTo>
                  <a:pt x="0" y="352416"/>
                </a:lnTo>
                <a:lnTo>
                  <a:pt x="0" y="352416"/>
                </a:lnTo>
                <a:lnTo>
                  <a:pt x="0" y="142871"/>
                </a:lnTo>
                <a:arcTo hR="142871" wR="142871" stAng="10800000" swAng="5400000"/>
                <a:close/>
              </a:path>
            </a:pathLst>
          </a:custGeom>
          <a:ln/>
        </p:spPr>
      </p:sp>
      <p:sp>
        <p:nvSpPr>
          <p:cNvPr id="31" name="Shape 28"/>
          <p:cNvSpPr/>
          <p:nvPr/>
        </p:nvSpPr>
        <p:spPr>
          <a:xfrm>
            <a:off x="466713" y="4068264"/>
            <a:ext cx="11258269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9110" y="3792046"/>
            <a:ext cx="329268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2 · Sources of Multi-Source Geographic Data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038604" y="3808714"/>
            <a:ext cx="596845" cy="157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datasets</a:t>
            </a:r>
            <a:endParaRPr lang="en-US" sz="825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713" y="4068264"/>
          <a:ext cx="11258269" cy="914400"/>
        </p:xfrm>
        <a:graphic>
          <a:graphicData uri="http://schemas.openxmlformats.org/drawingml/2006/table">
            <a:tbl>
              <a:tblPr/>
              <a:tblGrid>
                <a:gridCol w="2742238"/>
                <a:gridCol w="1576348"/>
                <a:gridCol w="1183600"/>
                <a:gridCol w="1409367"/>
                <a:gridCol w="434671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200" dirty="0"/>
                    </a:p>
                  </a:txBody>
                  <a:tcPr marL="57150" marR="9525" marT="15240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Year(s)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Publisher</a:t>
                      </a:r>
                      <a:endParaRPr lang="en-US" sz="1200" dirty="0"/>
                    </a:p>
                  </a:txBody>
                  <a:tcPr marL="4114800" marR="10972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 use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GeoTiff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2010, 2015, 2020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 &amp; Environment Science and Data Center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Ecological conservation areas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Shapefile (Polygon)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(2024)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Protected Planet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GeoTiff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ASTER GDEM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 data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Shapefile (Point)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2014, 2019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GaoDe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Roads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Shapefile (Line)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2014, 2019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OpenStreetMap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Administrative divisions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Shapefile (Line)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(2024)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Geographical Information Monitoring Cloud Platform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population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GeoTiff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km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2010, 2015, 2020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WorldPop Hub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population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GeoTiff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km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2020–2050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 et al. (2022)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Waters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Shapefile (Polygon)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(2024)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OpenStreetMap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Carbon emission coefficients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Yao et al. (2023)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base station data (POIs)</a:t>
                      </a:r>
                      <a:endParaRPr lang="en-US" sz="1200" dirty="0"/>
                    </a:p>
                  </a:txBody>
                  <a:tcPr marL="28575" marR="9525" marT="152400" marB="285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(2024)</a:t>
                      </a:r>
                      <a:endParaRPr lang="en-US" sz="1200" dirty="0"/>
                    </a:p>
                  </a:txBody>
                  <a:tcPr marL="2057400" marR="685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3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OpenCelliD</a:t>
                      </a:r>
                      <a:endParaRPr lang="en-US" sz="1200" dirty="0"/>
                    </a:p>
                  </a:txBody>
                  <a:tcPr marL="2057400" marR="10972800" marT="685800" marB="2057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304792"/>
            <a:ext cx="415871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9" y="495288"/>
            <a:ext cx="4261587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1 — How Accurate Is It?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046391" y="304792"/>
            <a:ext cx="1688115" cy="342891"/>
          </a:xfrm>
          <a:prstGeom prst="roundRect">
            <a:avLst>
              <a:gd name="adj" fmla="val 27775035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06387" y="288124"/>
            <a:ext cx="1768123" cy="376228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3 · Disc. D1 · D3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189" y="990575"/>
            <a:ext cx="5562461" cy="1109635"/>
          </a:xfrm>
          <a:prstGeom prst="roundRect">
            <a:avLst>
              <a:gd name="adj" fmla="val 13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189" y="990575"/>
            <a:ext cx="5562461" cy="0"/>
          </a:xfrm>
          <a:prstGeom prst="line">
            <a:avLst/>
          </a:prstGeom>
          <a:noFill/>
          <a:ln w="38100">
            <a:solidFill>
              <a:srgbClr val="56C0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816" y="1396154"/>
            <a:ext cx="342917" cy="336595"/>
          </a:xfrm>
          <a:custGeom>
            <a:avLst/>
            <a:gdLst/>
            <a:ahLst/>
            <a:cxnLst/>
            <a:rect l="l" t="t" r="r" b="b"/>
            <a:pathLst>
              <a:path w="342917" h="336595">
                <a:moveTo>
                  <a:pt x="211580" y="45476"/>
                </a:moveTo>
                <a:cubicBezTo>
                  <a:pt x="222302" y="50833"/>
                  <a:pt x="234919" y="50833"/>
                  <a:pt x="245641" y="45476"/>
                </a:cubicBezTo>
                <a:lnTo>
                  <a:pt x="315343" y="10615"/>
                </a:lnTo>
                <a:cubicBezTo>
                  <a:pt x="321253" y="7662"/>
                  <a:pt x="328270" y="7982"/>
                  <a:pt x="333887" y="11460"/>
                </a:cubicBezTo>
                <a:cubicBezTo>
                  <a:pt x="339504" y="14938"/>
                  <a:pt x="342917" y="21077"/>
                  <a:pt x="342908" y="27684"/>
                </a:cubicBezTo>
                <a:lnTo>
                  <a:pt x="342908" y="270832"/>
                </a:lnTo>
                <a:cubicBezTo>
                  <a:pt x="342904" y="278045"/>
                  <a:pt x="338826" y="284638"/>
                  <a:pt x="332373" y="287862"/>
                </a:cubicBezTo>
                <a:lnTo>
                  <a:pt x="245641" y="331238"/>
                </a:lnTo>
                <a:cubicBezTo>
                  <a:pt x="234919" y="336595"/>
                  <a:pt x="222302" y="336595"/>
                  <a:pt x="211580" y="331238"/>
                </a:cubicBezTo>
                <a:lnTo>
                  <a:pt x="131344" y="291119"/>
                </a:lnTo>
                <a:cubicBezTo>
                  <a:pt x="120622" y="285762"/>
                  <a:pt x="108005" y="285762"/>
                  <a:pt x="97283" y="291119"/>
                </a:cubicBezTo>
                <a:lnTo>
                  <a:pt x="27581" y="325980"/>
                </a:lnTo>
                <a:cubicBezTo>
                  <a:pt x="21668" y="328935"/>
                  <a:pt x="14647" y="328613"/>
                  <a:pt x="9029" y="325131"/>
                </a:cubicBezTo>
                <a:cubicBezTo>
                  <a:pt x="3411" y="321648"/>
                  <a:pt x="0" y="315502"/>
                  <a:pt x="16" y="308893"/>
                </a:cubicBezTo>
                <a:lnTo>
                  <a:pt x="16" y="65764"/>
                </a:lnTo>
                <a:cubicBezTo>
                  <a:pt x="20" y="58550"/>
                  <a:pt x="4098" y="51958"/>
                  <a:pt x="10551" y="48733"/>
                </a:cubicBezTo>
                <a:lnTo>
                  <a:pt x="97283" y="5358"/>
                </a:lnTo>
                <a:cubicBezTo>
                  <a:pt x="108005" y="0"/>
                  <a:pt x="120622" y="0"/>
                  <a:pt x="131344" y="5358"/>
                </a:cubicBezTo>
                <a:close/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3427" y="1445649"/>
            <a:ext cx="9525" cy="285743"/>
          </a:xfrm>
          <a:custGeom>
            <a:avLst/>
            <a:gdLst/>
            <a:ahLst/>
            <a:cxnLst/>
            <a:rect l="l" t="t" r="r" b="b"/>
            <a:pathLst>
              <a:path w="9525" h="285743">
                <a:moveTo>
                  <a:pt x="0" y="0"/>
                </a:moveTo>
                <a:lnTo>
                  <a:pt x="0" y="285743"/>
                </a:lnTo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130" y="1397492"/>
            <a:ext cx="9525" cy="285743"/>
          </a:xfrm>
          <a:custGeom>
            <a:avLst/>
            <a:gdLst/>
            <a:ahLst/>
            <a:cxnLst/>
            <a:rect l="l" t="t" r="r" b="b"/>
            <a:pathLst>
              <a:path w="9525" h="285743">
                <a:moveTo>
                  <a:pt x="0" y="0"/>
                </a:moveTo>
                <a:lnTo>
                  <a:pt x="0" y="285743"/>
                </a:lnTo>
              </a:path>
            </a:pathLst>
          </a:custGeom>
          <a:ln w="38100">
            <a:solidFill>
              <a:srgbClr val="56C0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368" y="1219170"/>
            <a:ext cx="17270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CALUCC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95368" y="1409665"/>
            <a:ext cx="886398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0.128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95368" y="1752556"/>
            <a:ext cx="777816" cy="157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238914" y="1409665"/>
            <a:ext cx="886398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0.815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238914" y="1752556"/>
            <a:ext cx="777816" cy="157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6172046" y="990575"/>
            <a:ext cx="5562461" cy="1109635"/>
          </a:xfrm>
          <a:prstGeom prst="roundRect">
            <a:avLst>
              <a:gd name="adj" fmla="val 13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046" y="990575"/>
            <a:ext cx="5562461" cy="0"/>
          </a:xfrm>
          <a:prstGeom prst="line">
            <a:avLst/>
          </a:prstGeom>
          <a:noFill/>
          <a:ln w="38100">
            <a:solidFill>
              <a:srgbClr val="0A9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640" y="1716838"/>
            <a:ext cx="190" cy="9525"/>
          </a:xfrm>
          <a:custGeom>
            <a:avLst/>
            <a:gdLst/>
            <a:ahLst/>
            <a:cxnLst/>
            <a:rect l="l" t="t" r="r" b="b"/>
            <a:pathLst>
              <a:path w="190" h="9525">
                <a:moveTo>
                  <a:pt x="0" y="0"/>
                </a:moveTo>
                <a:lnTo>
                  <a:pt x="190" y="0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5888" y="1640640"/>
            <a:ext cx="9525" cy="76198"/>
          </a:xfrm>
          <a:custGeom>
            <a:avLst/>
            <a:gdLst/>
            <a:ahLst/>
            <a:cxnLst/>
            <a:rect l="l" t="t" r="r" b="b"/>
            <a:pathLst>
              <a:path w="9525" h="76198">
                <a:moveTo>
                  <a:pt x="0" y="76198"/>
                </a:moveTo>
                <a:lnTo>
                  <a:pt x="0" y="0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91135" y="1564442"/>
            <a:ext cx="9525" cy="152396"/>
          </a:xfrm>
          <a:custGeom>
            <a:avLst/>
            <a:gdLst/>
            <a:ahLst/>
            <a:cxnLst/>
            <a:rect l="l" t="t" r="r" b="b"/>
            <a:pathLst>
              <a:path w="9525" h="152396">
                <a:moveTo>
                  <a:pt x="0" y="152396"/>
                </a:moveTo>
                <a:lnTo>
                  <a:pt x="0" y="0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86383" y="1488244"/>
            <a:ext cx="9525" cy="228594"/>
          </a:xfrm>
          <a:custGeom>
            <a:avLst/>
            <a:gdLst/>
            <a:ahLst/>
            <a:cxnLst/>
            <a:rect l="l" t="t" r="r" b="b"/>
            <a:pathLst>
              <a:path w="9525" h="228594">
                <a:moveTo>
                  <a:pt x="0" y="228594"/>
                </a:moveTo>
                <a:lnTo>
                  <a:pt x="0" y="0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1630" y="1412046"/>
            <a:ext cx="9525" cy="304792"/>
          </a:xfrm>
          <a:custGeom>
            <a:avLst/>
            <a:gdLst/>
            <a:ahLst/>
            <a:cxnLst/>
            <a:rect l="l" t="t" r="r" b="b"/>
            <a:pathLst>
              <a:path w="9525" h="304792">
                <a:moveTo>
                  <a:pt x="0" y="0"/>
                </a:moveTo>
                <a:lnTo>
                  <a:pt x="0" y="304792"/>
                </a:lnTo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0225" y="1219170"/>
            <a:ext cx="172707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CAINFRA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10225" y="1409665"/>
            <a:ext cx="886398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0.263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7010225" y="1752556"/>
            <a:ext cx="777816" cy="157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953771" y="1409665"/>
            <a:ext cx="886398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0.923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7953771" y="1752556"/>
            <a:ext cx="777816" cy="157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457189" y="2252606"/>
            <a:ext cx="4609985" cy="4028974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783" y="2538349"/>
            <a:ext cx="228594" cy="157159"/>
          </a:xfrm>
          <a:custGeom>
            <a:avLst/>
            <a:gdLst/>
            <a:ahLst/>
            <a:cxnLst/>
            <a:rect l="l" t="t" r="r" b="b"/>
            <a:pathLst>
              <a:path w="228594" h="157159">
                <a:moveTo>
                  <a:pt x="228594" y="0"/>
                </a:moveTo>
                <a:lnTo>
                  <a:pt x="71436" y="157159"/>
                </a:lnTo>
                <a:lnTo>
                  <a:pt x="0" y="85723"/>
                </a:lnTo>
              </a:path>
            </a:pathLst>
          </a:custGeom>
          <a:ln w="28575">
            <a:solidFill>
              <a:srgbClr val="56C0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941" y="2595498"/>
            <a:ext cx="128584" cy="107154"/>
          </a:xfrm>
          <a:custGeom>
            <a:avLst/>
            <a:gdLst/>
            <a:ahLst/>
            <a:cxnLst/>
            <a:rect l="l" t="t" r="r" b="b"/>
            <a:pathLst>
              <a:path w="128584" h="107154">
                <a:moveTo>
                  <a:pt x="128584" y="0"/>
                </a:moveTo>
                <a:lnTo>
                  <a:pt x="21431" y="107154"/>
                </a:lnTo>
                <a:lnTo>
                  <a:pt x="0" y="85723"/>
                </a:lnTo>
              </a:path>
            </a:pathLst>
          </a:custGeom>
          <a:ln w="28575">
            <a:solidFill>
              <a:srgbClr val="56C0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4397" y="2490725"/>
            <a:ext cx="253064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Administrative-Unit Validation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57209" y="3643221"/>
            <a:ext cx="4209945" cy="457189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809605" y="3776568"/>
            <a:ext cx="138460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&gt;70% units FoM &gt; 0.1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301323" y="3757519"/>
            <a:ext cx="50487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70%+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7209" y="4214707"/>
            <a:ext cx="4209945" cy="457189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/>
        </p:spPr>
      </p:sp>
      <p:sp>
        <p:nvSpPr>
          <p:cNvPr id="37" name="Text 35"/>
          <p:cNvSpPr/>
          <p:nvPr/>
        </p:nvSpPr>
        <p:spPr>
          <a:xfrm>
            <a:off x="809605" y="4348054"/>
            <a:ext cx="130319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 units OA &gt; 0.8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01323" y="4329004"/>
            <a:ext cx="50487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90%+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7209" y="4786193"/>
            <a:ext cx="4209945" cy="561961"/>
          </a:xfrm>
          <a:prstGeom prst="roundRect">
            <a:avLst>
              <a:gd name="adj" fmla="val 20339"/>
            </a:avLst>
          </a:prstGeom>
          <a:solidFill>
            <a:srgbClr val="0A97D9">
              <a:alpha val="5000"/>
            </a:srgbClr>
          </a:solidFill>
          <a:ln w="9525">
            <a:solidFill>
              <a:srgbClr val="0A97D9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9130" y="4895728"/>
            <a:ext cx="3954681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against official statistical SDG scores (Xu et al. 2020b) as ground truth.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19570" y="2252606"/>
            <a:ext cx="6514937" cy="4028974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29094" y="2262131"/>
            <a:ext cx="6495888" cy="466713"/>
          </a:xfrm>
          <a:custGeom>
            <a:avLst/>
            <a:gdLst/>
            <a:ahLst/>
            <a:cxnLst/>
            <a:rect l="l" t="t" r="r" b="b"/>
            <a:pathLst>
              <a:path w="6495888" h="466713">
                <a:moveTo>
                  <a:pt x="142871" y="0"/>
                </a:moveTo>
                <a:lnTo>
                  <a:pt x="6353016" y="0"/>
                </a:lnTo>
                <a:arcTo hR="142871" wR="142871" stAng="16200000" swAng="5400000"/>
                <a:lnTo>
                  <a:pt x="6495888" y="466713"/>
                </a:lnTo>
                <a:lnTo>
                  <a:pt x="6495888" y="466713"/>
                </a:lnTo>
                <a:lnTo>
                  <a:pt x="0" y="466713"/>
                </a:lnTo>
                <a:lnTo>
                  <a:pt x="0" y="466713"/>
                </a:lnTo>
                <a:lnTo>
                  <a:pt x="0" y="142871"/>
                </a:lnTo>
                <a:arcTo hR="142871" wR="142871" stAng="10800000" swAng="5400000"/>
                <a:close/>
              </a:path>
            </a:pathLst>
          </a:custGeom>
          <a:ln/>
        </p:spPr>
      </p:sp>
      <p:sp>
        <p:nvSpPr>
          <p:cNvPr id="43" name="Shape 41"/>
          <p:cNvSpPr/>
          <p:nvPr/>
        </p:nvSpPr>
        <p:spPr>
          <a:xfrm>
            <a:off x="5229094" y="2728844"/>
            <a:ext cx="6495888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14837" y="2490725"/>
            <a:ext cx="111" cy="9525"/>
          </a:xfrm>
          <a:custGeom>
            <a:avLst/>
            <a:gdLst/>
            <a:ahLst/>
            <a:cxnLst/>
            <a:rect l="l" t="t" r="r" b="b"/>
            <a:pathLst>
              <a:path w="111" h="9525">
                <a:moveTo>
                  <a:pt x="0" y="0"/>
                </a:moveTo>
                <a:lnTo>
                  <a:pt x="111" y="0"/>
                </a:lnTo>
              </a:path>
            </a:pathLst>
          </a:custGeom>
          <a:ln w="22225">
            <a:solidFill>
              <a:srgbClr val="E457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63221" y="2529219"/>
            <a:ext cx="103232" cy="75732"/>
          </a:xfrm>
          <a:custGeom>
            <a:avLst/>
            <a:gdLst/>
            <a:ahLst/>
            <a:cxnLst/>
            <a:rect l="l" t="t" r="r" b="b"/>
            <a:pathLst>
              <a:path w="103232" h="75732">
                <a:moveTo>
                  <a:pt x="73840" y="0"/>
                </a:moveTo>
                <a:cubicBezTo>
                  <a:pt x="60088" y="7940"/>
                  <a:pt x="43144" y="7940"/>
                  <a:pt x="29391" y="0"/>
                </a:cubicBezTo>
                <a:lnTo>
                  <a:pt x="1920" y="47581"/>
                </a:lnTo>
                <a:cubicBezTo>
                  <a:pt x="340" y="50319"/>
                  <a:pt x="0" y="53601"/>
                  <a:pt x="987" y="56605"/>
                </a:cubicBezTo>
                <a:cubicBezTo>
                  <a:pt x="1973" y="59609"/>
                  <a:pt x="4193" y="62050"/>
                  <a:pt x="7090" y="63318"/>
                </a:cubicBezTo>
                <a:cubicBezTo>
                  <a:pt x="35476" y="75732"/>
                  <a:pt x="67756" y="75732"/>
                  <a:pt x="96142" y="63318"/>
                </a:cubicBezTo>
                <a:cubicBezTo>
                  <a:pt x="99039" y="62050"/>
                  <a:pt x="101258" y="59609"/>
                  <a:pt x="102245" y="56605"/>
                </a:cubicBezTo>
                <a:cubicBezTo>
                  <a:pt x="103232" y="53601"/>
                  <a:pt x="102892" y="50319"/>
                  <a:pt x="101311" y="47581"/>
                </a:cubicBezTo>
                <a:close/>
              </a:path>
            </a:pathLst>
          </a:custGeom>
          <a:ln w="22225">
            <a:solidFill>
              <a:srgbClr val="E457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37062" y="2398678"/>
            <a:ext cx="88553" cy="92048"/>
          </a:xfrm>
          <a:custGeom>
            <a:avLst/>
            <a:gdLst/>
            <a:ahLst/>
            <a:cxnLst/>
            <a:rect l="l" t="t" r="r" b="b"/>
            <a:pathLst>
              <a:path w="88553" h="92048">
                <a:moveTo>
                  <a:pt x="22224" y="92048"/>
                </a:moveTo>
                <a:cubicBezTo>
                  <a:pt x="22224" y="76168"/>
                  <a:pt x="13752" y="61495"/>
                  <a:pt x="0" y="53555"/>
                </a:cubicBezTo>
                <a:lnTo>
                  <a:pt x="27469" y="5972"/>
                </a:lnTo>
                <a:cubicBezTo>
                  <a:pt x="29050" y="3231"/>
                  <a:pt x="31725" y="1294"/>
                  <a:pt x="34823" y="647"/>
                </a:cubicBezTo>
                <a:cubicBezTo>
                  <a:pt x="37920" y="0"/>
                  <a:pt x="41147" y="704"/>
                  <a:pt x="43693" y="2583"/>
                </a:cubicBezTo>
                <a:cubicBezTo>
                  <a:pt x="68633" y="20961"/>
                  <a:pt x="84769" y="48914"/>
                  <a:pt x="88209" y="79702"/>
                </a:cubicBezTo>
                <a:cubicBezTo>
                  <a:pt x="88553" y="82740"/>
                  <a:pt x="87630" y="85785"/>
                  <a:pt x="85658" y="88121"/>
                </a:cubicBezTo>
                <a:cubicBezTo>
                  <a:pt x="83686" y="90457"/>
                  <a:pt x="80838" y="91878"/>
                  <a:pt x="77786" y="92048"/>
                </a:cubicBezTo>
                <a:close/>
              </a:path>
            </a:pathLst>
          </a:custGeom>
          <a:ln w="22225">
            <a:solidFill>
              <a:srgbClr val="E457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04060" y="2398678"/>
            <a:ext cx="88553" cy="92048"/>
          </a:xfrm>
          <a:custGeom>
            <a:avLst/>
            <a:gdLst/>
            <a:ahLst/>
            <a:cxnLst/>
            <a:rect l="l" t="t" r="r" b="b"/>
            <a:pathLst>
              <a:path w="88553" h="92048">
                <a:moveTo>
                  <a:pt x="66328" y="92048"/>
                </a:moveTo>
                <a:cubicBezTo>
                  <a:pt x="66329" y="76168"/>
                  <a:pt x="74801" y="61495"/>
                  <a:pt x="88553" y="53555"/>
                </a:cubicBezTo>
                <a:lnTo>
                  <a:pt x="61083" y="5972"/>
                </a:lnTo>
                <a:cubicBezTo>
                  <a:pt x="59502" y="3231"/>
                  <a:pt x="56828" y="1294"/>
                  <a:pt x="53730" y="647"/>
                </a:cubicBezTo>
                <a:cubicBezTo>
                  <a:pt x="50632" y="0"/>
                  <a:pt x="47406" y="704"/>
                  <a:pt x="44860" y="2583"/>
                </a:cubicBezTo>
                <a:cubicBezTo>
                  <a:pt x="19920" y="20961"/>
                  <a:pt x="3784" y="48914"/>
                  <a:pt x="344" y="79702"/>
                </a:cubicBezTo>
                <a:cubicBezTo>
                  <a:pt x="0" y="82740"/>
                  <a:pt x="923" y="85785"/>
                  <a:pt x="2895" y="88121"/>
                </a:cubicBezTo>
                <a:cubicBezTo>
                  <a:pt x="4867" y="90457"/>
                  <a:pt x="7715" y="91878"/>
                  <a:pt x="10767" y="92048"/>
                </a:cubicBezTo>
                <a:close/>
              </a:path>
            </a:pathLst>
          </a:custGeom>
          <a:ln w="22225">
            <a:solidFill>
              <a:srgbClr val="E457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4382" y="2357379"/>
            <a:ext cx="336390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 3 · Correlation with Official Scores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0765957" y="2412146"/>
            <a:ext cx="869492" cy="157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r + t-test</a:t>
            </a:r>
            <a:endParaRPr lang="en-US" sz="825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29094" y="2728844"/>
          <a:ext cx="6495888" cy="914400"/>
        </p:xfrm>
        <a:graphic>
          <a:graphicData uri="http://schemas.openxmlformats.org/drawingml/2006/table">
            <a:tbl>
              <a:tblPr/>
              <a:tblGrid>
                <a:gridCol w="2627197"/>
                <a:gridCol w="1577241"/>
                <a:gridCol w="987301"/>
                <a:gridCol w="13041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type</a:t>
                      </a:r>
                      <a:endParaRPr lang="en-US" sz="1200" dirty="0"/>
                    </a:p>
                  </a:txBody>
                  <a:tcPr marL="57150" marR="9525" marT="15240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Correlation r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t-test (p)</a:t>
                      </a:r>
                      <a:endParaRPr lang="en-US" sz="1200" dirty="0"/>
                    </a:p>
                  </a:txBody>
                  <a:tcPr marL="4114800" marR="685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200" dirty="0"/>
                    </a:p>
                  </a:txBody>
                  <a:tcPr marL="4114800" marR="10972800" marT="685800" marB="411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7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2 · End Hunger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0.380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0.269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n.s.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3 · Good Health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0.415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4 · Education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0.475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6 · Clean Water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0.604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7 · Clean Energy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0.311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0.294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n.s.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9 · Infrastructure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0.421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0.762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n.s.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11 · Cities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0.898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13 · Climate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−0.141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(−)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14 · Life Below Water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0.370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0.072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457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15 · Life on Land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0.831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6C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SDG Score (overall)</a:t>
                      </a:r>
                      <a:endParaRPr lang="en-US" sz="1200" dirty="0"/>
                    </a:p>
                  </a:txBody>
                  <a:tcPr marL="38100" marR="9525" marT="1524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0.283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A97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200" dirty="0"/>
                    </a:p>
                  </a:txBody>
                  <a:tcPr marL="2743200" marR="685800" marT="685800" marB="2743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1" name="Text 48"/>
          <p:cNvSpPr/>
          <p:nvPr/>
        </p:nvSpPr>
        <p:spPr>
          <a:xfrm>
            <a:off x="425757" y="6395878"/>
            <a:ext cx="11340181" cy="15715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25" b="1" spc="21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where indicators directly reflect land cover &amp; ecology (SDG 11/15, r &gt; 0.8); weakest for socio-economic proxies (SDG 2/7/9)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380990"/>
            <a:ext cx="858978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647684"/>
            <a:ext cx="8784093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2 — How Far Ahead Can It Look?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62058" y="380990"/>
            <a:ext cx="1120052" cy="342891"/>
          </a:xfrm>
          <a:prstGeom prst="roundRect">
            <a:avLst>
              <a:gd name="adj" fmla="val 27775035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22054" y="364322"/>
            <a:ext cx="1200060" cy="376228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Disc. D1 · D5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9585" y="1295368"/>
            <a:ext cx="4438539" cy="1352516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38199" y="1595398"/>
            <a:ext cx="85723" cy="85723"/>
          </a:xfrm>
          <a:custGeom>
            <a:avLst/>
            <a:gdLst/>
            <a:ahLst/>
            <a:cxnLst/>
            <a:rect l="l" t="t" r="r" b="b"/>
            <a:pathLst>
              <a:path w="85723" h="85723">
                <a:moveTo>
                  <a:pt x="0" y="0"/>
                </a:moveTo>
                <a:lnTo>
                  <a:pt x="85723" y="0"/>
                </a:lnTo>
                <a:lnTo>
                  <a:pt x="85723" y="85723"/>
                </a:lnTo>
              </a:path>
            </a:pathLst>
          </a:custGeom>
          <a:ln w="28575">
            <a:solidFill>
              <a:srgbClr val="56C0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179" y="1595398"/>
            <a:ext cx="285743" cy="142871"/>
          </a:xfrm>
          <a:custGeom>
            <a:avLst/>
            <a:gdLst/>
            <a:ahLst/>
            <a:cxnLst/>
            <a:rect l="l" t="t" r="r" b="b"/>
            <a:pathLst>
              <a:path w="285743" h="142871">
                <a:moveTo>
                  <a:pt x="285743" y="0"/>
                </a:moveTo>
                <a:lnTo>
                  <a:pt x="164302" y="121441"/>
                </a:lnTo>
                <a:lnTo>
                  <a:pt x="92866" y="50005"/>
                </a:lnTo>
                <a:lnTo>
                  <a:pt x="0" y="142871"/>
                </a:lnTo>
              </a:path>
            </a:pathLst>
          </a:custGeom>
          <a:ln w="28575">
            <a:solidFill>
              <a:srgbClr val="56C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793" y="1533487"/>
            <a:ext cx="188858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Overall Scores Rise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9605" y="1933527"/>
            <a:ext cx="4129937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scenarios improve; </a:t>
            </a:r>
            <a:pPr algn="l" indent="0" marL="0">
              <a:lnSpc>
                <a:spcPct val="162500"/>
              </a:lnSpc>
              <a:buNone/>
            </a:pPr>
            <a:r>
              <a:rPr lang="en-US" sz="120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SSP1 / SSP2 / SSP5</a:t>
            </a:r>
            <a:pPr algn="l" indent="0" marL="0">
              <a:lnSpc>
                <a:spcPct val="1625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reach the highest by 2050.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585" y="2800280"/>
            <a:ext cx="4438539" cy="110487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81040" y="3314617"/>
            <a:ext cx="200020" cy="9525"/>
          </a:xfrm>
          <a:custGeom>
            <a:avLst/>
            <a:gdLst/>
            <a:ahLst/>
            <a:cxnLst/>
            <a:rect l="l" t="t" r="r" b="b"/>
            <a:pathLst>
              <a:path w="200020" h="9525">
                <a:moveTo>
                  <a:pt x="0" y="0"/>
                </a:moveTo>
                <a:lnTo>
                  <a:pt x="200020" y="0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1040" y="3028874"/>
            <a:ext cx="200020" cy="9525"/>
          </a:xfrm>
          <a:custGeom>
            <a:avLst/>
            <a:gdLst/>
            <a:ahLst/>
            <a:cxnLst/>
            <a:rect l="l" t="t" r="r" b="b"/>
            <a:pathLst>
              <a:path w="200020" h="9525">
                <a:moveTo>
                  <a:pt x="0" y="0"/>
                </a:moveTo>
                <a:lnTo>
                  <a:pt x="200020" y="0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615" y="3171746"/>
            <a:ext cx="142871" cy="142871"/>
          </a:xfrm>
          <a:custGeom>
            <a:avLst/>
            <a:gdLst/>
            <a:ahLst/>
            <a:cxnLst/>
            <a:rect l="l" t="t" r="r" b="b"/>
            <a:pathLst>
              <a:path w="142871" h="142871">
                <a:moveTo>
                  <a:pt x="142871" y="142871"/>
                </a:moveTo>
                <a:lnTo>
                  <a:pt x="142871" y="83265"/>
                </a:lnTo>
                <a:cubicBezTo>
                  <a:pt x="142870" y="75688"/>
                  <a:pt x="139858" y="68421"/>
                  <a:pt x="134499" y="63063"/>
                </a:cubicBezTo>
                <a:lnTo>
                  <a:pt x="71436" y="0"/>
                </a:lnTo>
                <a:lnTo>
                  <a:pt x="8372" y="63063"/>
                </a:lnTo>
                <a:cubicBezTo>
                  <a:pt x="3013" y="68421"/>
                  <a:pt x="2" y="75688"/>
                  <a:pt x="0" y="83265"/>
                </a:cubicBezTo>
                <a:lnTo>
                  <a:pt x="0" y="142871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615" y="3028874"/>
            <a:ext cx="142871" cy="142871"/>
          </a:xfrm>
          <a:custGeom>
            <a:avLst/>
            <a:gdLst/>
            <a:ahLst/>
            <a:cxnLst/>
            <a:rect l="l" t="t" r="r" b="b"/>
            <a:pathLst>
              <a:path w="142871" h="142871">
                <a:moveTo>
                  <a:pt x="0" y="0"/>
                </a:moveTo>
                <a:lnTo>
                  <a:pt x="0" y="59606"/>
                </a:lnTo>
                <a:cubicBezTo>
                  <a:pt x="2" y="67184"/>
                  <a:pt x="3013" y="74451"/>
                  <a:pt x="8372" y="79808"/>
                </a:cubicBezTo>
                <a:lnTo>
                  <a:pt x="71436" y="142871"/>
                </a:lnTo>
                <a:lnTo>
                  <a:pt x="134499" y="79808"/>
                </a:lnTo>
                <a:cubicBezTo>
                  <a:pt x="139858" y="74451"/>
                  <a:pt x="142870" y="67184"/>
                  <a:pt x="142871" y="59606"/>
                </a:cubicBezTo>
                <a:lnTo>
                  <a:pt x="142871" y="0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6793" y="3038399"/>
            <a:ext cx="2594009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Critical Window: 2030–2035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605" y="3457489"/>
            <a:ext cx="412993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fluctuation period where trajectories diverge.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585" y="4057549"/>
            <a:ext cx="4438539" cy="2419290"/>
          </a:xfrm>
          <a:prstGeom prst="roundRect">
            <a:avLst>
              <a:gd name="adj" fmla="val 6299"/>
            </a:avLst>
          </a:prstGeom>
          <a:solidFill>
            <a:srgbClr val="0F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800080" y="4327814"/>
            <a:ext cx="4148986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Temporal Patterns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080" y="4670705"/>
            <a:ext cx="4057549" cy="361941"/>
          </a:xfrm>
          <a:prstGeom prst="roundRect">
            <a:avLst>
              <a:gd name="adj" fmla="val 3157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2001" y="4794527"/>
            <a:ext cx="114297" cy="114297"/>
          </a:xfrm>
          <a:prstGeom prst="ellipse">
            <a:avLst/>
          </a:prstGeom>
          <a:solidFill>
            <a:srgbClr val="56C02B"/>
          </a:solidFill>
          <a:ln/>
        </p:spPr>
      </p:sp>
      <p:sp>
        <p:nvSpPr>
          <p:cNvPr id="23" name="Text 21"/>
          <p:cNvSpPr/>
          <p:nvPr/>
        </p:nvSpPr>
        <p:spPr>
          <a:xfrm>
            <a:off x="1190595" y="4756428"/>
            <a:ext cx="136227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improvement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0080" y="5108844"/>
            <a:ext cx="4057549" cy="361941"/>
          </a:xfrm>
          <a:prstGeom prst="roundRect">
            <a:avLst>
              <a:gd name="adj" fmla="val 3157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2001" y="5232666"/>
            <a:ext cx="114297" cy="114297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1190595" y="5194567"/>
            <a:ext cx="101403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decline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080" y="5546983"/>
            <a:ext cx="4057549" cy="361941"/>
          </a:xfrm>
          <a:prstGeom prst="roundRect">
            <a:avLst>
              <a:gd name="adj" fmla="val 3157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2001" y="5670805"/>
            <a:ext cx="114297" cy="114297"/>
          </a:xfrm>
          <a:prstGeom prst="ellipse">
            <a:avLst/>
          </a:prstGeom>
          <a:solidFill>
            <a:srgbClr val="0A97D9"/>
          </a:solidFill>
          <a:ln/>
        </p:spPr>
      </p:sp>
      <p:sp>
        <p:nvSpPr>
          <p:cNvPr id="29" name="Text 27"/>
          <p:cNvSpPr/>
          <p:nvPr/>
        </p:nvSpPr>
        <p:spPr>
          <a:xfrm>
            <a:off x="1190595" y="5632706"/>
            <a:ext cx="73230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0080" y="6023221"/>
            <a:ext cx="4137557" cy="183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6/7/13/14 strong (&gt;90) · SDG 2/15 decline · SDG 11 fluctuates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76718" y="1295368"/>
            <a:ext cx="6305392" cy="518147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19600" y="1538249"/>
            <a:ext cx="257169" cy="257169"/>
          </a:xfrm>
          <a:custGeom>
            <a:avLst/>
            <a:gdLst/>
            <a:ahLst/>
            <a:cxnLst/>
            <a:rect l="l" t="t" r="r" b="b"/>
            <a:pathLst>
              <a:path w="257169" h="257169">
                <a:moveTo>
                  <a:pt x="0" y="0"/>
                </a:moveTo>
                <a:lnTo>
                  <a:pt x="0" y="228594"/>
                </a:lnTo>
                <a:cubicBezTo>
                  <a:pt x="0" y="244375"/>
                  <a:pt x="12793" y="257169"/>
                  <a:pt x="28574" y="257169"/>
                </a:cubicBezTo>
                <a:lnTo>
                  <a:pt x="257169" y="257169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6748" y="1623972"/>
            <a:ext cx="171446" cy="71436"/>
          </a:xfrm>
          <a:custGeom>
            <a:avLst/>
            <a:gdLst/>
            <a:ahLst/>
            <a:cxnLst/>
            <a:rect l="l" t="t" r="r" b="b"/>
            <a:pathLst>
              <a:path w="171446" h="71436">
                <a:moveTo>
                  <a:pt x="171446" y="0"/>
                </a:moveTo>
                <a:lnTo>
                  <a:pt x="100010" y="71436"/>
                </a:lnTo>
                <a:lnTo>
                  <a:pt x="42861" y="14287"/>
                </a:lnTo>
                <a:lnTo>
                  <a:pt x="0" y="57149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33927" y="1533487"/>
            <a:ext cx="3660039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Simulated SDG Trajectories, 2020–2050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708809" y="1552536"/>
            <a:ext cx="673282" cy="228594"/>
          </a:xfrm>
          <a:prstGeom prst="roundRect">
            <a:avLst>
              <a:gd name="adj" fmla="val 41662552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674520" y="1552536"/>
            <a:ext cx="741860" cy="228594"/>
          </a:xfrm>
          <a:prstGeom prst="rect">
            <a:avLst/>
          </a:prstGeom>
          <a:noFill/>
          <a:ln/>
        </p:spPr>
        <p:txBody>
          <a:bodyPr wrap="none" lIns="0" tIns="38100" rIns="0" bIns="3810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76738" y="1952576"/>
            <a:ext cx="5905352" cy="4324242"/>
          </a:xfrm>
          <a:prstGeom prst="roundRect">
            <a:avLst>
              <a:gd name="adj" fmla="val 2643"/>
            </a:avLst>
          </a:prstGeom>
          <a:solidFill>
            <a:srgbClr val="F4F7FA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6738" y="1952576"/>
            <a:ext cx="5905352" cy="43242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903640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9230715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3 — How Fine-Grained Is the View?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751075" y="457189"/>
            <a:ext cx="831035" cy="342891"/>
          </a:xfrm>
          <a:prstGeom prst="roundRect">
            <a:avLst>
              <a:gd name="adj" fmla="val 27775035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11071" y="440520"/>
            <a:ext cx="911043" cy="376228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Disc. D5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9585" y="1447764"/>
            <a:ext cx="4438539" cy="1352516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9585" y="1447764"/>
            <a:ext cx="4438539" cy="0"/>
          </a:xfrm>
          <a:prstGeom prst="line">
            <a:avLst/>
          </a:prstGeom>
          <a:noFill/>
          <a:ln w="38100">
            <a:solidFill>
              <a:srgbClr val="0A9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080" y="1676358"/>
            <a:ext cx="412612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· 2020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0080" y="1885903"/>
            <a:ext cx="4171846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 Center, Low Edges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080" y="2171646"/>
            <a:ext cx="4148986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37500"/>
              </a:lnSpc>
              <a:buNone/>
            </a:pPr>
            <a:r>
              <a:rPr lang="en-US" sz="1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high, north–south low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distribution across the delta.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585" y="2952676"/>
            <a:ext cx="4438539" cy="1352516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585" y="2952676"/>
            <a:ext cx="4438539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080" y="3181270"/>
            <a:ext cx="412612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0080" y="3390815"/>
            <a:ext cx="4171846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SSP3: Largest Imbalance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0080" y="3676558"/>
            <a:ext cx="4148986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SSP2 / SSP4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improve least; </a:t>
            </a:r>
            <a:pPr algn="l" indent="0" marL="0">
              <a:lnSpc>
                <a:spcPct val="1375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SSP3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the greatest imbalance.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585" y="4457589"/>
            <a:ext cx="4438539" cy="1352516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9585" y="4457589"/>
            <a:ext cx="4438539" cy="0"/>
          </a:xfrm>
          <a:prstGeom prst="line">
            <a:avLst/>
          </a:prstGeom>
          <a:noFill/>
          <a:ln w="38100">
            <a:solidFill>
              <a:srgbClr val="56C0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080" y="4686183"/>
            <a:ext cx="4126127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0080" y="4895728"/>
            <a:ext cx="4171846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SSP3: Largest Uplift · SSP4: Widest Gap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080" y="5181470"/>
            <a:ext cx="4148986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Underdeveloped areas improve most; </a:t>
            </a:r>
            <a:pPr algn="l" indent="0" marL="0">
              <a:lnSpc>
                <a:spcPct val="137500"/>
              </a:lnSpc>
              <a:buNone/>
            </a:pPr>
            <a:r>
              <a:rPr lang="en-US" sz="120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SSP3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gains the most, </a:t>
            </a:r>
            <a:pPr algn="l" indent="0" marL="0">
              <a:lnSpc>
                <a:spcPct val="1375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SSP4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stays the most unequal.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585" y="5962501"/>
            <a:ext cx="4438539" cy="723882"/>
          </a:xfrm>
          <a:prstGeom prst="roundRect">
            <a:avLst>
              <a:gd name="adj" fmla="val 21053"/>
            </a:avLst>
          </a:prstGeom>
          <a:solidFill>
            <a:srgbClr val="0F2740"/>
          </a:solidFill>
          <a:ln/>
        </p:spPr>
      </p:sp>
      <p:sp>
        <p:nvSpPr>
          <p:cNvPr id="23" name="Shape 21"/>
          <p:cNvSpPr/>
          <p:nvPr/>
        </p:nvSpPr>
        <p:spPr>
          <a:xfrm>
            <a:off x="885803" y="6181570"/>
            <a:ext cx="253994" cy="253994"/>
          </a:xfrm>
          <a:prstGeom prst="ellipse">
            <a:avLst/>
          </a:prstGeom>
          <a:ln w="3175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2491" y="6398259"/>
            <a:ext cx="69055" cy="69055"/>
          </a:xfrm>
          <a:custGeom>
            <a:avLst/>
            <a:gdLst/>
            <a:ahLst/>
            <a:cxnLst/>
            <a:rect l="l" t="t" r="r" b="b"/>
            <a:pathLst>
              <a:path w="69055" h="69055">
                <a:moveTo>
                  <a:pt x="69055" y="69055"/>
                </a:moveTo>
                <a:lnTo>
                  <a:pt x="0" y="0"/>
                </a:ln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800" y="6260943"/>
            <a:ext cx="9525" cy="95248"/>
          </a:xfrm>
          <a:custGeom>
            <a:avLst/>
            <a:gdLst/>
            <a:ahLst/>
            <a:cxnLst/>
            <a:rect l="l" t="t" r="r" b="b"/>
            <a:pathLst>
              <a:path w="9525" h="95248">
                <a:moveTo>
                  <a:pt x="0" y="0"/>
                </a:moveTo>
                <a:lnTo>
                  <a:pt x="0" y="95248"/>
                </a:ln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5176" y="6308567"/>
            <a:ext cx="95248" cy="9525"/>
          </a:xfrm>
          <a:custGeom>
            <a:avLst/>
            <a:gdLst/>
            <a:ahLst/>
            <a:cxnLst/>
            <a:rect l="l" t="t" r="r" b="b"/>
            <a:pathLst>
              <a:path w="95248" h="9525">
                <a:moveTo>
                  <a:pt x="0" y="0"/>
                </a:moveTo>
                <a:lnTo>
                  <a:pt x="95248" y="0"/>
                </a:ln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566" y="6095848"/>
            <a:ext cx="3539402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</a:t>
            </a:r>
            <a:pPr algn="l" indent="0" marL="0">
              <a:lnSpc>
                <a:spcPct val="137500"/>
              </a:lnSpc>
              <a:buNone/>
            </a:pPr>
            <a:r>
              <a:rPr lang="en-US" sz="120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performance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</a:t>
            </a:r>
            <a:pPr algn="l" indent="0" marL="0">
              <a:lnSpc>
                <a:spcPct val="137500"/>
              </a:lnSpc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intra-regional inequality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76718" y="1447764"/>
            <a:ext cx="6305392" cy="5238619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19587" y="1693013"/>
            <a:ext cx="257188" cy="252446"/>
          </a:xfrm>
          <a:custGeom>
            <a:avLst/>
            <a:gdLst/>
            <a:ahLst/>
            <a:cxnLst/>
            <a:rect l="l" t="t" r="r" b="b"/>
            <a:pathLst>
              <a:path w="257188" h="252446">
                <a:moveTo>
                  <a:pt x="158685" y="34107"/>
                </a:moveTo>
                <a:cubicBezTo>
                  <a:pt x="166726" y="38125"/>
                  <a:pt x="176190" y="38125"/>
                  <a:pt x="184231" y="34107"/>
                </a:cubicBezTo>
                <a:lnTo>
                  <a:pt x="236507" y="7961"/>
                </a:lnTo>
                <a:cubicBezTo>
                  <a:pt x="240939" y="5747"/>
                  <a:pt x="246203" y="5986"/>
                  <a:pt x="250415" y="8595"/>
                </a:cubicBezTo>
                <a:cubicBezTo>
                  <a:pt x="254628" y="11203"/>
                  <a:pt x="257188" y="15808"/>
                  <a:pt x="257181" y="20763"/>
                </a:cubicBezTo>
                <a:lnTo>
                  <a:pt x="257181" y="203124"/>
                </a:lnTo>
                <a:cubicBezTo>
                  <a:pt x="257178" y="208534"/>
                  <a:pt x="254119" y="213478"/>
                  <a:pt x="249280" y="215896"/>
                </a:cubicBezTo>
                <a:lnTo>
                  <a:pt x="184231" y="248428"/>
                </a:lnTo>
                <a:cubicBezTo>
                  <a:pt x="176190" y="252446"/>
                  <a:pt x="166726" y="252446"/>
                  <a:pt x="158685" y="248428"/>
                </a:cubicBezTo>
                <a:lnTo>
                  <a:pt x="98508" y="218340"/>
                </a:lnTo>
                <a:cubicBezTo>
                  <a:pt x="90467" y="214321"/>
                  <a:pt x="81003" y="214321"/>
                  <a:pt x="72962" y="218340"/>
                </a:cubicBezTo>
                <a:lnTo>
                  <a:pt x="20686" y="244485"/>
                </a:lnTo>
                <a:cubicBezTo>
                  <a:pt x="16251" y="246701"/>
                  <a:pt x="10985" y="246460"/>
                  <a:pt x="6772" y="243848"/>
                </a:cubicBezTo>
                <a:cubicBezTo>
                  <a:pt x="2558" y="241236"/>
                  <a:pt x="0" y="236627"/>
                  <a:pt x="12" y="231669"/>
                </a:cubicBezTo>
                <a:lnTo>
                  <a:pt x="12" y="49323"/>
                </a:lnTo>
                <a:cubicBezTo>
                  <a:pt x="15" y="43913"/>
                  <a:pt x="3074" y="38968"/>
                  <a:pt x="7913" y="36550"/>
                </a:cubicBezTo>
                <a:lnTo>
                  <a:pt x="72962" y="4018"/>
                </a:lnTo>
                <a:cubicBezTo>
                  <a:pt x="81003" y="0"/>
                  <a:pt x="90467" y="0"/>
                  <a:pt x="98508" y="4018"/>
                </a:cubicBezTo>
                <a:close/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91045" y="1730135"/>
            <a:ext cx="9525" cy="214307"/>
          </a:xfrm>
          <a:custGeom>
            <a:avLst/>
            <a:gdLst/>
            <a:ahLst/>
            <a:cxnLst/>
            <a:rect l="l" t="t" r="r" b="b"/>
            <a:pathLst>
              <a:path w="9525" h="214307">
                <a:moveTo>
                  <a:pt x="0" y="0"/>
                </a:moveTo>
                <a:lnTo>
                  <a:pt x="0" y="214307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05322" y="1694017"/>
            <a:ext cx="9525" cy="214307"/>
          </a:xfrm>
          <a:custGeom>
            <a:avLst/>
            <a:gdLst/>
            <a:ahLst/>
            <a:cxnLst/>
            <a:rect l="l" t="t" r="r" b="b"/>
            <a:pathLst>
              <a:path w="9525" h="214307">
                <a:moveTo>
                  <a:pt x="0" y="0"/>
                </a:moveTo>
                <a:lnTo>
                  <a:pt x="0" y="214307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33927" y="1685883"/>
            <a:ext cx="385306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Spatial Patterns of SDG Composite Index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645261" y="1704932"/>
            <a:ext cx="736830" cy="228594"/>
          </a:xfrm>
          <a:prstGeom prst="roundRect">
            <a:avLst>
              <a:gd name="adj" fmla="val 41662552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610972" y="1704932"/>
            <a:ext cx="805408" cy="228594"/>
          </a:xfrm>
          <a:prstGeom prst="rect">
            <a:avLst/>
          </a:prstGeom>
          <a:noFill/>
          <a:ln/>
        </p:spPr>
        <p:txBody>
          <a:bodyPr wrap="none" lIns="0" tIns="38100" rIns="0" bIns="3810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76738" y="2104972"/>
            <a:ext cx="5905352" cy="438139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6738" y="2104972"/>
            <a:ext cx="5905352" cy="43813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860660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8800910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4 — Where Should We Intervene?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751075" y="457189"/>
            <a:ext cx="831035" cy="342891"/>
          </a:xfrm>
          <a:prstGeom prst="roundRect">
            <a:avLst>
              <a:gd name="adj" fmla="val 27775035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11071" y="440520"/>
            <a:ext cx="911043" cy="376228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Disc. D6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9585" y="1447764"/>
            <a:ext cx="4438539" cy="175255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9585" y="1447764"/>
            <a:ext cx="4438539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8654" y="1704932"/>
            <a:ext cx="285743" cy="285743"/>
          </a:xfrm>
          <a:prstGeom prst="ellipse">
            <a:avLst/>
          </a:prstGeom>
          <a:ln w="28575">
            <a:solidFill>
              <a:srgbClr val="E457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5803" y="1762081"/>
            <a:ext cx="171446" cy="171446"/>
          </a:xfrm>
          <a:prstGeom prst="ellipse">
            <a:avLst/>
          </a:prstGeom>
          <a:ln w="28575">
            <a:solidFill>
              <a:srgbClr val="E457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2951" y="1819230"/>
            <a:ext cx="57149" cy="57149"/>
          </a:xfrm>
          <a:prstGeom prst="ellipse">
            <a:avLst/>
          </a:prstGeom>
          <a:ln w="28575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7269" y="1714457"/>
            <a:ext cx="182190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2030 Priority Areas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0080" y="2133547"/>
            <a:ext cx="1460176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457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&gt;15,000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00080" y="2552636"/>
            <a:ext cx="132301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SSP3 · km² (largest)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3115" y="2133547"/>
            <a:ext cx="1317156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8,667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283115" y="2552636"/>
            <a:ext cx="1179999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SSP2 · km² (smallest)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0080" y="2819330"/>
            <a:ext cx="413755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</a:t>
            </a:r>
            <a:pPr algn="l" indent="0" marL="0">
              <a:buNone/>
            </a:pPr>
            <a:r>
              <a:rPr lang="en-US" sz="10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overlap across multiple SDGs.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9585" y="3352716"/>
            <a:ext cx="4438539" cy="175255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9585" y="3352716"/>
            <a:ext cx="4438539" cy="0"/>
          </a:xfrm>
          <a:prstGeom prst="line">
            <a:avLst/>
          </a:prstGeom>
          <a:noFill/>
          <a:ln w="38100">
            <a:solidFill>
              <a:srgbClr val="0A97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7229" y="3609885"/>
            <a:ext cx="228594" cy="285743"/>
          </a:xfrm>
          <a:custGeom>
            <a:avLst/>
            <a:gdLst/>
            <a:ahLst/>
            <a:cxnLst/>
            <a:rect l="l" t="t" r="r" b="b"/>
            <a:pathLst>
              <a:path w="228594" h="285743">
                <a:moveTo>
                  <a:pt x="0" y="285743"/>
                </a:moveTo>
                <a:lnTo>
                  <a:pt x="0" y="28574"/>
                </a:lnTo>
                <a:cubicBezTo>
                  <a:pt x="0" y="24077"/>
                  <a:pt x="2117" y="19843"/>
                  <a:pt x="5715" y="17145"/>
                </a:cubicBezTo>
                <a:cubicBezTo>
                  <a:pt x="20553" y="6016"/>
                  <a:pt x="38601" y="0"/>
                  <a:pt x="57149" y="0"/>
                </a:cubicBezTo>
                <a:cubicBezTo>
                  <a:pt x="100010" y="0"/>
                  <a:pt x="128584" y="28574"/>
                  <a:pt x="161916" y="28574"/>
                </a:cubicBezTo>
                <a:quadBezTo>
                  <a:pt x="190490" y="28574"/>
                  <a:pt x="205735" y="17145"/>
                </a:quadBezTo>
                <a:cubicBezTo>
                  <a:pt x="210064" y="13898"/>
                  <a:pt x="215856" y="13375"/>
                  <a:pt x="220697" y="15795"/>
                </a:cubicBezTo>
                <a:cubicBezTo>
                  <a:pt x="225537" y="18216"/>
                  <a:pt x="228594" y="23163"/>
                  <a:pt x="228594" y="28574"/>
                </a:cubicBezTo>
                <a:lnTo>
                  <a:pt x="228594" y="171446"/>
                </a:lnTo>
                <a:cubicBezTo>
                  <a:pt x="228594" y="175943"/>
                  <a:pt x="226477" y="180177"/>
                  <a:pt x="222879" y="182875"/>
                </a:cubicBezTo>
                <a:cubicBezTo>
                  <a:pt x="208041" y="194004"/>
                  <a:pt x="189994" y="200020"/>
                  <a:pt x="171446" y="200020"/>
                </a:cubicBezTo>
                <a:cubicBezTo>
                  <a:pt x="128584" y="200020"/>
                  <a:pt x="100010" y="171446"/>
                  <a:pt x="57149" y="171446"/>
                </a:cubicBezTo>
                <a:cubicBezTo>
                  <a:pt x="36062" y="171446"/>
                  <a:pt x="15716" y="179219"/>
                  <a:pt x="0" y="193276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7269" y="3619410"/>
            <a:ext cx="182190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2050 Priority Areas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0080" y="4038499"/>
            <a:ext cx="1437852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97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22,853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00080" y="4457589"/>
            <a:ext cx="130069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SSP3 · km² (still largest)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60792" y="4038499"/>
            <a:ext cx="1326383" cy="38099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6C0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+130%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260792" y="4457589"/>
            <a:ext cx="1189226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SSP2 · fastest growth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0080" y="4724282"/>
            <a:ext cx="413755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under all scenarios </a:t>
            </a:r>
            <a:pPr algn="l" indent="0" marL="0">
              <a:buNone/>
            </a:pPr>
            <a:r>
              <a:rPr lang="en-US" sz="10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 SSP1</a:t>
            </a:r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9585" y="5257669"/>
            <a:ext cx="4438539" cy="723882"/>
          </a:xfrm>
          <a:prstGeom prst="roundRect">
            <a:avLst>
              <a:gd name="adj" fmla="val 21053"/>
            </a:avLst>
          </a:prstGeom>
          <a:solidFill>
            <a:srgbClr val="0F2740"/>
          </a:solidFill>
          <a:ln/>
        </p:spPr>
      </p:sp>
      <p:sp>
        <p:nvSpPr>
          <p:cNvPr id="28" name="Shape 26"/>
          <p:cNvSpPr/>
          <p:nvPr/>
        </p:nvSpPr>
        <p:spPr>
          <a:xfrm>
            <a:off x="901677" y="5460863"/>
            <a:ext cx="253994" cy="318550"/>
          </a:xfrm>
          <a:custGeom>
            <a:avLst/>
            <a:gdLst/>
            <a:ahLst/>
            <a:cxnLst/>
            <a:rect l="l" t="t" r="r" b="b"/>
            <a:pathLst>
              <a:path w="253994" h="318550">
                <a:moveTo>
                  <a:pt x="253994" y="126997"/>
                </a:moveTo>
                <a:cubicBezTo>
                  <a:pt x="253994" y="206259"/>
                  <a:pt x="166064" y="288807"/>
                  <a:pt x="136537" y="314301"/>
                </a:cubicBezTo>
                <a:cubicBezTo>
                  <a:pt x="130887" y="318550"/>
                  <a:pt x="123107" y="318550"/>
                  <a:pt x="117456" y="314301"/>
                </a:cubicBezTo>
                <a:cubicBezTo>
                  <a:pt x="87929" y="288807"/>
                  <a:pt x="0" y="206259"/>
                  <a:pt x="0" y="126997"/>
                </a:cubicBezTo>
                <a:cubicBezTo>
                  <a:pt x="0" y="56858"/>
                  <a:pt x="56858" y="0"/>
                  <a:pt x="126997" y="0"/>
                </a:cubicBezTo>
                <a:cubicBezTo>
                  <a:pt x="197135" y="0"/>
                  <a:pt x="253994" y="56858"/>
                  <a:pt x="253994" y="126997"/>
                </a:cubicBez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1050" y="5540236"/>
            <a:ext cx="95248" cy="95248"/>
          </a:xfrm>
          <a:prstGeom prst="ellipse">
            <a:avLst/>
          </a:prstGeom>
          <a:ln w="31750">
            <a:solidFill>
              <a:srgbClr val="F1F5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566" y="5391015"/>
            <a:ext cx="3539402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</a:t>
            </a:r>
            <a:pPr algn="l" indent="0" marL="0">
              <a:lnSpc>
                <a:spcPct val="137500"/>
              </a:lnSpc>
              <a:buNone/>
            </a:pPr>
            <a:r>
              <a:rPr lang="en-US" sz="120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Jiangsu, northern Zhejiang, eastern Anhui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76718" y="1447764"/>
            <a:ext cx="6305392" cy="2815460"/>
          </a:xfrm>
          <a:prstGeom prst="roundRect">
            <a:avLst>
              <a:gd name="adj" fmla="val 5413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38639" y="1609685"/>
            <a:ext cx="3137992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Priority-Area Distribution under SSPs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0689759" y="1628734"/>
            <a:ext cx="730430" cy="228594"/>
          </a:xfrm>
          <a:prstGeom prst="roundRect">
            <a:avLst>
              <a:gd name="adj" fmla="val 41662552"/>
            </a:avLst>
          </a:prstGeom>
          <a:solidFill>
            <a:srgbClr val="E4572E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655470" y="1628734"/>
            <a:ext cx="799008" cy="228594"/>
          </a:xfrm>
          <a:prstGeom prst="rect">
            <a:avLst/>
          </a:prstGeom>
          <a:noFill/>
          <a:ln/>
        </p:spPr>
        <p:txBody>
          <a:bodyPr wrap="none" lIns="0" tIns="38100" rIns="0" bIns="3810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38639" y="1952576"/>
            <a:ext cx="5981550" cy="2148727"/>
          </a:xfrm>
          <a:prstGeom prst="roundRect">
            <a:avLst>
              <a:gd name="adj" fmla="val 5319"/>
            </a:avLst>
          </a:prstGeom>
          <a:solidFill>
            <a:srgbClr val="F4F7FA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8639" y="1952576"/>
            <a:ext cx="5981550" cy="2148727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276718" y="4415620"/>
            <a:ext cx="6305392" cy="198502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438639" y="4577541"/>
            <a:ext cx="257945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Province-Level Priorities, 2050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10683360" y="4596591"/>
            <a:ext cx="736830" cy="228594"/>
          </a:xfrm>
          <a:prstGeom prst="roundRect">
            <a:avLst>
              <a:gd name="adj" fmla="val 41662552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10649071" y="4596591"/>
            <a:ext cx="805408" cy="228594"/>
          </a:xfrm>
          <a:prstGeom prst="rect">
            <a:avLst/>
          </a:prstGeom>
          <a:noFill/>
          <a:ln/>
        </p:spPr>
        <p:txBody>
          <a:bodyPr wrap="none" lIns="0" tIns="38100" rIns="0" bIns="3810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12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438639" y="4920432"/>
            <a:ext cx="5981550" cy="1318287"/>
          </a:xfrm>
          <a:prstGeom prst="roundRect">
            <a:avLst>
              <a:gd name="adj" fmla="val 8670"/>
            </a:avLst>
          </a:prstGeom>
          <a:solidFill>
            <a:srgbClr val="F4F7FA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639" y="4920432"/>
            <a:ext cx="5981550" cy="13182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993709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666733"/>
            <a:ext cx="10131400" cy="1028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Limits — Complement, Not Substitute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466672" y="457189"/>
            <a:ext cx="1115439" cy="533387"/>
          </a:xfrm>
          <a:prstGeom prst="roundRect">
            <a:avLst>
              <a:gd name="adj" fmla="val 17855346"/>
            </a:avLst>
          </a:prstGeom>
          <a:solidFill>
            <a:srgbClr val="E4572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26668" y="440520"/>
            <a:ext cx="1195447" cy="566723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Disc. D3 · D4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9585" y="1904952"/>
            <a:ext cx="5371966" cy="407659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21827" y="2238054"/>
            <a:ext cx="384728" cy="343279"/>
          </a:xfrm>
          <a:custGeom>
            <a:avLst/>
            <a:gdLst/>
            <a:ahLst/>
            <a:cxnLst/>
            <a:rect l="l" t="t" r="r" b="b"/>
            <a:pathLst>
              <a:path w="384728" h="343279">
                <a:moveTo>
                  <a:pt x="377922" y="286008"/>
                </a:moveTo>
                <a:lnTo>
                  <a:pt x="225526" y="19314"/>
                </a:lnTo>
                <a:cubicBezTo>
                  <a:pt x="218761" y="7377"/>
                  <a:pt x="206100" y="0"/>
                  <a:pt x="192379" y="0"/>
                </a:cubicBezTo>
                <a:cubicBezTo>
                  <a:pt x="178659" y="0"/>
                  <a:pt x="165998" y="7377"/>
                  <a:pt x="159233" y="19314"/>
                </a:cubicBezTo>
                <a:lnTo>
                  <a:pt x="6837" y="286008"/>
                </a:lnTo>
                <a:cubicBezTo>
                  <a:pt x="0" y="297848"/>
                  <a:pt x="32" y="312445"/>
                  <a:pt x="6922" y="324256"/>
                </a:cubicBezTo>
                <a:cubicBezTo>
                  <a:pt x="13811" y="336066"/>
                  <a:pt x="26501" y="343279"/>
                  <a:pt x="40174" y="343156"/>
                </a:cubicBezTo>
                <a:lnTo>
                  <a:pt x="344966" y="343156"/>
                </a:lnTo>
                <a:cubicBezTo>
                  <a:pt x="358571" y="343142"/>
                  <a:pt x="371135" y="335875"/>
                  <a:pt x="377932" y="324090"/>
                </a:cubicBezTo>
                <a:cubicBezTo>
                  <a:pt x="384728" y="312304"/>
                  <a:pt x="384724" y="297789"/>
                  <a:pt x="377922" y="286008"/>
                </a:cubicBez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4397" y="2352616"/>
            <a:ext cx="9525" cy="76198"/>
          </a:xfrm>
          <a:custGeom>
            <a:avLst/>
            <a:gdLst/>
            <a:ahLst/>
            <a:cxnLst/>
            <a:rect l="l" t="t" r="r" b="b"/>
            <a:pathLst>
              <a:path w="9525" h="76198">
                <a:moveTo>
                  <a:pt x="0" y="0"/>
                </a:moveTo>
                <a:lnTo>
                  <a:pt x="0" y="76198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4397" y="2505012"/>
            <a:ext cx="190" cy="9525"/>
          </a:xfrm>
          <a:custGeom>
            <a:avLst/>
            <a:gdLst/>
            <a:ahLst/>
            <a:cxnLst/>
            <a:rect l="l" t="t" r="r" b="b"/>
            <a:pathLst>
              <a:path w="190" h="9525">
                <a:moveTo>
                  <a:pt x="0" y="0"/>
                </a:moveTo>
                <a:lnTo>
                  <a:pt x="190" y="0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03" y="2790755"/>
            <a:ext cx="4956686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Weak for Socio-Economic Goals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5803" y="3188414"/>
            <a:ext cx="4922397" cy="1795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proxies underperform for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2 / 7 / 9 / 13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complex socio-economic processes.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85803" y="5152896"/>
            <a:ext cx="4819530" cy="552436"/>
          </a:xfrm>
          <a:prstGeom prst="roundRect">
            <a:avLst>
              <a:gd name="adj" fmla="val 20690"/>
            </a:avLst>
          </a:prstGeom>
          <a:solidFill>
            <a:srgbClr val="E4572E">
              <a:alpha val="5000"/>
            </a:srgbClr>
          </a:solidFill>
          <a:ln w="9525">
            <a:solidFill>
              <a:srgbClr val="E4572E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7724" y="5314817"/>
            <a:ext cx="4587125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Complement, not replace, traditional statistical monitoring.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0145" y="1904952"/>
            <a:ext cx="5371966" cy="4076598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2758" y="2217575"/>
            <a:ext cx="384398" cy="384380"/>
          </a:xfrm>
          <a:custGeom>
            <a:avLst/>
            <a:gdLst/>
            <a:ahLst/>
            <a:cxnLst/>
            <a:rect l="l" t="t" r="r" b="b"/>
            <a:pathLst>
              <a:path w="384398" h="384380">
                <a:moveTo>
                  <a:pt x="256777" y="47223"/>
                </a:moveTo>
                <a:cubicBezTo>
                  <a:pt x="261653" y="52104"/>
                  <a:pt x="268787" y="53967"/>
                  <a:pt x="275426" y="52094"/>
                </a:cubicBezTo>
                <a:cubicBezTo>
                  <a:pt x="282066" y="50220"/>
                  <a:pt x="287174" y="44903"/>
                  <a:pt x="288780" y="38194"/>
                </a:cubicBezTo>
                <a:cubicBezTo>
                  <a:pt x="294252" y="15416"/>
                  <a:pt x="315477" y="0"/>
                  <a:pt x="338831" y="1842"/>
                </a:cubicBezTo>
                <a:cubicBezTo>
                  <a:pt x="362184" y="3683"/>
                  <a:pt x="380730" y="22236"/>
                  <a:pt x="382564" y="45590"/>
                </a:cubicBezTo>
                <a:cubicBezTo>
                  <a:pt x="384398" y="68944"/>
                  <a:pt x="368975" y="90164"/>
                  <a:pt x="346195" y="95628"/>
                </a:cubicBezTo>
                <a:cubicBezTo>
                  <a:pt x="339486" y="97234"/>
                  <a:pt x="334169" y="102342"/>
                  <a:pt x="332295" y="108982"/>
                </a:cubicBezTo>
                <a:cubicBezTo>
                  <a:pt x="330422" y="115622"/>
                  <a:pt x="332285" y="122755"/>
                  <a:pt x="337166" y="127631"/>
                </a:cubicBezTo>
                <a:lnTo>
                  <a:pt x="369226" y="159673"/>
                </a:lnTo>
                <a:cubicBezTo>
                  <a:pt x="377851" y="168297"/>
                  <a:pt x="382696" y="179994"/>
                  <a:pt x="382696" y="192190"/>
                </a:cubicBezTo>
                <a:cubicBezTo>
                  <a:pt x="382696" y="204387"/>
                  <a:pt x="377851" y="216084"/>
                  <a:pt x="369226" y="224708"/>
                </a:cubicBezTo>
                <a:lnTo>
                  <a:pt x="337166" y="256768"/>
                </a:lnTo>
                <a:cubicBezTo>
                  <a:pt x="332290" y="261649"/>
                  <a:pt x="325156" y="263512"/>
                  <a:pt x="318516" y="261639"/>
                </a:cubicBezTo>
                <a:cubicBezTo>
                  <a:pt x="311876" y="259765"/>
                  <a:pt x="306768" y="254448"/>
                  <a:pt x="305163" y="247739"/>
                </a:cubicBezTo>
                <a:cubicBezTo>
                  <a:pt x="299691" y="224961"/>
                  <a:pt x="278466" y="209545"/>
                  <a:pt x="255112" y="211386"/>
                </a:cubicBezTo>
                <a:cubicBezTo>
                  <a:pt x="231759" y="213228"/>
                  <a:pt x="213213" y="231780"/>
                  <a:pt x="211379" y="255135"/>
                </a:cubicBezTo>
                <a:cubicBezTo>
                  <a:pt x="209545" y="278489"/>
                  <a:pt x="224968" y="299708"/>
                  <a:pt x="247747" y="305173"/>
                </a:cubicBezTo>
                <a:cubicBezTo>
                  <a:pt x="254457" y="306779"/>
                  <a:pt x="259774" y="311887"/>
                  <a:pt x="261647" y="318527"/>
                </a:cubicBezTo>
                <a:cubicBezTo>
                  <a:pt x="263521" y="325166"/>
                  <a:pt x="261658" y="332300"/>
                  <a:pt x="256777" y="337176"/>
                </a:cubicBezTo>
                <a:lnTo>
                  <a:pt x="224717" y="369217"/>
                </a:lnTo>
                <a:cubicBezTo>
                  <a:pt x="216093" y="377842"/>
                  <a:pt x="204396" y="382687"/>
                  <a:pt x="192199" y="382687"/>
                </a:cubicBezTo>
                <a:cubicBezTo>
                  <a:pt x="180002" y="382687"/>
                  <a:pt x="168306" y="377842"/>
                  <a:pt x="159681" y="369217"/>
                </a:cubicBezTo>
                <a:lnTo>
                  <a:pt x="127621" y="337157"/>
                </a:lnTo>
                <a:cubicBezTo>
                  <a:pt x="122745" y="332276"/>
                  <a:pt x="115611" y="330413"/>
                  <a:pt x="108972" y="332287"/>
                </a:cubicBezTo>
                <a:cubicBezTo>
                  <a:pt x="102332" y="334160"/>
                  <a:pt x="97224" y="339477"/>
                  <a:pt x="95618" y="346187"/>
                </a:cubicBezTo>
                <a:cubicBezTo>
                  <a:pt x="90146" y="368965"/>
                  <a:pt x="68921" y="384380"/>
                  <a:pt x="45568" y="382539"/>
                </a:cubicBezTo>
                <a:cubicBezTo>
                  <a:pt x="22214" y="380697"/>
                  <a:pt x="3668" y="362145"/>
                  <a:pt x="1834" y="338791"/>
                </a:cubicBezTo>
                <a:cubicBezTo>
                  <a:pt x="0" y="315436"/>
                  <a:pt x="15423" y="294217"/>
                  <a:pt x="38203" y="288752"/>
                </a:cubicBezTo>
                <a:cubicBezTo>
                  <a:pt x="44912" y="287146"/>
                  <a:pt x="50229" y="282038"/>
                  <a:pt x="52103" y="275399"/>
                </a:cubicBezTo>
                <a:cubicBezTo>
                  <a:pt x="53976" y="268759"/>
                  <a:pt x="52113" y="261625"/>
                  <a:pt x="47232" y="256749"/>
                </a:cubicBezTo>
                <a:lnTo>
                  <a:pt x="15172" y="224708"/>
                </a:lnTo>
                <a:cubicBezTo>
                  <a:pt x="6547" y="216084"/>
                  <a:pt x="1702" y="204387"/>
                  <a:pt x="1702" y="192190"/>
                </a:cubicBezTo>
                <a:cubicBezTo>
                  <a:pt x="1702" y="179994"/>
                  <a:pt x="6547" y="168297"/>
                  <a:pt x="15172" y="159673"/>
                </a:cubicBezTo>
                <a:lnTo>
                  <a:pt x="47232" y="127612"/>
                </a:lnTo>
                <a:cubicBezTo>
                  <a:pt x="52108" y="122731"/>
                  <a:pt x="59242" y="120868"/>
                  <a:pt x="65882" y="122742"/>
                </a:cubicBezTo>
                <a:cubicBezTo>
                  <a:pt x="72522" y="124615"/>
                  <a:pt x="77630" y="129932"/>
                  <a:pt x="79235" y="136642"/>
                </a:cubicBezTo>
                <a:cubicBezTo>
                  <a:pt x="84707" y="159420"/>
                  <a:pt x="105932" y="174836"/>
                  <a:pt x="129286" y="172994"/>
                </a:cubicBezTo>
                <a:cubicBezTo>
                  <a:pt x="152639" y="171152"/>
                  <a:pt x="171185" y="152600"/>
                  <a:pt x="173019" y="129246"/>
                </a:cubicBezTo>
                <a:cubicBezTo>
                  <a:pt x="174853" y="105892"/>
                  <a:pt x="159430" y="84672"/>
                  <a:pt x="136651" y="79207"/>
                </a:cubicBezTo>
                <a:cubicBezTo>
                  <a:pt x="129941" y="77602"/>
                  <a:pt x="124624" y="72494"/>
                  <a:pt x="122751" y="65854"/>
                </a:cubicBezTo>
                <a:cubicBezTo>
                  <a:pt x="120877" y="59214"/>
                  <a:pt x="122740" y="52080"/>
                  <a:pt x="127621" y="47204"/>
                </a:cubicBezTo>
                <a:lnTo>
                  <a:pt x="159681" y="15163"/>
                </a:lnTo>
                <a:cubicBezTo>
                  <a:pt x="168306" y="6538"/>
                  <a:pt x="180002" y="1693"/>
                  <a:pt x="192199" y="1693"/>
                </a:cubicBezTo>
                <a:cubicBezTo>
                  <a:pt x="204396" y="1693"/>
                  <a:pt x="216093" y="6538"/>
                  <a:pt x="224717" y="15163"/>
                </a:cubicBezTo>
                <a:close/>
              </a:path>
            </a:pathLst>
          </a:custGeom>
          <a:ln w="38100">
            <a:solidFill>
              <a:srgbClr val="0A97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6363" y="2790755"/>
            <a:ext cx="4956686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Transferability Is Conceptual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6363" y="3188414"/>
            <a:ext cx="4922397" cy="156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modular design is adaptable, but transferability is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so far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validated only in the Yangtze River Delta.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86363" y="4924302"/>
            <a:ext cx="4819530" cy="781030"/>
          </a:xfrm>
          <a:prstGeom prst="roundRect">
            <a:avLst>
              <a:gd name="adj" fmla="val 14634"/>
            </a:avLst>
          </a:prstGeom>
          <a:solidFill>
            <a:srgbClr val="0A97D9">
              <a:alpha val="5000"/>
            </a:srgbClr>
          </a:solidFill>
          <a:ln w="9525">
            <a:solidFill>
              <a:srgbClr val="0A97D9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8284" y="5067173"/>
            <a:ext cx="4587125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local data, recalibration, and adapted indicators &amp; weights.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9581" y="6210145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spc="26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accounting of the toolkit's boundary — builds credibility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TOOL EVOLUTION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 → CLI → AI Agent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2838379"/>
            <a:ext cx="10972526" cy="38099"/>
          </a:xfrm>
          <a:prstGeom prst="roundRect">
            <a:avLst>
              <a:gd name="adj" fmla="val 249975312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044649" y="2552636"/>
            <a:ext cx="634984" cy="444489"/>
          </a:xfrm>
          <a:prstGeom prst="rect">
            <a:avLst/>
          </a:prstGeom>
          <a:ln w="635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35144" y="3124122"/>
            <a:ext cx="253994" cy="9525"/>
          </a:xfrm>
          <a:custGeom>
            <a:avLst/>
            <a:gdLst/>
            <a:ahLst/>
            <a:cxnLst/>
            <a:rect l="l" t="t" r="r" b="b"/>
            <a:pathLst>
              <a:path w="253994" h="9525">
                <a:moveTo>
                  <a:pt x="0" y="0"/>
                </a:moveTo>
                <a:lnTo>
                  <a:pt x="253994" y="0"/>
                </a:lnTo>
              </a:path>
            </a:pathLst>
          </a:custGeom>
          <a:ln w="635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62141" y="2997125"/>
            <a:ext cx="9525" cy="126997"/>
          </a:xfrm>
          <a:custGeom>
            <a:avLst/>
            <a:gdLst/>
            <a:ahLst/>
            <a:cxnLst/>
            <a:rect l="l" t="t" r="r" b="b"/>
            <a:pathLst>
              <a:path w="9525" h="126997">
                <a:moveTo>
                  <a:pt x="0" y="0"/>
                </a:moveTo>
                <a:lnTo>
                  <a:pt x="0" y="126997"/>
                </a:lnTo>
              </a:path>
            </a:pathLst>
          </a:custGeom>
          <a:ln w="635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8196" y="3409865"/>
            <a:ext cx="927742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PAPER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88334" y="3638459"/>
            <a:ext cx="54761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44013" y="4000400"/>
            <a:ext cx="1836106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· C++ · GPL-3.0</a:t>
            </a:r>
            <a:endParaRPr lang="en-US" sz="1200" dirty="0"/>
          </a:p>
          <a:p>
            <a:pPr algn="ctr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figshare DOI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5848" y="3060623"/>
            <a:ext cx="253994" cy="9525"/>
          </a:xfrm>
          <a:custGeom>
            <a:avLst/>
            <a:gdLst/>
            <a:ahLst/>
            <a:cxnLst/>
            <a:rect l="l" t="t" r="r" b="b"/>
            <a:pathLst>
              <a:path w="253994" h="9525">
                <a:moveTo>
                  <a:pt x="0" y="0"/>
                </a:moveTo>
                <a:lnTo>
                  <a:pt x="253994" y="0"/>
                </a:lnTo>
              </a:path>
            </a:pathLst>
          </a:custGeom>
          <a:ln w="635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41854" y="2616135"/>
            <a:ext cx="190495" cy="380990"/>
          </a:xfrm>
          <a:custGeom>
            <a:avLst/>
            <a:gdLst/>
            <a:ahLst/>
            <a:cxnLst/>
            <a:rect l="l" t="t" r="r" b="b"/>
            <a:pathLst>
              <a:path w="190495" h="380990">
                <a:moveTo>
                  <a:pt x="0" y="380990"/>
                </a:moveTo>
                <a:lnTo>
                  <a:pt x="190495" y="190495"/>
                </a:lnTo>
                <a:lnTo>
                  <a:pt x="0" y="0"/>
                </a:lnTo>
              </a:path>
            </a:pathLst>
          </a:custGeom>
          <a:ln w="635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4091" y="3409865"/>
            <a:ext cx="1203364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· REFACTOR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40941" y="3638459"/>
            <a:ext cx="50966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56587" y="4000400"/>
            <a:ext cx="1878372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· scriptable</a:t>
            </a:r>
            <a:endParaRPr lang="en-US" sz="1200" dirty="0"/>
          </a:p>
          <a:p>
            <a:pPr algn="ctr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02557" y="2584385"/>
            <a:ext cx="126997" cy="126997"/>
          </a:xfrm>
          <a:custGeom>
            <a:avLst/>
            <a:gdLst/>
            <a:ahLst/>
            <a:cxnLst/>
            <a:rect l="l" t="t" r="r" b="b"/>
            <a:pathLst>
              <a:path w="126997" h="126997">
                <a:moveTo>
                  <a:pt x="126997" y="126997"/>
                </a:moveTo>
                <a:lnTo>
                  <a:pt x="126997" y="0"/>
                </a:lnTo>
                <a:lnTo>
                  <a:pt x="0" y="0"/>
                </a:lnTo>
              </a:path>
            </a:pathLst>
          </a:custGeom>
          <a:ln w="635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75561" y="2711382"/>
            <a:ext cx="507987" cy="380990"/>
          </a:xfrm>
          <a:prstGeom prst="rect">
            <a:avLst/>
          </a:prstGeom>
          <a:ln w="635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12062" y="2901877"/>
            <a:ext cx="63498" cy="9525"/>
          </a:xfrm>
          <a:custGeom>
            <a:avLst/>
            <a:gdLst/>
            <a:ahLst/>
            <a:cxnLst/>
            <a:rect l="l" t="t" r="r" b="b"/>
            <a:pathLst>
              <a:path w="63498" h="9525">
                <a:moveTo>
                  <a:pt x="0" y="0"/>
                </a:moveTo>
                <a:lnTo>
                  <a:pt x="63498" y="0"/>
                </a:lnTo>
              </a:path>
            </a:pathLst>
          </a:custGeom>
          <a:ln w="635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83548" y="2901877"/>
            <a:ext cx="63498" cy="9525"/>
          </a:xfrm>
          <a:custGeom>
            <a:avLst/>
            <a:gdLst/>
            <a:ahLst/>
            <a:cxnLst/>
            <a:rect l="l" t="t" r="r" b="b"/>
            <a:pathLst>
              <a:path w="63498" h="9525">
                <a:moveTo>
                  <a:pt x="0" y="0"/>
                </a:moveTo>
                <a:lnTo>
                  <a:pt x="63498" y="0"/>
                </a:lnTo>
              </a:path>
            </a:pathLst>
          </a:custGeom>
          <a:ln w="635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4802" y="2870128"/>
            <a:ext cx="9525" cy="63498"/>
          </a:xfrm>
          <a:custGeom>
            <a:avLst/>
            <a:gdLst/>
            <a:ahLst/>
            <a:cxnLst/>
            <a:rect l="l" t="t" r="r" b="b"/>
            <a:pathLst>
              <a:path w="9525" h="63498">
                <a:moveTo>
                  <a:pt x="0" y="0"/>
                </a:moveTo>
                <a:lnTo>
                  <a:pt x="0" y="63498"/>
                </a:lnTo>
              </a:path>
            </a:pathLst>
          </a:custGeom>
          <a:ln w="635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4307" y="2870128"/>
            <a:ext cx="9525" cy="63498"/>
          </a:xfrm>
          <a:custGeom>
            <a:avLst/>
            <a:gdLst/>
            <a:ahLst/>
            <a:cxnLst/>
            <a:rect l="l" t="t" r="r" b="b"/>
            <a:pathLst>
              <a:path w="9525" h="63498">
                <a:moveTo>
                  <a:pt x="0" y="0"/>
                </a:moveTo>
                <a:lnTo>
                  <a:pt x="0" y="63498"/>
                </a:lnTo>
              </a:path>
            </a:pathLst>
          </a:custGeom>
          <a:ln w="635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7044" y="3409865"/>
            <a:ext cx="140502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 · IN PROGRESS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95304" y="3638459"/>
            <a:ext cx="1068351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Agent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70659" y="4000400"/>
            <a:ext cx="1717791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· skills</a:t>
            </a:r>
            <a:endParaRPr lang="en-US" sz="1200" dirty="0"/>
          </a:p>
          <a:p>
            <a:pPr algn="ctr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assistant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585" y="5638659"/>
            <a:ext cx="10972526" cy="761981"/>
          </a:xfrm>
          <a:prstGeom prst="roundRect">
            <a:avLst>
              <a:gd name="adj" fmla="val 20000"/>
            </a:avLst>
          </a:prstGeom>
          <a:solidFill>
            <a:srgbClr val="0F274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6773" y="6035524"/>
            <a:ext cx="80643" cy="111122"/>
          </a:xfrm>
          <a:custGeom>
            <a:avLst/>
            <a:gdLst/>
            <a:ahLst/>
            <a:cxnLst/>
            <a:rect l="l" t="t" r="r" b="b"/>
            <a:pathLst>
              <a:path w="80643" h="111122">
                <a:moveTo>
                  <a:pt x="0" y="31749"/>
                </a:moveTo>
                <a:lnTo>
                  <a:pt x="0" y="111122"/>
                </a:lnTo>
                <a:cubicBezTo>
                  <a:pt x="0" y="111122"/>
                  <a:pt x="48100" y="102391"/>
                  <a:pt x="63498" y="79373"/>
                </a:cubicBezTo>
                <a:cubicBezTo>
                  <a:pt x="80643" y="53656"/>
                  <a:pt x="63498" y="0"/>
                  <a:pt x="63498" y="0"/>
                </a:cubicBez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5965" y="6079703"/>
            <a:ext cx="90644" cy="90756"/>
          </a:xfrm>
          <a:custGeom>
            <a:avLst/>
            <a:gdLst/>
            <a:ahLst/>
            <a:cxnLst/>
            <a:rect l="l" t="t" r="r" b="b"/>
            <a:pathLst>
              <a:path w="90644" h="90756">
                <a:moveTo>
                  <a:pt x="31749" y="11383"/>
                </a:moveTo>
                <a:cubicBezTo>
                  <a:pt x="7937" y="31385"/>
                  <a:pt x="0" y="90756"/>
                  <a:pt x="0" y="90756"/>
                </a:cubicBezTo>
                <a:cubicBezTo>
                  <a:pt x="0" y="90756"/>
                  <a:pt x="59371" y="82818"/>
                  <a:pt x="79373" y="59006"/>
                </a:cubicBezTo>
                <a:cubicBezTo>
                  <a:pt x="90644" y="45672"/>
                  <a:pt x="90485" y="25193"/>
                  <a:pt x="77944" y="12811"/>
                </a:cubicBezTo>
                <a:cubicBezTo>
                  <a:pt x="65167" y="616"/>
                  <a:pt x="45256" y="0"/>
                  <a:pt x="31749" y="11383"/>
                </a:cubicBez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9150" y="5860464"/>
            <a:ext cx="206370" cy="206810"/>
          </a:xfrm>
          <a:custGeom>
            <a:avLst/>
            <a:gdLst/>
            <a:ahLst/>
            <a:cxnLst/>
            <a:rect l="l" t="t" r="r" b="b"/>
            <a:pathLst>
              <a:path w="206370" h="206810">
                <a:moveTo>
                  <a:pt x="0" y="159186"/>
                </a:moveTo>
                <a:cubicBezTo>
                  <a:pt x="8448" y="137270"/>
                  <a:pt x="19085" y="116262"/>
                  <a:pt x="31749" y="96481"/>
                </a:cubicBezTo>
                <a:cubicBezTo>
                  <a:pt x="69359" y="36348"/>
                  <a:pt x="135445" y="0"/>
                  <a:pt x="206370" y="440"/>
                </a:cubicBezTo>
                <a:cubicBezTo>
                  <a:pt x="206370" y="43619"/>
                  <a:pt x="193988" y="119499"/>
                  <a:pt x="111122" y="175061"/>
                </a:cubicBezTo>
                <a:cubicBezTo>
                  <a:pt x="91068" y="187735"/>
                  <a:pt x="69796" y="198371"/>
                  <a:pt x="47624" y="206810"/>
                </a:cubicBezTo>
                <a:close/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9777" y="5939007"/>
            <a:ext cx="111122" cy="80643"/>
          </a:xfrm>
          <a:custGeom>
            <a:avLst/>
            <a:gdLst/>
            <a:ahLst/>
            <a:cxnLst/>
            <a:rect l="l" t="t" r="r" b="b"/>
            <a:pathLst>
              <a:path w="111122" h="80643">
                <a:moveTo>
                  <a:pt x="79373" y="80643"/>
                </a:moveTo>
                <a:lnTo>
                  <a:pt x="0" y="80643"/>
                </a:lnTo>
                <a:cubicBezTo>
                  <a:pt x="0" y="80643"/>
                  <a:pt x="8731" y="32543"/>
                  <a:pt x="31749" y="17145"/>
                </a:cubicBezTo>
                <a:cubicBezTo>
                  <a:pt x="57466" y="0"/>
                  <a:pt x="111122" y="17938"/>
                  <a:pt x="111122" y="17938"/>
                </a:cubicBezTo>
              </a:path>
            </a:pathLst>
          </a:custGeom>
          <a:ln w="3175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09665" y="5888684"/>
            <a:ext cx="6572830" cy="2619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Motivation: the paper-era architecture is </a:t>
            </a:r>
            <a:pPr algn="l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apply directly</a:t>
            </a:r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AI era.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TOOL EVOLUTION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v1 — Paper GUI (figshare)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1447764"/>
            <a:ext cx="6305392" cy="4952876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7552" y="1771606"/>
            <a:ext cx="317492" cy="222244"/>
          </a:xfrm>
          <a:prstGeom prst="rect">
            <a:avLst/>
          </a:prstGeom>
          <a:ln w="31750">
            <a:solidFill>
              <a:srgbClr val="0A9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800" y="2057349"/>
            <a:ext cx="126997" cy="9525"/>
          </a:xfrm>
          <a:custGeom>
            <a:avLst/>
            <a:gdLst/>
            <a:ahLst/>
            <a:cxnLst/>
            <a:rect l="l" t="t" r="r" b="b"/>
            <a:pathLst>
              <a:path w="126997" h="9525">
                <a:moveTo>
                  <a:pt x="0" y="0"/>
                </a:moveTo>
                <a:lnTo>
                  <a:pt x="126997" y="0"/>
                </a:ln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6298" y="1993850"/>
            <a:ext cx="9525" cy="63498"/>
          </a:xfrm>
          <a:custGeom>
            <a:avLst/>
            <a:gdLst/>
            <a:ahLst/>
            <a:cxnLst/>
            <a:rect l="l" t="t" r="r" b="b"/>
            <a:pathLst>
              <a:path w="9525" h="63498">
                <a:moveTo>
                  <a:pt x="0" y="0"/>
                </a:moveTo>
                <a:lnTo>
                  <a:pt x="0" y="63498"/>
                </a:lnTo>
              </a:path>
            </a:pathLst>
          </a:custGeom>
          <a:ln w="31750">
            <a:solidFill>
              <a:srgbClr val="0A9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1090" y="1762081"/>
            <a:ext cx="1165384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5803" y="2295468"/>
            <a:ext cx="2800280" cy="1838279"/>
          </a:xfrm>
          <a:prstGeom prst="roundRect">
            <a:avLst>
              <a:gd name="adj" fmla="val 6218"/>
            </a:avLst>
          </a:prstGeom>
          <a:solidFill>
            <a:srgbClr val="F4F7FA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23" y="2947914"/>
            <a:ext cx="250310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Windows Desktop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85823" y="3252706"/>
            <a:ext cx="249167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Graphical user interface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38479" y="2295468"/>
            <a:ext cx="2800280" cy="1838279"/>
          </a:xfrm>
          <a:prstGeom prst="roundRect">
            <a:avLst>
              <a:gd name="adj" fmla="val 6218"/>
            </a:avLst>
          </a:prstGeom>
          <a:solidFill>
            <a:srgbClr val="F4F7FA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8499" y="2947914"/>
            <a:ext cx="250310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C++ / GPL-3.0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38499" y="3252706"/>
            <a:ext cx="249167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 full docs &amp; source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803" y="4286143"/>
            <a:ext cx="5752956" cy="1838279"/>
          </a:xfrm>
          <a:prstGeom prst="roundRect">
            <a:avLst>
              <a:gd name="adj" fmla="val 6218"/>
            </a:avLst>
          </a:prstGeom>
          <a:solidFill>
            <a:srgbClr val="F4F7FA"/>
          </a:solidFill>
          <a:ln w="9525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5823" y="4938589"/>
            <a:ext cx="5455784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Published with the Paper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85823" y="5243381"/>
            <a:ext cx="5444354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figshare DOI: 10.6084/m9.figshare.29445089.v3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43571" y="1447764"/>
            <a:ext cx="4438539" cy="4952876"/>
          </a:xfrm>
          <a:prstGeom prst="roundRect">
            <a:avLst>
              <a:gd name="adj" fmla="val 3433"/>
            </a:avLst>
          </a:prstGeom>
          <a:solidFill>
            <a:srgbClr val="0F2740"/>
          </a:solidFill>
          <a:ln/>
        </p:spPr>
      </p:sp>
      <p:sp>
        <p:nvSpPr>
          <p:cNvPr id="20" name="Shape 18"/>
          <p:cNvSpPr/>
          <p:nvPr/>
        </p:nvSpPr>
        <p:spPr>
          <a:xfrm>
            <a:off x="7440285" y="1761860"/>
            <a:ext cx="320606" cy="286066"/>
          </a:xfrm>
          <a:custGeom>
            <a:avLst/>
            <a:gdLst/>
            <a:ahLst/>
            <a:cxnLst/>
            <a:rect l="l" t="t" r="r" b="b"/>
            <a:pathLst>
              <a:path w="320606" h="286066">
                <a:moveTo>
                  <a:pt x="314935" y="238340"/>
                </a:moveTo>
                <a:lnTo>
                  <a:pt x="187938" y="16095"/>
                </a:lnTo>
                <a:cubicBezTo>
                  <a:pt x="182301" y="6148"/>
                  <a:pt x="171750" y="0"/>
                  <a:pt x="160316" y="0"/>
                </a:cubicBezTo>
                <a:cubicBezTo>
                  <a:pt x="148882" y="0"/>
                  <a:pt x="138332" y="6148"/>
                  <a:pt x="132694" y="16095"/>
                </a:cubicBezTo>
                <a:lnTo>
                  <a:pt x="5698" y="238340"/>
                </a:lnTo>
                <a:cubicBezTo>
                  <a:pt x="0" y="248207"/>
                  <a:pt x="27" y="260371"/>
                  <a:pt x="5768" y="270213"/>
                </a:cubicBezTo>
                <a:cubicBezTo>
                  <a:pt x="11509" y="280055"/>
                  <a:pt x="22084" y="286066"/>
                  <a:pt x="33478" y="285963"/>
                </a:cubicBezTo>
                <a:lnTo>
                  <a:pt x="287472" y="285963"/>
                </a:lnTo>
                <a:cubicBezTo>
                  <a:pt x="298809" y="285952"/>
                  <a:pt x="309279" y="279896"/>
                  <a:pt x="314943" y="270075"/>
                </a:cubicBezTo>
                <a:cubicBezTo>
                  <a:pt x="320606" y="260254"/>
                  <a:pt x="320603" y="248158"/>
                  <a:pt x="314935" y="238340"/>
                </a:cubicBez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00760" y="1857329"/>
            <a:ext cx="9525" cy="63498"/>
          </a:xfrm>
          <a:custGeom>
            <a:avLst/>
            <a:gdLst/>
            <a:ahLst/>
            <a:cxnLst/>
            <a:rect l="l" t="t" r="r" b="b"/>
            <a:pathLst>
              <a:path w="9525" h="63498">
                <a:moveTo>
                  <a:pt x="0" y="0"/>
                </a:moveTo>
                <a:lnTo>
                  <a:pt x="0" y="63498"/>
                </a:ln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00760" y="1984325"/>
            <a:ext cx="159" cy="9525"/>
          </a:xfrm>
          <a:custGeom>
            <a:avLst/>
            <a:gdLst/>
            <a:ahLst/>
            <a:cxnLst/>
            <a:rect l="l" t="t" r="r" b="b"/>
            <a:pathLst>
              <a:path w="159" h="9525">
                <a:moveTo>
                  <a:pt x="0" y="0"/>
                </a:moveTo>
                <a:lnTo>
                  <a:pt x="159" y="0"/>
                </a:ln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5552" y="1752556"/>
            <a:ext cx="1710826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Limits (Gentle)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10265" y="3657509"/>
            <a:ext cx="76198" cy="7619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3"/>
          <p:cNvSpPr/>
          <p:nvPr/>
        </p:nvSpPr>
        <p:spPr>
          <a:xfrm>
            <a:off x="7600760" y="3581310"/>
            <a:ext cx="1573878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Windows-only binding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10265" y="4000400"/>
            <a:ext cx="76198" cy="7619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7" name="Text 25"/>
          <p:cNvSpPr/>
          <p:nvPr/>
        </p:nvSpPr>
        <p:spPr>
          <a:xfrm>
            <a:off x="7600760" y="3924202"/>
            <a:ext cx="207363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interaction paradigm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10265" y="4343291"/>
            <a:ext cx="76198" cy="7619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7"/>
          <p:cNvSpPr/>
          <p:nvPr/>
        </p:nvSpPr>
        <p:spPr>
          <a:xfrm>
            <a:off x="7600760" y="4267093"/>
            <a:ext cx="2607165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join AI / automated workflows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10265" y="4686183"/>
            <a:ext cx="76198" cy="7619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1" name="Text 29"/>
          <p:cNvSpPr/>
          <p:nvPr/>
        </p:nvSpPr>
        <p:spPr>
          <a:xfrm>
            <a:off x="7600760" y="4609985"/>
            <a:ext cx="2429171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barrier to reproduce &amp; rework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TOOL EVOLUTION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v2 — Cross-Platform CLI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1447764"/>
            <a:ext cx="6305392" cy="238119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3311" y="1708660"/>
            <a:ext cx="294507" cy="294514"/>
          </a:xfrm>
          <a:custGeom>
            <a:avLst/>
            <a:gdLst/>
            <a:ahLst/>
            <a:cxnLst/>
            <a:rect l="l" t="t" r="r" b="b"/>
            <a:pathLst>
              <a:path w="294507" h="294514">
                <a:moveTo>
                  <a:pt x="184413" y="67232"/>
                </a:moveTo>
                <a:cubicBezTo>
                  <a:pt x="178968" y="72788"/>
                  <a:pt x="178968" y="81679"/>
                  <a:pt x="184413" y="87234"/>
                </a:cubicBezTo>
                <a:lnTo>
                  <a:pt x="207273" y="110094"/>
                </a:lnTo>
                <a:cubicBezTo>
                  <a:pt x="212828" y="115539"/>
                  <a:pt x="221719" y="115539"/>
                  <a:pt x="227275" y="110094"/>
                </a:cubicBezTo>
                <a:lnTo>
                  <a:pt x="271651" y="65732"/>
                </a:lnTo>
                <a:cubicBezTo>
                  <a:pt x="276223" y="61132"/>
                  <a:pt x="283981" y="62589"/>
                  <a:pt x="285695" y="68847"/>
                </a:cubicBezTo>
                <a:cubicBezTo>
                  <a:pt x="294507" y="100897"/>
                  <a:pt x="283997" y="135152"/>
                  <a:pt x="258726" y="156745"/>
                </a:cubicBezTo>
                <a:cubicBezTo>
                  <a:pt x="233456" y="178337"/>
                  <a:pt x="197980" y="183375"/>
                  <a:pt x="167697" y="169671"/>
                </a:cubicBezTo>
                <a:lnTo>
                  <a:pt x="54686" y="282682"/>
                </a:lnTo>
                <a:cubicBezTo>
                  <a:pt x="42850" y="294514"/>
                  <a:pt x="23664" y="294511"/>
                  <a:pt x="11832" y="282675"/>
                </a:cubicBezTo>
                <a:cubicBezTo>
                  <a:pt x="0" y="270839"/>
                  <a:pt x="3" y="251653"/>
                  <a:pt x="11839" y="239821"/>
                </a:cubicBezTo>
                <a:lnTo>
                  <a:pt x="124850" y="126810"/>
                </a:lnTo>
                <a:cubicBezTo>
                  <a:pt x="111146" y="96527"/>
                  <a:pt x="116184" y="61051"/>
                  <a:pt x="137777" y="35781"/>
                </a:cubicBezTo>
                <a:cubicBezTo>
                  <a:pt x="159370" y="10510"/>
                  <a:pt x="193625" y="0"/>
                  <a:pt x="225675" y="8812"/>
                </a:cubicBezTo>
                <a:cubicBezTo>
                  <a:pt x="231932" y="10527"/>
                  <a:pt x="233390" y="18270"/>
                  <a:pt x="228804" y="22871"/>
                </a:cubicBezTo>
                <a:close/>
              </a:path>
            </a:pathLst>
          </a:custGeom>
          <a:ln w="28575">
            <a:solidFill>
              <a:srgbClr val="56C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4892" y="1723982"/>
            <a:ext cx="265726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Algorithms Refactored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7704" y="2181170"/>
            <a:ext cx="1525301" cy="304792"/>
          </a:xfrm>
          <a:prstGeom prst="roundRect">
            <a:avLst>
              <a:gd name="adj" fmla="val 31246914"/>
            </a:avLst>
          </a:prstGeom>
          <a:solidFill>
            <a:srgbClr val="0A97D9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07700" y="2164502"/>
            <a:ext cx="1605309" cy="338129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calculation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49203" y="2181170"/>
            <a:ext cx="1120201" cy="304792"/>
          </a:xfrm>
          <a:prstGeom prst="roundRect">
            <a:avLst>
              <a:gd name="adj" fmla="val 31246914"/>
            </a:avLst>
          </a:prstGeom>
          <a:solidFill>
            <a:srgbClr val="56C02B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409199" y="2164502"/>
            <a:ext cx="1200209" cy="338129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simulation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45603" y="2181170"/>
            <a:ext cx="1880992" cy="304792"/>
          </a:xfrm>
          <a:prstGeom prst="roundRect">
            <a:avLst>
              <a:gd name="adj" fmla="val 31246914"/>
            </a:avLst>
          </a:prstGeom>
          <a:solidFill>
            <a:srgbClr val="E4572E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05599" y="2164502"/>
            <a:ext cx="1961000" cy="338129"/>
          </a:xfrm>
          <a:prstGeom prst="rect">
            <a:avLst/>
          </a:prstGeom>
          <a:noFill/>
          <a:ln/>
        </p:spPr>
        <p:txBody>
          <a:bodyPr wrap="square" lIns="0" tIns="57150" rIns="0" bIns="5715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Priority-area identification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585" y="4019450"/>
            <a:ext cx="6305392" cy="238119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6327" y="4285279"/>
            <a:ext cx="285930" cy="144599"/>
          </a:xfrm>
          <a:custGeom>
            <a:avLst/>
            <a:gdLst/>
            <a:ahLst/>
            <a:cxnLst/>
            <a:rect l="l" t="t" r="r" b="b"/>
            <a:pathLst>
              <a:path w="285930" h="144599">
                <a:moveTo>
                  <a:pt x="154680" y="3436"/>
                </a:moveTo>
                <a:cubicBezTo>
                  <a:pt x="147148" y="0"/>
                  <a:pt x="138496" y="0"/>
                  <a:pt x="130964" y="3436"/>
                </a:cubicBezTo>
                <a:lnTo>
                  <a:pt x="8523" y="59156"/>
                </a:lnTo>
                <a:cubicBezTo>
                  <a:pt x="3343" y="61440"/>
                  <a:pt x="0" y="66567"/>
                  <a:pt x="0" y="72228"/>
                </a:cubicBezTo>
                <a:cubicBezTo>
                  <a:pt x="0" y="77890"/>
                  <a:pt x="3343" y="83017"/>
                  <a:pt x="8523" y="85301"/>
                </a:cubicBezTo>
                <a:lnTo>
                  <a:pt x="131107" y="141164"/>
                </a:lnTo>
                <a:cubicBezTo>
                  <a:pt x="138639" y="144599"/>
                  <a:pt x="147291" y="144599"/>
                  <a:pt x="154823" y="141164"/>
                </a:cubicBezTo>
                <a:lnTo>
                  <a:pt x="277407" y="85444"/>
                </a:lnTo>
                <a:cubicBezTo>
                  <a:pt x="282587" y="83160"/>
                  <a:pt x="285930" y="78033"/>
                  <a:pt x="285930" y="72371"/>
                </a:cubicBezTo>
                <a:cubicBezTo>
                  <a:pt x="285930" y="66710"/>
                  <a:pt x="282587" y="61583"/>
                  <a:pt x="277407" y="59298"/>
                </a:cubicBezTo>
                <a:close/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6264" y="4429014"/>
            <a:ext cx="285801" cy="72256"/>
          </a:xfrm>
          <a:custGeom>
            <a:avLst/>
            <a:gdLst/>
            <a:ahLst/>
            <a:cxnLst/>
            <a:rect l="l" t="t" r="r" b="b"/>
            <a:pathLst>
              <a:path w="285801" h="72256">
                <a:moveTo>
                  <a:pt x="14" y="0"/>
                </a:moveTo>
                <a:cubicBezTo>
                  <a:pt x="0" y="5580"/>
                  <a:pt x="3236" y="10658"/>
                  <a:pt x="8300" y="13001"/>
                </a:cubicBezTo>
                <a:lnTo>
                  <a:pt x="131170" y="68864"/>
                </a:lnTo>
                <a:cubicBezTo>
                  <a:pt x="138662" y="72256"/>
                  <a:pt x="147252" y="72256"/>
                  <a:pt x="154744" y="68864"/>
                </a:cubicBezTo>
                <a:lnTo>
                  <a:pt x="277327" y="13144"/>
                </a:lnTo>
                <a:cubicBezTo>
                  <a:pt x="282495" y="10822"/>
                  <a:pt x="285801" y="5665"/>
                  <a:pt x="285757" y="0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6264" y="4500450"/>
            <a:ext cx="285801" cy="72256"/>
          </a:xfrm>
          <a:custGeom>
            <a:avLst/>
            <a:gdLst/>
            <a:ahLst/>
            <a:cxnLst/>
            <a:rect l="l" t="t" r="r" b="b"/>
            <a:pathLst>
              <a:path w="285801" h="72256">
                <a:moveTo>
                  <a:pt x="14" y="0"/>
                </a:moveTo>
                <a:cubicBezTo>
                  <a:pt x="0" y="5580"/>
                  <a:pt x="3236" y="10658"/>
                  <a:pt x="8300" y="13001"/>
                </a:cubicBezTo>
                <a:lnTo>
                  <a:pt x="131170" y="68864"/>
                </a:lnTo>
                <a:cubicBezTo>
                  <a:pt x="138662" y="72256"/>
                  <a:pt x="147252" y="72256"/>
                  <a:pt x="154744" y="68864"/>
                </a:cubicBezTo>
                <a:lnTo>
                  <a:pt x="277327" y="13144"/>
                </a:lnTo>
                <a:cubicBezTo>
                  <a:pt x="282495" y="10822"/>
                  <a:pt x="285801" y="5665"/>
                  <a:pt x="285757" y="0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4892" y="4295668"/>
            <a:ext cx="301414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on GDAL Raster Operators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7704" y="4752856"/>
            <a:ext cx="5932022" cy="23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mature geospatial ecosystem for raster processing.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43571" y="1447764"/>
            <a:ext cx="4438539" cy="4952876"/>
          </a:xfrm>
          <a:prstGeom prst="roundRect">
            <a:avLst>
              <a:gd name="adj" fmla="val 3433"/>
            </a:avLst>
          </a:prstGeom>
          <a:solidFill>
            <a:srgbClr val="0F2740"/>
          </a:solidFill>
          <a:ln/>
        </p:spPr>
      </p:sp>
      <p:sp>
        <p:nvSpPr>
          <p:cNvPr id="21" name="Shape 19"/>
          <p:cNvSpPr/>
          <p:nvPr/>
        </p:nvSpPr>
        <p:spPr>
          <a:xfrm>
            <a:off x="7442014" y="1809705"/>
            <a:ext cx="253994" cy="174621"/>
          </a:xfrm>
          <a:custGeom>
            <a:avLst/>
            <a:gdLst/>
            <a:ahLst/>
            <a:cxnLst/>
            <a:rect l="l" t="t" r="r" b="b"/>
            <a:pathLst>
              <a:path w="253994" h="174621">
                <a:moveTo>
                  <a:pt x="253994" y="0"/>
                </a:moveTo>
                <a:lnTo>
                  <a:pt x="79373" y="174621"/>
                </a:lnTo>
                <a:lnTo>
                  <a:pt x="0" y="95248"/>
                </a:lnTo>
              </a:path>
            </a:pathLst>
          </a:custGeom>
          <a:ln w="31750">
            <a:solidFill>
              <a:srgbClr val="56C0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16635" y="1873203"/>
            <a:ext cx="142871" cy="119060"/>
          </a:xfrm>
          <a:custGeom>
            <a:avLst/>
            <a:gdLst/>
            <a:ahLst/>
            <a:cxnLst/>
            <a:rect l="l" t="t" r="r" b="b"/>
            <a:pathLst>
              <a:path w="142871" h="119060">
                <a:moveTo>
                  <a:pt x="142871" y="0"/>
                </a:moveTo>
                <a:lnTo>
                  <a:pt x="23812" y="119060"/>
                </a:lnTo>
                <a:lnTo>
                  <a:pt x="0" y="95248"/>
                </a:lnTo>
              </a:path>
            </a:pathLst>
          </a:custGeom>
          <a:ln w="31750">
            <a:solidFill>
              <a:srgbClr val="56C0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5552" y="1752556"/>
            <a:ext cx="1724518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10265" y="3362241"/>
            <a:ext cx="76198" cy="76198"/>
          </a:xfrm>
          <a:prstGeom prst="ellipse">
            <a:avLst/>
          </a:prstGeom>
          <a:solidFill>
            <a:srgbClr val="56C02B"/>
          </a:solidFill>
          <a:ln/>
        </p:spPr>
      </p:sp>
      <p:sp>
        <p:nvSpPr>
          <p:cNvPr id="25" name="Text 23"/>
          <p:cNvSpPr/>
          <p:nvPr/>
        </p:nvSpPr>
        <p:spPr>
          <a:xfrm>
            <a:off x="7600760" y="3286043"/>
            <a:ext cx="192927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&amp; scriptable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10265" y="3705132"/>
            <a:ext cx="76198" cy="76198"/>
          </a:xfrm>
          <a:prstGeom prst="ellipse">
            <a:avLst/>
          </a:prstGeom>
          <a:solidFill>
            <a:srgbClr val="56C02B"/>
          </a:solidFill>
          <a:ln/>
        </p:spPr>
      </p:sp>
      <p:sp>
        <p:nvSpPr>
          <p:cNvPr id="27" name="Text 25"/>
          <p:cNvSpPr/>
          <p:nvPr/>
        </p:nvSpPr>
        <p:spPr>
          <a:xfrm>
            <a:off x="7600760" y="3628934"/>
            <a:ext cx="2632912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Reproducible, batch-friendly pipelines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10265" y="4048024"/>
            <a:ext cx="76198" cy="76198"/>
          </a:xfrm>
          <a:prstGeom prst="ellipse">
            <a:avLst/>
          </a:prstGeom>
          <a:solidFill>
            <a:srgbClr val="56C02B"/>
          </a:solidFill>
          <a:ln/>
        </p:spPr>
      </p:sp>
      <p:sp>
        <p:nvSpPr>
          <p:cNvPr id="29" name="Text 27"/>
          <p:cNvSpPr/>
          <p:nvPr/>
        </p:nvSpPr>
        <p:spPr>
          <a:xfrm>
            <a:off x="7600760" y="3971826"/>
            <a:ext cx="2386757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into third-party systems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10265" y="5391015"/>
            <a:ext cx="3905152" cy="742931"/>
          </a:xfrm>
          <a:prstGeom prst="roundRect">
            <a:avLst>
              <a:gd name="adj" fmla="val 1538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2186" y="5533887"/>
            <a:ext cx="3672748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20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Programmability</a:t>
            </a:r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precondition for AI automation.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603268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TOOL EVOLUTION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6226992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v3 — AI Agent (In Progress)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14255" y="457189"/>
            <a:ext cx="1467855" cy="342891"/>
          </a:xfrm>
          <a:prstGeom prst="roundRect">
            <a:avLst>
              <a:gd name="adj" fmla="val 27775035"/>
            </a:avLst>
          </a:prstGeom>
          <a:solidFill>
            <a:srgbClr val="E4572E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74251" y="440520"/>
            <a:ext cx="1547863" cy="376228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>
            <a:spAutoFit/>
          </a:bodyPr>
          <a:lstStyle/>
          <a:p>
            <a:pPr algn="ctr" indent="0" marL="0">
              <a:lnSpc>
                <a:spcPct val="142857"/>
              </a:lnSpc>
              <a:buNone/>
            </a:pPr>
            <a:r>
              <a:rPr lang="en-US" sz="10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Landing Point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9585" y="1447764"/>
            <a:ext cx="10972526" cy="2038299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3427" y="1771606"/>
            <a:ext cx="126997" cy="126997"/>
          </a:xfrm>
          <a:prstGeom prst="rect">
            <a:avLst/>
          </a:prstGeom>
          <a:ln w="31750">
            <a:solidFill>
              <a:srgbClr val="E45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925" y="1898603"/>
            <a:ext cx="95248" cy="95248"/>
          </a:xfrm>
          <a:custGeom>
            <a:avLst/>
            <a:gdLst/>
            <a:ahLst/>
            <a:cxnLst/>
            <a:rect l="l" t="t" r="r" b="b"/>
            <a:pathLst>
              <a:path w="95248" h="95248">
                <a:moveTo>
                  <a:pt x="0" y="0"/>
                </a:moveTo>
                <a:lnTo>
                  <a:pt x="0" y="63498"/>
                </a:lnTo>
                <a:cubicBezTo>
                  <a:pt x="0" y="81033"/>
                  <a:pt x="14215" y="95248"/>
                  <a:pt x="31749" y="95248"/>
                </a:cubicBezTo>
                <a:lnTo>
                  <a:pt x="95248" y="95248"/>
                </a:lnTo>
              </a:path>
            </a:pathLst>
          </a:custGeom>
          <a:ln w="31750">
            <a:solidFill>
              <a:srgbClr val="E457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2173" y="1930352"/>
            <a:ext cx="126997" cy="126997"/>
          </a:xfrm>
          <a:prstGeom prst="rect">
            <a:avLst/>
          </a:prstGeom>
          <a:ln w="31750">
            <a:solidFill>
              <a:srgbClr val="E457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1090" y="1762081"/>
            <a:ext cx="2482183" cy="3047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Interaction Chain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85803" y="2295468"/>
            <a:ext cx="1718178" cy="914377"/>
          </a:xfrm>
          <a:prstGeom prst="roundRect">
            <a:avLst>
              <a:gd name="adj" fmla="val 12500"/>
            </a:avLst>
          </a:prstGeom>
          <a:solidFill>
            <a:srgbClr val="0A97D9">
              <a:alpha val="10000"/>
            </a:srgbClr>
          </a:solidFill>
          <a:ln w="9525">
            <a:solidFill>
              <a:srgbClr val="0A97D9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5444" y="2495488"/>
            <a:ext cx="158746" cy="151219"/>
          </a:xfrm>
          <a:custGeom>
            <a:avLst/>
            <a:gdLst/>
            <a:ahLst/>
            <a:cxnLst/>
            <a:rect l="l" t="t" r="r" b="b"/>
            <a:pathLst>
              <a:path w="158746" h="151219">
                <a:moveTo>
                  <a:pt x="158746" y="111122"/>
                </a:moveTo>
                <a:cubicBezTo>
                  <a:pt x="158746" y="119890"/>
                  <a:pt x="151639" y="126997"/>
                  <a:pt x="142871" y="126997"/>
                </a:cubicBezTo>
                <a:lnTo>
                  <a:pt x="38321" y="126997"/>
                </a:lnTo>
                <a:cubicBezTo>
                  <a:pt x="34111" y="126998"/>
                  <a:pt x="30074" y="128671"/>
                  <a:pt x="27098" y="131648"/>
                </a:cubicBezTo>
                <a:lnTo>
                  <a:pt x="9620" y="149126"/>
                </a:lnTo>
                <a:cubicBezTo>
                  <a:pt x="8008" y="150737"/>
                  <a:pt x="5585" y="151219"/>
                  <a:pt x="3479" y="150347"/>
                </a:cubicBezTo>
                <a:cubicBezTo>
                  <a:pt x="1373" y="149475"/>
                  <a:pt x="0" y="147421"/>
                  <a:pt x="0" y="145141"/>
                </a:cubicBezTo>
                <a:lnTo>
                  <a:pt x="0" y="15875"/>
                </a:lnTo>
                <a:cubicBezTo>
                  <a:pt x="0" y="7107"/>
                  <a:pt x="7107" y="0"/>
                  <a:pt x="15875" y="0"/>
                </a:cubicBezTo>
                <a:lnTo>
                  <a:pt x="142871" y="0"/>
                </a:lnTo>
                <a:cubicBezTo>
                  <a:pt x="151639" y="0"/>
                  <a:pt x="158746" y="7107"/>
                  <a:pt x="158746" y="15875"/>
                </a:cubicBezTo>
                <a:close/>
              </a:path>
            </a:pathLst>
          </a:custGeom>
          <a:ln w="15875">
            <a:solidFill>
              <a:srgbClr val="0A97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621" y="2683602"/>
            <a:ext cx="1550542" cy="366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question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65902" y="2752656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2575" y="268598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1169" y="2295468"/>
            <a:ext cx="1718327" cy="914377"/>
          </a:xfrm>
          <a:prstGeom prst="roundRect">
            <a:avLst>
              <a:gd name="adj" fmla="val 12500"/>
            </a:avLst>
          </a:prstGeom>
          <a:solidFill>
            <a:srgbClr val="56C02B">
              <a:alpha val="10000"/>
            </a:srgbClr>
          </a:solidFill>
          <a:ln w="9525">
            <a:solidFill>
              <a:srgbClr val="56C02B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20332" y="2511362"/>
            <a:ext cx="9525" cy="103185"/>
          </a:xfrm>
          <a:custGeom>
            <a:avLst/>
            <a:gdLst/>
            <a:ahLst/>
            <a:cxnLst/>
            <a:rect l="l" t="t" r="r" b="b"/>
            <a:pathLst>
              <a:path w="9525" h="103185">
                <a:moveTo>
                  <a:pt x="0" y="103185"/>
                </a:moveTo>
                <a:lnTo>
                  <a:pt x="0" y="0"/>
                </a:lnTo>
              </a:path>
            </a:pathLst>
          </a:custGeom>
          <a:ln w="15875">
            <a:solidFill>
              <a:srgbClr val="56C0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6521" y="2543111"/>
            <a:ext cx="47624" cy="31749"/>
          </a:xfrm>
          <a:custGeom>
            <a:avLst/>
            <a:gdLst/>
            <a:ahLst/>
            <a:cxnLst/>
            <a:rect l="l" t="t" r="r" b="b"/>
            <a:pathLst>
              <a:path w="47624" h="31749">
                <a:moveTo>
                  <a:pt x="47624" y="31749"/>
                </a:moveTo>
                <a:cubicBezTo>
                  <a:pt x="33518" y="27626"/>
                  <a:pt x="23821" y="14696"/>
                  <a:pt x="23812" y="0"/>
                </a:cubicBezTo>
                <a:cubicBezTo>
                  <a:pt x="23803" y="14696"/>
                  <a:pt x="14105" y="27626"/>
                  <a:pt x="0" y="31749"/>
                </a:cubicBezTo>
              </a:path>
            </a:pathLst>
          </a:custGeom>
          <a:ln w="15875">
            <a:solidFill>
              <a:srgbClr val="56C0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70894" y="2485561"/>
            <a:ext cx="98878" cy="37707"/>
          </a:xfrm>
          <a:custGeom>
            <a:avLst/>
            <a:gdLst/>
            <a:ahLst/>
            <a:cxnLst/>
            <a:rect l="l" t="t" r="r" b="b"/>
            <a:pathLst>
              <a:path w="98878" h="37707">
                <a:moveTo>
                  <a:pt x="93872" y="37707"/>
                </a:moveTo>
                <a:cubicBezTo>
                  <a:pt x="98878" y="29037"/>
                  <a:pt x="97927" y="18163"/>
                  <a:pt x="91492" y="10494"/>
                </a:cubicBezTo>
                <a:cubicBezTo>
                  <a:pt x="85057" y="2825"/>
                  <a:pt x="74513" y="0"/>
                  <a:pt x="65106" y="3424"/>
                </a:cubicBezTo>
                <a:cubicBezTo>
                  <a:pt x="55699" y="6848"/>
                  <a:pt x="49438" y="15790"/>
                  <a:pt x="49439" y="25801"/>
                </a:cubicBezTo>
                <a:cubicBezTo>
                  <a:pt x="49439" y="15790"/>
                  <a:pt x="43178" y="6848"/>
                  <a:pt x="33771" y="3424"/>
                </a:cubicBezTo>
                <a:cubicBezTo>
                  <a:pt x="24364" y="0"/>
                  <a:pt x="13820" y="2825"/>
                  <a:pt x="7386" y="10494"/>
                </a:cubicBezTo>
                <a:cubicBezTo>
                  <a:pt x="951" y="18163"/>
                  <a:pt x="0" y="29037"/>
                  <a:pt x="5006" y="37707"/>
                </a:cubicBezTo>
              </a:path>
            </a:pathLst>
          </a:custGeom>
          <a:ln w="15875">
            <a:solidFill>
              <a:srgbClr val="56C0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67932" y="2512354"/>
            <a:ext cx="25092" cy="45798"/>
          </a:xfrm>
          <a:custGeom>
            <a:avLst/>
            <a:gdLst/>
            <a:ahLst/>
            <a:cxnLst/>
            <a:rect l="l" t="t" r="r" b="b"/>
            <a:pathLst>
              <a:path w="25092" h="45798">
                <a:moveTo>
                  <a:pt x="0" y="0"/>
                </a:moveTo>
                <a:cubicBezTo>
                  <a:pt x="9453" y="2431"/>
                  <a:pt x="17263" y="9075"/>
                  <a:pt x="21178" y="18016"/>
                </a:cubicBezTo>
                <a:cubicBezTo>
                  <a:pt x="25092" y="26958"/>
                  <a:pt x="24676" y="37203"/>
                  <a:pt x="20050" y="45798"/>
                </a:cubicBezTo>
              </a:path>
            </a:pathLst>
          </a:custGeom>
          <a:ln w="15875">
            <a:solidFill>
              <a:srgbClr val="56C0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7956" y="2555303"/>
            <a:ext cx="34385" cy="59244"/>
          </a:xfrm>
          <a:custGeom>
            <a:avLst/>
            <a:gdLst/>
            <a:ahLst/>
            <a:cxnLst/>
            <a:rect l="l" t="t" r="r" b="b"/>
            <a:pathLst>
              <a:path w="34385" h="59244">
                <a:moveTo>
                  <a:pt x="0" y="59244"/>
                </a:moveTo>
                <a:cubicBezTo>
                  <a:pt x="14369" y="59243"/>
                  <a:pt x="26947" y="49592"/>
                  <a:pt x="30666" y="35712"/>
                </a:cubicBezTo>
                <a:cubicBezTo>
                  <a:pt x="34385" y="21833"/>
                  <a:pt x="28318" y="7185"/>
                  <a:pt x="15875" y="0"/>
                </a:cubicBezTo>
              </a:path>
            </a:pathLst>
          </a:custGeom>
          <a:ln w="15875">
            <a:solidFill>
              <a:srgbClr val="56C0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55580" y="2610444"/>
            <a:ext cx="129505" cy="37692"/>
          </a:xfrm>
          <a:custGeom>
            <a:avLst/>
            <a:gdLst/>
            <a:ahLst/>
            <a:cxnLst/>
            <a:rect l="l" t="t" r="r" b="b"/>
            <a:pathLst>
              <a:path w="129505" h="37692">
                <a:moveTo>
                  <a:pt x="127989" y="0"/>
                </a:moveTo>
                <a:cubicBezTo>
                  <a:pt x="129505" y="11729"/>
                  <a:pt x="124376" y="23328"/>
                  <a:pt x="114680" y="30099"/>
                </a:cubicBezTo>
                <a:cubicBezTo>
                  <a:pt x="104985" y="36871"/>
                  <a:pt x="92329" y="37692"/>
                  <a:pt x="81839" y="32230"/>
                </a:cubicBezTo>
                <a:cubicBezTo>
                  <a:pt x="71350" y="26769"/>
                  <a:pt x="64765" y="15930"/>
                  <a:pt x="64752" y="4104"/>
                </a:cubicBezTo>
                <a:cubicBezTo>
                  <a:pt x="64740" y="15930"/>
                  <a:pt x="58155" y="26769"/>
                  <a:pt x="47666" y="32230"/>
                </a:cubicBezTo>
                <a:cubicBezTo>
                  <a:pt x="37176" y="37692"/>
                  <a:pt x="24520" y="36871"/>
                  <a:pt x="14824" y="30099"/>
                </a:cubicBezTo>
                <a:cubicBezTo>
                  <a:pt x="5129" y="23328"/>
                  <a:pt x="0" y="11729"/>
                  <a:pt x="1516" y="0"/>
                </a:cubicBezTo>
              </a:path>
            </a:pathLst>
          </a:custGeom>
          <a:ln w="15875">
            <a:solidFill>
              <a:srgbClr val="56C0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38324" y="2555303"/>
            <a:ext cx="34385" cy="59244"/>
          </a:xfrm>
          <a:custGeom>
            <a:avLst/>
            <a:gdLst/>
            <a:ahLst/>
            <a:cxnLst/>
            <a:rect l="l" t="t" r="r" b="b"/>
            <a:pathLst>
              <a:path w="34385" h="59244">
                <a:moveTo>
                  <a:pt x="34385" y="59244"/>
                </a:moveTo>
                <a:cubicBezTo>
                  <a:pt x="20016" y="59243"/>
                  <a:pt x="7438" y="49592"/>
                  <a:pt x="3719" y="35712"/>
                </a:cubicBezTo>
                <a:cubicBezTo>
                  <a:pt x="0" y="21833"/>
                  <a:pt x="6067" y="7185"/>
                  <a:pt x="18510" y="0"/>
                </a:cubicBezTo>
              </a:path>
            </a:pathLst>
          </a:custGeom>
          <a:ln w="15875">
            <a:solidFill>
              <a:srgbClr val="56C0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7640" y="2512354"/>
            <a:ext cx="25092" cy="45798"/>
          </a:xfrm>
          <a:custGeom>
            <a:avLst/>
            <a:gdLst/>
            <a:ahLst/>
            <a:cxnLst/>
            <a:rect l="l" t="t" r="r" b="b"/>
            <a:pathLst>
              <a:path w="25092" h="45798">
                <a:moveTo>
                  <a:pt x="25092" y="0"/>
                </a:moveTo>
                <a:cubicBezTo>
                  <a:pt x="15639" y="2431"/>
                  <a:pt x="7829" y="9075"/>
                  <a:pt x="3915" y="18016"/>
                </a:cubicBezTo>
                <a:cubicBezTo>
                  <a:pt x="0" y="26958"/>
                  <a:pt x="416" y="37203"/>
                  <a:pt x="5043" y="45798"/>
                </a:cubicBezTo>
              </a:path>
            </a:pathLst>
          </a:custGeom>
          <a:ln w="15875">
            <a:solidFill>
              <a:srgbClr val="56C0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44987" y="2683602"/>
            <a:ext cx="1550691" cy="366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understands intent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41417" y="2752656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08090" y="268598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6684" y="2295468"/>
            <a:ext cx="1718178" cy="914377"/>
          </a:xfrm>
          <a:prstGeom prst="roundRect">
            <a:avLst>
              <a:gd name="adj" fmla="val 12500"/>
            </a:avLst>
          </a:prstGeom>
          <a:solidFill>
            <a:srgbClr val="E4572E">
              <a:alpha val="10000"/>
            </a:srgbClr>
          </a:solidFill>
          <a:ln w="9525">
            <a:solidFill>
              <a:srgbClr val="E4572E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1266" y="2569769"/>
            <a:ext cx="128864" cy="160993"/>
          </a:xfrm>
          <a:custGeom>
            <a:avLst/>
            <a:gdLst/>
            <a:ahLst/>
            <a:cxnLst/>
            <a:rect l="l" t="t" r="r" b="b"/>
            <a:pathLst>
              <a:path w="128864" h="160993">
                <a:moveTo>
                  <a:pt x="95499" y="16997"/>
                </a:moveTo>
                <a:cubicBezTo>
                  <a:pt x="97349" y="11756"/>
                  <a:pt x="95326" y="5932"/>
                  <a:pt x="90625" y="2966"/>
                </a:cubicBezTo>
                <a:cubicBezTo>
                  <a:pt x="85924" y="0"/>
                  <a:pt x="79797" y="681"/>
                  <a:pt x="75862" y="4607"/>
                </a:cubicBezTo>
                <a:lnTo>
                  <a:pt x="4427" y="76043"/>
                </a:lnTo>
                <a:cubicBezTo>
                  <a:pt x="1020" y="79447"/>
                  <a:pt x="0" y="84568"/>
                  <a:pt x="1842" y="89018"/>
                </a:cubicBezTo>
                <a:cubicBezTo>
                  <a:pt x="3683" y="93467"/>
                  <a:pt x="8024" y="96369"/>
                  <a:pt x="12840" y="96370"/>
                </a:cubicBezTo>
                <a:lnTo>
                  <a:pt x="44605" y="96370"/>
                </a:lnTo>
                <a:cubicBezTo>
                  <a:pt x="45892" y="96372"/>
                  <a:pt x="47097" y="96997"/>
                  <a:pt x="47840" y="98047"/>
                </a:cubicBezTo>
                <a:cubicBezTo>
                  <a:pt x="48583" y="99098"/>
                  <a:pt x="48771" y="100443"/>
                  <a:pt x="48344" y="101657"/>
                </a:cubicBezTo>
                <a:lnTo>
                  <a:pt x="33366" y="143994"/>
                </a:lnTo>
                <a:cubicBezTo>
                  <a:pt x="31516" y="149237"/>
                  <a:pt x="33541" y="155063"/>
                  <a:pt x="38245" y="158028"/>
                </a:cubicBezTo>
                <a:cubicBezTo>
                  <a:pt x="42949" y="160993"/>
                  <a:pt x="49078" y="160307"/>
                  <a:pt x="53011" y="156376"/>
                </a:cubicBezTo>
                <a:lnTo>
                  <a:pt x="124446" y="84941"/>
                </a:lnTo>
                <a:cubicBezTo>
                  <a:pt x="127848" y="81535"/>
                  <a:pt x="128864" y="76415"/>
                  <a:pt x="127021" y="71969"/>
                </a:cubicBezTo>
                <a:cubicBezTo>
                  <a:pt x="125178" y="67522"/>
                  <a:pt x="120839" y="64622"/>
                  <a:pt x="116025" y="64621"/>
                </a:cubicBezTo>
                <a:lnTo>
                  <a:pt x="84300" y="64621"/>
                </a:lnTo>
                <a:cubicBezTo>
                  <a:pt x="83010" y="64623"/>
                  <a:pt x="81799" y="63998"/>
                  <a:pt x="81054" y="62945"/>
                </a:cubicBezTo>
                <a:cubicBezTo>
                  <a:pt x="80309" y="61892"/>
                  <a:pt x="80122" y="60543"/>
                  <a:pt x="80553" y="59327"/>
                </a:cubicBezTo>
                <a:close/>
              </a:path>
            </a:pathLst>
          </a:custGeom>
          <a:ln w="15875">
            <a:solidFill>
              <a:srgbClr val="E457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3172" y="2783612"/>
            <a:ext cx="1125053" cy="1666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Invokes the Skill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16783" y="2752656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3456" y="268598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12051" y="2295468"/>
            <a:ext cx="1718327" cy="914377"/>
          </a:xfrm>
          <a:prstGeom prst="roundRect">
            <a:avLst>
              <a:gd name="adj" fmla="val 12500"/>
            </a:avLst>
          </a:prstGeom>
          <a:solidFill>
            <a:srgbClr val="0F2740">
              <a:alpha val="10000"/>
            </a:srgbClr>
          </a:solidFill>
          <a:ln w="9525">
            <a:solidFill>
              <a:srgbClr val="0F274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1214" y="2705826"/>
            <a:ext cx="63498" cy="9525"/>
          </a:xfrm>
          <a:custGeom>
            <a:avLst/>
            <a:gdLst/>
            <a:ahLst/>
            <a:cxnLst/>
            <a:rect l="l" t="t" r="r" b="b"/>
            <a:pathLst>
              <a:path w="63498" h="9525">
                <a:moveTo>
                  <a:pt x="0" y="0"/>
                </a:moveTo>
                <a:lnTo>
                  <a:pt x="63498" y="0"/>
                </a:lnTo>
              </a:path>
            </a:pathLst>
          </a:custGeom>
          <a:ln w="15875">
            <a:solidFill>
              <a:srgbClr val="0F27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07716" y="2594704"/>
            <a:ext cx="47624" cy="95248"/>
          </a:xfrm>
          <a:custGeom>
            <a:avLst/>
            <a:gdLst/>
            <a:ahLst/>
            <a:cxnLst/>
            <a:rect l="l" t="t" r="r" b="b"/>
            <a:pathLst>
              <a:path w="47624" h="95248">
                <a:moveTo>
                  <a:pt x="0" y="95248"/>
                </a:moveTo>
                <a:lnTo>
                  <a:pt x="47624" y="47624"/>
                </a:lnTo>
                <a:lnTo>
                  <a:pt x="0" y="0"/>
                </a:lnTo>
              </a:path>
            </a:pathLst>
          </a:custGeom>
          <a:ln w="15875">
            <a:solidFill>
              <a:srgbClr val="0F27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7064" y="2783612"/>
            <a:ext cx="1448300" cy="1666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/ GDAL computes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292298" y="2752656"/>
            <a:ext cx="133347" cy="9525"/>
          </a:xfrm>
          <a:custGeom>
            <a:avLst/>
            <a:gdLst/>
            <a:ahLst/>
            <a:cxnLst/>
            <a:rect l="l" t="t" r="r" b="b"/>
            <a:pathLst>
              <a:path w="133347" h="9525">
                <a:moveTo>
                  <a:pt x="0" y="0"/>
                </a:moveTo>
                <a:lnTo>
                  <a:pt x="133347" y="0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58971" y="2685983"/>
            <a:ext cx="66673" cy="133347"/>
          </a:xfrm>
          <a:custGeom>
            <a:avLst/>
            <a:gdLst/>
            <a:ahLst/>
            <a:cxnLst/>
            <a:rect l="l" t="t" r="r" b="b"/>
            <a:pathLst>
              <a:path w="66673" h="133347">
                <a:moveTo>
                  <a:pt x="0" y="0"/>
                </a:moveTo>
                <a:lnTo>
                  <a:pt x="66673" y="66673"/>
                </a:lnTo>
                <a:lnTo>
                  <a:pt x="0" y="133347"/>
                </a:lnTo>
              </a:path>
            </a:pathLst>
          </a:custGeom>
          <a:ln w="1905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87566" y="2295468"/>
            <a:ext cx="1718327" cy="914377"/>
          </a:xfrm>
          <a:prstGeom prst="roundRect">
            <a:avLst>
              <a:gd name="adj" fmla="val 12500"/>
            </a:avLst>
          </a:prstGeom>
          <a:solidFill>
            <a:srgbClr val="0A97D9">
              <a:alpha val="10000"/>
            </a:srgbClr>
          </a:solidFill>
          <a:ln w="9525">
            <a:solidFill>
              <a:srgbClr val="0A97D9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67337" y="2570873"/>
            <a:ext cx="158784" cy="158784"/>
          </a:xfrm>
          <a:custGeom>
            <a:avLst/>
            <a:gdLst/>
            <a:ahLst/>
            <a:cxnLst/>
            <a:rect l="l" t="t" r="r" b="b"/>
            <a:pathLst>
              <a:path w="158784" h="158784">
                <a:moveTo>
                  <a:pt x="71590" y="6480"/>
                </a:moveTo>
                <a:cubicBezTo>
                  <a:pt x="72291" y="2723"/>
                  <a:pt x="75570" y="0"/>
                  <a:pt x="79392" y="0"/>
                </a:cubicBezTo>
                <a:cubicBezTo>
                  <a:pt x="83214" y="0"/>
                  <a:pt x="86493" y="2723"/>
                  <a:pt x="87194" y="6480"/>
                </a:cubicBezTo>
                <a:lnTo>
                  <a:pt x="95536" y="50595"/>
                </a:lnTo>
                <a:cubicBezTo>
                  <a:pt x="96749" y="57014"/>
                  <a:pt x="101770" y="62035"/>
                  <a:pt x="108189" y="63248"/>
                </a:cubicBezTo>
                <a:lnTo>
                  <a:pt x="152304" y="71590"/>
                </a:lnTo>
                <a:cubicBezTo>
                  <a:pt x="156061" y="72291"/>
                  <a:pt x="158784" y="75570"/>
                  <a:pt x="158784" y="79392"/>
                </a:cubicBezTo>
                <a:cubicBezTo>
                  <a:pt x="158784" y="83214"/>
                  <a:pt x="156061" y="86493"/>
                  <a:pt x="152304" y="87194"/>
                </a:cubicBezTo>
                <a:lnTo>
                  <a:pt x="108189" y="95536"/>
                </a:lnTo>
                <a:cubicBezTo>
                  <a:pt x="101770" y="96749"/>
                  <a:pt x="96749" y="101770"/>
                  <a:pt x="95536" y="108189"/>
                </a:cubicBezTo>
                <a:lnTo>
                  <a:pt x="87194" y="152304"/>
                </a:lnTo>
                <a:cubicBezTo>
                  <a:pt x="86493" y="156061"/>
                  <a:pt x="83214" y="158784"/>
                  <a:pt x="79392" y="158784"/>
                </a:cubicBezTo>
                <a:cubicBezTo>
                  <a:pt x="75570" y="158784"/>
                  <a:pt x="72291" y="156061"/>
                  <a:pt x="71590" y="152304"/>
                </a:cubicBezTo>
                <a:lnTo>
                  <a:pt x="63248" y="108189"/>
                </a:lnTo>
                <a:cubicBezTo>
                  <a:pt x="62035" y="101770"/>
                  <a:pt x="57014" y="96749"/>
                  <a:pt x="50595" y="95536"/>
                </a:cubicBezTo>
                <a:lnTo>
                  <a:pt x="6480" y="87194"/>
                </a:lnTo>
                <a:cubicBezTo>
                  <a:pt x="2723" y="86493"/>
                  <a:pt x="0" y="83214"/>
                  <a:pt x="0" y="79392"/>
                </a:cubicBezTo>
                <a:cubicBezTo>
                  <a:pt x="0" y="75570"/>
                  <a:pt x="2723" y="72291"/>
                  <a:pt x="6480" y="71590"/>
                </a:cubicBezTo>
                <a:lnTo>
                  <a:pt x="50595" y="63248"/>
                </a:lnTo>
                <a:cubicBezTo>
                  <a:pt x="57014" y="62035"/>
                  <a:pt x="62035" y="57014"/>
                  <a:pt x="63248" y="50595"/>
                </a:cubicBezTo>
                <a:close/>
              </a:path>
            </a:pathLst>
          </a:custGeom>
          <a:ln w="15875">
            <a:solidFill>
              <a:srgbClr val="0A97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10227" y="2570892"/>
            <a:ext cx="9525" cy="31749"/>
          </a:xfrm>
          <a:custGeom>
            <a:avLst/>
            <a:gdLst/>
            <a:ahLst/>
            <a:cxnLst/>
            <a:rect l="l" t="t" r="r" b="b"/>
            <a:pathLst>
              <a:path w="9525" h="31749">
                <a:moveTo>
                  <a:pt x="0" y="0"/>
                </a:moveTo>
                <a:lnTo>
                  <a:pt x="0" y="31749"/>
                </a:lnTo>
              </a:path>
            </a:pathLst>
          </a:custGeom>
          <a:ln w="15875">
            <a:solidFill>
              <a:srgbClr val="0A97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94353" y="2586767"/>
            <a:ext cx="31749" cy="9525"/>
          </a:xfrm>
          <a:custGeom>
            <a:avLst/>
            <a:gdLst/>
            <a:ahLst/>
            <a:cxnLst/>
            <a:rect l="l" t="t" r="r" b="b"/>
            <a:pathLst>
              <a:path w="31749" h="9525">
                <a:moveTo>
                  <a:pt x="31749" y="0"/>
                </a:moveTo>
                <a:lnTo>
                  <a:pt x="0" y="0"/>
                </a:lnTo>
              </a:path>
            </a:pathLst>
          </a:custGeom>
          <a:ln w="15875">
            <a:solidFill>
              <a:srgbClr val="0A97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67356" y="2697889"/>
            <a:ext cx="31749" cy="31749"/>
          </a:xfrm>
          <a:prstGeom prst="ellipse">
            <a:avLst/>
          </a:prstGeom>
          <a:ln w="15875">
            <a:solidFill>
              <a:srgbClr val="0A97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7279" y="2783612"/>
            <a:ext cx="1498900" cy="1666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+ interpretation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9585" y="3714657"/>
            <a:ext cx="10972526" cy="914377"/>
          </a:xfrm>
          <a:prstGeom prst="roundRect">
            <a:avLst>
              <a:gd name="adj" fmla="val 16667"/>
            </a:avLst>
          </a:prstGeom>
          <a:solidFill>
            <a:srgbClr val="0F2740"/>
          </a:solidFill>
          <a:ln/>
        </p:spPr>
      </p:sp>
      <p:sp>
        <p:nvSpPr>
          <p:cNvPr id="47" name="Text 45"/>
          <p:cNvSpPr/>
          <p:nvPr/>
        </p:nvSpPr>
        <p:spPr>
          <a:xfrm>
            <a:off x="914377" y="4040880"/>
            <a:ext cx="9791455" cy="2619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</a:t>
            </a:r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artifact</a:t>
            </a:r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an </a:t>
            </a:r>
            <a:pPr algn="l"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AI-era intelligent assistant</a:t>
            </a:r>
            <a:pPr algn="l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strongest echo of the conference theme.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0972526" y="4019450"/>
            <a:ext cx="76198" cy="76198"/>
          </a:xfrm>
          <a:custGeom>
            <a:avLst/>
            <a:gdLst/>
            <a:ahLst/>
            <a:cxnLst/>
            <a:rect l="l" t="t" r="r" b="b"/>
            <a:pathLst>
              <a:path w="76198" h="76198">
                <a:moveTo>
                  <a:pt x="76198" y="76198"/>
                </a:moveTo>
                <a:lnTo>
                  <a:pt x="76198" y="0"/>
                </a:lnTo>
                <a:lnTo>
                  <a:pt x="0" y="0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96328" y="4095648"/>
            <a:ext cx="304792" cy="228594"/>
          </a:xfrm>
          <a:prstGeom prst="rect">
            <a:avLst/>
          </a:prstGeom>
          <a:ln w="38100">
            <a:solidFill>
              <a:srgbClr val="E4572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58229" y="4209945"/>
            <a:ext cx="38099" cy="9525"/>
          </a:xfrm>
          <a:custGeom>
            <a:avLst/>
            <a:gdLst/>
            <a:ahLst/>
            <a:cxnLst/>
            <a:rect l="l" t="t" r="r" b="b"/>
            <a:pathLst>
              <a:path w="38099" h="9525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01120" y="4209945"/>
            <a:ext cx="38099" cy="9525"/>
          </a:xfrm>
          <a:custGeom>
            <a:avLst/>
            <a:gdLst/>
            <a:ahLst/>
            <a:cxnLst/>
            <a:rect l="l" t="t" r="r" b="b"/>
            <a:pathLst>
              <a:path w="38099" h="9525">
                <a:moveTo>
                  <a:pt x="0" y="0"/>
                </a:moveTo>
                <a:lnTo>
                  <a:pt x="38099" y="0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05872" y="4190895"/>
            <a:ext cx="9525" cy="38099"/>
          </a:xfrm>
          <a:custGeom>
            <a:avLst/>
            <a:gdLst/>
            <a:ahLst/>
            <a:cxnLst/>
            <a:rect l="l" t="t" r="r" b="b"/>
            <a:pathLst>
              <a:path w="9525" h="38099">
                <a:moveTo>
                  <a:pt x="0" y="0"/>
                </a:moveTo>
                <a:lnTo>
                  <a:pt x="0" y="38099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91575" y="4190895"/>
            <a:ext cx="9525" cy="38099"/>
          </a:xfrm>
          <a:custGeom>
            <a:avLst/>
            <a:gdLst/>
            <a:ahLst/>
            <a:cxnLst/>
            <a:rect l="l" t="t" r="r" b="b"/>
            <a:pathLst>
              <a:path w="9525" h="38099">
                <a:moveTo>
                  <a:pt x="0" y="0"/>
                </a:moveTo>
                <a:lnTo>
                  <a:pt x="0" y="38099"/>
                </a:lnTo>
              </a:path>
            </a:pathLst>
          </a:custGeom>
          <a:ln w="38100">
            <a:solidFill>
              <a:srgbClr val="E4572E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57189"/>
            <a:ext cx="11052534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3" kern="0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723882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Conclusions &amp; Outlook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09585" y="1447764"/>
            <a:ext cx="3530413" cy="340986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585" y="1447764"/>
            <a:ext cx="3530413" cy="0"/>
          </a:xfrm>
          <a:prstGeom prst="line">
            <a:avLst/>
          </a:prstGeom>
          <a:noFill/>
          <a:ln w="38100">
            <a:solidFill>
              <a:srgbClr val="0A9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8179" y="1714457"/>
            <a:ext cx="342891" cy="342891"/>
          </a:xfrm>
          <a:prstGeom prst="roundRect">
            <a:avLst>
              <a:gd name="adj" fmla="val 22222"/>
            </a:avLst>
          </a:prstGeom>
          <a:solidFill>
            <a:srgbClr val="0A97D9"/>
          </a:solidFill>
          <a:ln/>
        </p:spPr>
      </p:sp>
      <p:sp>
        <p:nvSpPr>
          <p:cNvPr id="8" name="Text 6"/>
          <p:cNvSpPr/>
          <p:nvPr/>
        </p:nvSpPr>
        <p:spPr>
          <a:xfrm>
            <a:off x="792460" y="1714457"/>
            <a:ext cx="434329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179" y="2188314"/>
            <a:ext cx="3176091" cy="246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Spatially explicit,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0A9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tools are key to SDG implementation.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30493" y="1447764"/>
            <a:ext cx="3530561" cy="340986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0493" y="1447764"/>
            <a:ext cx="3530561" cy="0"/>
          </a:xfrm>
          <a:prstGeom prst="line">
            <a:avLst/>
          </a:prstGeom>
          <a:noFill/>
          <a:ln w="38100">
            <a:solidFill>
              <a:srgbClr val="56C0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9087" y="1714457"/>
            <a:ext cx="342891" cy="342891"/>
          </a:xfrm>
          <a:prstGeom prst="roundRect">
            <a:avLst>
              <a:gd name="adj" fmla="val 22222"/>
            </a:avLst>
          </a:prstGeom>
          <a:solidFill>
            <a:srgbClr val="56C02B"/>
          </a:solidFill>
          <a:ln/>
        </p:spPr>
      </p:sp>
      <p:sp>
        <p:nvSpPr>
          <p:cNvPr id="13" name="Text 11"/>
          <p:cNvSpPr/>
          <p:nvPr/>
        </p:nvSpPr>
        <p:spPr>
          <a:xfrm>
            <a:off x="4513368" y="1714457"/>
            <a:ext cx="434329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9087" y="2188314"/>
            <a:ext cx="3176240" cy="246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GeoSDG couples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56C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+ SSP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land &amp; infrastructure co-simulation and scenario assessment.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51549" y="1447764"/>
            <a:ext cx="3530413" cy="340986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51549" y="1447764"/>
            <a:ext cx="3530413" cy="0"/>
          </a:xfrm>
          <a:prstGeom prst="line">
            <a:avLst/>
          </a:prstGeom>
          <a:noFill/>
          <a:ln w="38100">
            <a:solidFill>
              <a:srgbClr val="E457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0143" y="1714457"/>
            <a:ext cx="342891" cy="342891"/>
          </a:xfrm>
          <a:prstGeom prst="roundRect">
            <a:avLst>
              <a:gd name="adj" fmla="val 22222"/>
            </a:avLst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8234425" y="1714457"/>
            <a:ext cx="434329" cy="3428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80143" y="2188314"/>
            <a:ext cx="3176091" cy="2462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pPr algn="l" indent="0" marL="0">
              <a:lnSpc>
                <a:spcPct val="137500"/>
              </a:lnSpc>
              <a:buNone/>
            </a:pPr>
            <a:r>
              <a:rPr lang="en-US" sz="135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→ CLI → AI Agent</a:t>
            </a:r>
            <a:pPr algn="l" indent="0" marL="0">
              <a:lnSpc>
                <a:spcPct val="1375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open, reproducible, intelligent.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9585" y="5086223"/>
            <a:ext cx="5371966" cy="1314417"/>
          </a:xfrm>
          <a:prstGeom prst="roundRect">
            <a:avLst>
              <a:gd name="adj" fmla="val 11594"/>
            </a:avLst>
          </a:prstGeom>
          <a:solidFill>
            <a:srgbClr val="0F274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2195" y="5352740"/>
            <a:ext cx="256485" cy="228853"/>
          </a:xfrm>
          <a:custGeom>
            <a:avLst/>
            <a:gdLst/>
            <a:ahLst/>
            <a:cxnLst/>
            <a:rect l="l" t="t" r="r" b="b"/>
            <a:pathLst>
              <a:path w="256485" h="228853">
                <a:moveTo>
                  <a:pt x="251948" y="190672"/>
                </a:moveTo>
                <a:lnTo>
                  <a:pt x="150350" y="12876"/>
                </a:lnTo>
                <a:cubicBezTo>
                  <a:pt x="145840" y="4918"/>
                  <a:pt x="137400" y="0"/>
                  <a:pt x="128253" y="0"/>
                </a:cubicBezTo>
                <a:cubicBezTo>
                  <a:pt x="119106" y="0"/>
                  <a:pt x="110665" y="4918"/>
                  <a:pt x="106156" y="12876"/>
                </a:cubicBezTo>
                <a:lnTo>
                  <a:pt x="4558" y="190672"/>
                </a:lnTo>
                <a:cubicBezTo>
                  <a:pt x="0" y="198566"/>
                  <a:pt x="22" y="208297"/>
                  <a:pt x="4615" y="216170"/>
                </a:cubicBezTo>
                <a:cubicBezTo>
                  <a:pt x="9207" y="224044"/>
                  <a:pt x="17667" y="228853"/>
                  <a:pt x="26782" y="228771"/>
                </a:cubicBezTo>
                <a:lnTo>
                  <a:pt x="229977" y="228771"/>
                </a:lnTo>
                <a:cubicBezTo>
                  <a:pt x="239047" y="228761"/>
                  <a:pt x="247424" y="223917"/>
                  <a:pt x="251954" y="216060"/>
                </a:cubicBezTo>
                <a:cubicBezTo>
                  <a:pt x="256485" y="208203"/>
                  <a:pt x="256483" y="198526"/>
                  <a:pt x="251948" y="190672"/>
                </a:cubicBezTo>
              </a:path>
            </a:pathLst>
          </a:custGeom>
          <a:ln w="25400">
            <a:solidFill>
              <a:srgbClr val="E457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575" y="5429114"/>
            <a:ext cx="9525" cy="50799"/>
          </a:xfrm>
          <a:custGeom>
            <a:avLst/>
            <a:gdLst/>
            <a:ahLst/>
            <a:cxnLst/>
            <a:rect l="l" t="t" r="r" b="b"/>
            <a:pathLst>
              <a:path w="9525" h="50799">
                <a:moveTo>
                  <a:pt x="0" y="0"/>
                </a:moveTo>
                <a:lnTo>
                  <a:pt x="0" y="50799"/>
                </a:lnTo>
              </a:path>
            </a:pathLst>
          </a:custGeom>
          <a:ln w="25400">
            <a:solidFill>
              <a:srgbClr val="E457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0575" y="5530712"/>
            <a:ext cx="127" cy="9525"/>
          </a:xfrm>
          <a:custGeom>
            <a:avLst/>
            <a:gdLst/>
            <a:ahLst/>
            <a:cxnLst/>
            <a:rect l="l" t="t" r="r" b="b"/>
            <a:pathLst>
              <a:path w="127" h="9525">
                <a:moveTo>
                  <a:pt x="0" y="0"/>
                </a:moveTo>
                <a:lnTo>
                  <a:pt x="127" y="0"/>
                </a:lnTo>
              </a:path>
            </a:pathLst>
          </a:custGeom>
          <a:ln w="25400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7269" y="5333867"/>
            <a:ext cx="1824587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Limitations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8179" y="5733907"/>
            <a:ext cx="5006215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indicators · single region (YRDUA) · long-term prediction uncertainty.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0145" y="5086223"/>
            <a:ext cx="5371966" cy="1314417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1F5F9"/>
            </a:solidFill>
            <a:prstDash val="solid"/>
          </a:ln>
          <a:effectLst>
            <a:outerShdw sx="100000" sy="100000" kx="0" ky="0" algn="bl" rotWithShape="0" blurRad="19050" dist="1016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663" y="5349741"/>
            <a:ext cx="253994" cy="253994"/>
          </a:xfrm>
          <a:prstGeom prst="ellipse">
            <a:avLst/>
          </a:prstGeom>
          <a:ln w="25400">
            <a:solidFill>
              <a:srgbClr val="56C0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6813" y="5422891"/>
            <a:ext cx="107693" cy="107693"/>
          </a:xfrm>
          <a:custGeom>
            <a:avLst/>
            <a:gdLst/>
            <a:ahLst/>
            <a:cxnLst/>
            <a:rect l="l" t="t" r="r" b="b"/>
            <a:pathLst>
              <a:path w="107693" h="107693">
                <a:moveTo>
                  <a:pt x="107693" y="0"/>
                </a:moveTo>
                <a:lnTo>
                  <a:pt x="84783" y="68718"/>
                </a:lnTo>
                <a:cubicBezTo>
                  <a:pt x="82255" y="76303"/>
                  <a:pt x="76303" y="82255"/>
                  <a:pt x="68718" y="84783"/>
                </a:cubicBezTo>
                <a:lnTo>
                  <a:pt x="0" y="107693"/>
                </a:lnTo>
                <a:lnTo>
                  <a:pt x="22910" y="38975"/>
                </a:lnTo>
                <a:cubicBezTo>
                  <a:pt x="25438" y="31390"/>
                  <a:pt x="31390" y="25438"/>
                  <a:pt x="38975" y="22910"/>
                </a:cubicBezTo>
                <a:close/>
              </a:path>
            </a:pathLst>
          </a:custGeom>
          <a:ln w="25400">
            <a:solidFill>
              <a:srgbClr val="56C0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353" y="5343391"/>
            <a:ext cx="83386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8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Outlook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48264" y="5724382"/>
            <a:ext cx="4987165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Cross-region validation · indicator expansion · a smarter Agent version (in progress).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2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09585" y="-609585"/>
            <a:ext cx="2438339" cy="2438339"/>
          </a:xfrm>
          <a:prstGeom prst="ellipse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29554" y="4876678"/>
            <a:ext cx="2743131" cy="2743131"/>
          </a:xfrm>
          <a:prstGeom prst="ellipse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9585" y="457189"/>
            <a:ext cx="11246839" cy="45718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Acknowledgments &amp; References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09585" y="1181070"/>
            <a:ext cx="4438539" cy="2171646"/>
          </a:xfrm>
          <a:prstGeom prst="roundRect">
            <a:avLst>
              <a:gd name="adj" fmla="val 70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6278" y="1469896"/>
            <a:ext cx="285743" cy="249459"/>
          </a:xfrm>
          <a:custGeom>
            <a:avLst/>
            <a:gdLst/>
            <a:ahLst/>
            <a:cxnLst/>
            <a:rect l="l" t="t" r="r" b="b"/>
            <a:pathLst>
              <a:path w="285743" h="249459">
                <a:moveTo>
                  <a:pt x="248796" y="155228"/>
                </a:moveTo>
                <a:cubicBezTo>
                  <a:pt x="271456" y="132569"/>
                  <a:pt x="285743" y="113596"/>
                  <a:pt x="285743" y="85021"/>
                </a:cubicBezTo>
                <a:cubicBezTo>
                  <a:pt x="285742" y="52474"/>
                  <a:pt x="265677" y="23296"/>
                  <a:pt x="235286" y="11648"/>
                </a:cubicBezTo>
                <a:cubicBezTo>
                  <a:pt x="204895" y="0"/>
                  <a:pt x="170469" y="8293"/>
                  <a:pt x="148715" y="32502"/>
                </a:cubicBezTo>
                <a:cubicBezTo>
                  <a:pt x="145427" y="35573"/>
                  <a:pt x="140324" y="35579"/>
                  <a:pt x="137028" y="32516"/>
                </a:cubicBezTo>
                <a:cubicBezTo>
                  <a:pt x="115276" y="8309"/>
                  <a:pt x="80853" y="15"/>
                  <a:pt x="50463" y="11660"/>
                </a:cubicBezTo>
                <a:cubicBezTo>
                  <a:pt x="20074" y="23304"/>
                  <a:pt x="7" y="52477"/>
                  <a:pt x="0" y="85021"/>
                </a:cubicBezTo>
                <a:cubicBezTo>
                  <a:pt x="0" y="117882"/>
                  <a:pt x="21431" y="142170"/>
                  <a:pt x="42861" y="163601"/>
                </a:cubicBezTo>
                <a:lnTo>
                  <a:pt x="121941" y="240208"/>
                </a:lnTo>
                <a:cubicBezTo>
                  <a:pt x="127225" y="245890"/>
                  <a:pt x="134592" y="249179"/>
                  <a:pt x="142349" y="249319"/>
                </a:cubicBezTo>
                <a:cubicBezTo>
                  <a:pt x="150107" y="249459"/>
                  <a:pt x="157588" y="246438"/>
                  <a:pt x="163073" y="240951"/>
                </a:cubicBezTo>
                <a:cubicBezTo>
                  <a:pt x="168754" y="235262"/>
                  <a:pt x="171940" y="227548"/>
                  <a:pt x="171930" y="219509"/>
                </a:cubicBezTo>
                <a:cubicBezTo>
                  <a:pt x="171919" y="211469"/>
                  <a:pt x="168712" y="203763"/>
                  <a:pt x="163016" y="198090"/>
                </a:cubicBezTo>
                <a:cubicBezTo>
                  <a:pt x="170532" y="206401"/>
                  <a:pt x="182016" y="209894"/>
                  <a:pt x="192887" y="207176"/>
                </a:cubicBezTo>
                <a:cubicBezTo>
                  <a:pt x="203757" y="204457"/>
                  <a:pt x="212245" y="195969"/>
                  <a:pt x="214964" y="185099"/>
                </a:cubicBezTo>
                <a:cubicBezTo>
                  <a:pt x="217682" y="174228"/>
                  <a:pt x="214189" y="162744"/>
                  <a:pt x="205878" y="155228"/>
                </a:cubicBezTo>
                <a:cubicBezTo>
                  <a:pt x="211569" y="160920"/>
                  <a:pt x="219288" y="164118"/>
                  <a:pt x="227337" y="164118"/>
                </a:cubicBezTo>
                <a:cubicBezTo>
                  <a:pt x="235386" y="164118"/>
                  <a:pt x="243105" y="160920"/>
                  <a:pt x="248796" y="155228"/>
                </a:cubicBezTo>
                <a:cubicBezTo>
                  <a:pt x="259951" y="144070"/>
                  <a:pt x="259951" y="125982"/>
                  <a:pt x="248796" y="114824"/>
                </a:cubicBezTo>
                <a:lnTo>
                  <a:pt x="221922" y="87936"/>
                </a:lnTo>
                <a:cubicBezTo>
                  <a:pt x="215465" y="81475"/>
                  <a:pt x="206704" y="77846"/>
                  <a:pt x="197570" y="77846"/>
                </a:cubicBezTo>
                <a:cubicBezTo>
                  <a:pt x="188435" y="77846"/>
                  <a:pt x="179675" y="81475"/>
                  <a:pt x="173217" y="87936"/>
                </a:cubicBezTo>
                <a:lnTo>
                  <a:pt x="148786" y="112367"/>
                </a:lnTo>
                <a:cubicBezTo>
                  <a:pt x="137628" y="123522"/>
                  <a:pt x="119541" y="123522"/>
                  <a:pt x="108382" y="112367"/>
                </a:cubicBezTo>
                <a:cubicBezTo>
                  <a:pt x="97227" y="101209"/>
                  <a:pt x="97227" y="83121"/>
                  <a:pt x="108382" y="71963"/>
                </a:cubicBezTo>
                <a:lnTo>
                  <a:pt x="148715" y="32502"/>
                </a:lnTo>
              </a:path>
            </a:pathLst>
          </a:custGeom>
          <a:ln w="28575">
            <a:solidFill>
              <a:srgbClr val="56C0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04892" y="1457289"/>
            <a:ext cx="84815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7704" y="1895428"/>
            <a:ext cx="4053739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Natural Science Foundation of China, Key Project </a:t>
            </a:r>
            <a:pPr algn="l" indent="0" marL="0">
              <a:lnSpc>
                <a:spcPct val="162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42130107</a:t>
            </a:r>
            <a:pPr algn="l" indent="0" marL="0">
              <a:lnSpc>
                <a:spcPct val="1625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9585" y="3543211"/>
            <a:ext cx="4438539" cy="2171646"/>
          </a:xfrm>
          <a:prstGeom prst="roundRect">
            <a:avLst>
              <a:gd name="adj" fmla="val 70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6278" y="3995638"/>
            <a:ext cx="200020" cy="85723"/>
          </a:xfrm>
          <a:custGeom>
            <a:avLst/>
            <a:gdLst/>
            <a:ahLst/>
            <a:cxnLst/>
            <a:rect l="l" t="t" r="r" b="b"/>
            <a:pathLst>
              <a:path w="200020" h="85723">
                <a:moveTo>
                  <a:pt x="200020" y="85723"/>
                </a:moveTo>
                <a:lnTo>
                  <a:pt x="200020" y="57149"/>
                </a:lnTo>
                <a:cubicBezTo>
                  <a:pt x="200020" y="25586"/>
                  <a:pt x="174434" y="0"/>
                  <a:pt x="142871" y="0"/>
                </a:cubicBezTo>
                <a:lnTo>
                  <a:pt x="57149" y="0"/>
                </a:lnTo>
                <a:cubicBezTo>
                  <a:pt x="25586" y="0"/>
                  <a:pt x="0" y="25586"/>
                  <a:pt x="0" y="57149"/>
                </a:cubicBezTo>
                <a:lnTo>
                  <a:pt x="0" y="85723"/>
                </a:ln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6298" y="3826021"/>
            <a:ext cx="42807" cy="110640"/>
          </a:xfrm>
          <a:custGeom>
            <a:avLst/>
            <a:gdLst/>
            <a:ahLst/>
            <a:cxnLst/>
            <a:rect l="l" t="t" r="r" b="b"/>
            <a:pathLst>
              <a:path w="42807" h="110640">
                <a:moveTo>
                  <a:pt x="0" y="0"/>
                </a:moveTo>
                <a:cubicBezTo>
                  <a:pt x="25206" y="6534"/>
                  <a:pt x="42807" y="29281"/>
                  <a:pt x="42807" y="55320"/>
                </a:cubicBezTo>
                <a:cubicBezTo>
                  <a:pt x="42807" y="81359"/>
                  <a:pt x="25206" y="104105"/>
                  <a:pt x="0" y="110640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19160" y="3997495"/>
            <a:ext cx="42861" cy="83866"/>
          </a:xfrm>
          <a:custGeom>
            <a:avLst/>
            <a:gdLst/>
            <a:ahLst/>
            <a:cxnLst/>
            <a:rect l="l" t="t" r="r" b="b"/>
            <a:pathLst>
              <a:path w="42861" h="83866">
                <a:moveTo>
                  <a:pt x="42861" y="83866"/>
                </a:moveTo>
                <a:lnTo>
                  <a:pt x="42861" y="55291"/>
                </a:lnTo>
                <a:cubicBezTo>
                  <a:pt x="42842" y="29247"/>
                  <a:pt x="25217" y="6511"/>
                  <a:pt x="0" y="0"/>
                </a:cubicBezTo>
              </a:path>
            </a:pathLst>
          </a:custGeom>
          <a:ln w="28575">
            <a:solidFill>
              <a:srgbClr val="0A97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9140" y="3824192"/>
            <a:ext cx="114297" cy="114297"/>
          </a:xfrm>
          <a:prstGeom prst="ellipse">
            <a:avLst/>
          </a:prstGeom>
          <a:ln w="28575">
            <a:solidFill>
              <a:srgbClr val="0A97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04892" y="3819430"/>
            <a:ext cx="1355641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Collaborators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47704" y="4276618"/>
            <a:ext cx="4053739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Minyi Gao · Mengya Li · Ziheng Xu · Xia Li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76718" y="1181070"/>
            <a:ext cx="6305392" cy="4533787"/>
          </a:xfrm>
          <a:prstGeom prst="roundRect">
            <a:avLst>
              <a:gd name="adj" fmla="val 336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57709" y="1447764"/>
            <a:ext cx="85723" cy="114297"/>
          </a:xfrm>
          <a:custGeom>
            <a:avLst/>
            <a:gdLst/>
            <a:ahLst/>
            <a:cxnLst/>
            <a:rect l="l" t="t" r="r" b="b"/>
            <a:pathLst>
              <a:path w="85723" h="114297">
                <a:moveTo>
                  <a:pt x="0" y="0"/>
                </a:moveTo>
                <a:lnTo>
                  <a:pt x="0" y="114297"/>
                </a:lnTo>
                <a:lnTo>
                  <a:pt x="42861" y="71436"/>
                </a:lnTo>
                <a:lnTo>
                  <a:pt x="85723" y="114297"/>
                </a:lnTo>
                <a:lnTo>
                  <a:pt x="85723" y="0"/>
                </a:lnTo>
              </a:path>
            </a:pathLst>
          </a:custGeom>
          <a:ln w="28575">
            <a:solidFill>
              <a:srgbClr val="E457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1986" y="1447764"/>
            <a:ext cx="228594" cy="285743"/>
          </a:xfrm>
          <a:custGeom>
            <a:avLst/>
            <a:gdLst/>
            <a:ahLst/>
            <a:cxnLst/>
            <a:rect l="l" t="t" r="r" b="b"/>
            <a:pathLst>
              <a:path w="228594" h="285743">
                <a:moveTo>
                  <a:pt x="0" y="250025"/>
                </a:moveTo>
                <a:lnTo>
                  <a:pt x="0" y="35718"/>
                </a:lnTo>
                <a:cubicBezTo>
                  <a:pt x="0" y="15991"/>
                  <a:pt x="15991" y="0"/>
                  <a:pt x="35718" y="0"/>
                </a:cubicBezTo>
                <a:lnTo>
                  <a:pt x="214307" y="0"/>
                </a:lnTo>
                <a:cubicBezTo>
                  <a:pt x="222198" y="0"/>
                  <a:pt x="228594" y="6397"/>
                  <a:pt x="228594" y="14287"/>
                </a:cubicBezTo>
                <a:lnTo>
                  <a:pt x="228594" y="271456"/>
                </a:lnTo>
                <a:cubicBezTo>
                  <a:pt x="228594" y="279346"/>
                  <a:pt x="222198" y="285743"/>
                  <a:pt x="214307" y="285743"/>
                </a:cubicBezTo>
                <a:lnTo>
                  <a:pt x="35718" y="285743"/>
                </a:lnTo>
                <a:cubicBezTo>
                  <a:pt x="15991" y="285743"/>
                  <a:pt x="0" y="269751"/>
                  <a:pt x="0" y="250025"/>
                </a:cubicBezTo>
                <a:cubicBezTo>
                  <a:pt x="0" y="230299"/>
                  <a:pt x="15991" y="214307"/>
                  <a:pt x="35718" y="214307"/>
                </a:cubicBezTo>
                <a:lnTo>
                  <a:pt x="228594" y="214307"/>
                </a:lnTo>
              </a:path>
            </a:pathLst>
          </a:custGeom>
          <a:ln w="28575">
            <a:solidFill>
              <a:srgbClr val="E457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72026" y="1457289"/>
            <a:ext cx="104564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514837" y="1893046"/>
            <a:ext cx="5932022" cy="878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Sun, Z., Gao, M., Li, M., Xu, Z., &amp; Li, X. (2026). </a:t>
            </a:r>
            <a:pPr algn="l" indent="0" marL="0">
              <a:lnSpc>
                <a:spcPct val="162500"/>
              </a:lnSpc>
              <a:buNone/>
            </a:pPr>
            <a:r>
              <a:rPr lang="en-US" sz="1350" i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Pathways for UN SDGs Spatialization: GeoSDG Toolkit Empowering the Sustainable Future under a Spatial Context.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514837" y="2902671"/>
            <a:ext cx="5920592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Journal of Geographical Information Science</a:t>
            </a:r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1–24.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514837" y="3340810"/>
            <a:ext cx="5829154" cy="1352516"/>
          </a:xfrm>
          <a:prstGeom prst="roundRect">
            <a:avLst>
              <a:gd name="adj" fmla="val 845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76758" y="3502731"/>
            <a:ext cx="558532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DOI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76758" y="3731325"/>
            <a:ext cx="559675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10.1080/13658816.2026.2717629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76758" y="4074217"/>
            <a:ext cx="558532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b="1" spc="2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CODE (FIGSHARE)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676758" y="4302811"/>
            <a:ext cx="5596750" cy="2285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10.6084/m9.figshare.29445089.v3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24362" y="5943451"/>
            <a:ext cx="304792" cy="38099"/>
          </a:xfrm>
          <a:prstGeom prst="roundRect">
            <a:avLst>
              <a:gd name="adj" fmla="val 249975312"/>
            </a:avLst>
          </a:prstGeom>
          <a:solidFill>
            <a:srgbClr val="56C02B"/>
          </a:solidFill>
          <a:ln/>
        </p:spPr>
      </p:sp>
      <p:sp>
        <p:nvSpPr>
          <p:cNvPr id="29" name="Shape 26"/>
          <p:cNvSpPr/>
          <p:nvPr/>
        </p:nvSpPr>
        <p:spPr>
          <a:xfrm>
            <a:off x="5943451" y="5943451"/>
            <a:ext cx="304792" cy="38099"/>
          </a:xfrm>
          <a:prstGeom prst="roundRect">
            <a:avLst>
              <a:gd name="adj" fmla="val 249975312"/>
            </a:avLst>
          </a:prstGeom>
          <a:solidFill>
            <a:srgbClr val="0A97D9"/>
          </a:solidFill>
          <a:ln/>
        </p:spPr>
      </p:sp>
      <p:sp>
        <p:nvSpPr>
          <p:cNvPr id="30" name="Shape 27"/>
          <p:cNvSpPr/>
          <p:nvPr/>
        </p:nvSpPr>
        <p:spPr>
          <a:xfrm>
            <a:off x="6362541" y="5943451"/>
            <a:ext cx="304792" cy="38099"/>
          </a:xfrm>
          <a:prstGeom prst="roundRect">
            <a:avLst>
              <a:gd name="adj" fmla="val 249975312"/>
            </a:avLst>
          </a:prstGeom>
          <a:solidFill>
            <a:srgbClr val="E4572E"/>
          </a:solidFill>
          <a:ln/>
        </p:spPr>
      </p:sp>
      <p:sp>
        <p:nvSpPr>
          <p:cNvPr id="31" name="Text 28"/>
          <p:cNvSpPr/>
          <p:nvPr/>
        </p:nvSpPr>
        <p:spPr>
          <a:xfrm>
            <a:off x="558151" y="6133947"/>
            <a:ext cx="11075393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2026-08-27T07:48:26Z</dcterms:created>
  <dcterms:modified xsi:type="dcterms:W3CDTF">2026-08-27T07:48:26Z</dcterms:modified>
</cp:coreProperties>
</file>